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21"/>
    <p:sldId id="271" r:id="rId22"/>
    <p:sldId id="272" r:id="rId23"/>
    <p:sldId id="273" r:id="rId24"/>
    <p:sldId id="274" r:id="rId25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FDBFE"/>
                </a:solidFill>
              </a:rPr>
              <a:t>CRIPTOGRAFÍA POST-CUÁNTICA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XMSS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eXtended Merkle Signature Scheme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y ejemplo práctico paso a paso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Resistente a computación cuántica  ·  Basado en funciones de hash  ·  Estándar NIST 2022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ECDSA ya no es suficiente?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ECDSA (hoy)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Se basa en el problema del logaritmo discreto sobre curvas elípticas.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1460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clásica necesita ~10³⁰⁰ operaciones para romperlo.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Usado en Bitcoin, Ethereum, TLS, SSH, GPG y casi todo internet.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Computadora cuántica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5087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algoritmo de Shor resuelve el logaritmo discreto en tiempo polinómico.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2316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1460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423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computadora cuántica de ~4.000 qubits lógicos rompería ECDSA.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41148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Google, IBM y China están avanzando rápido. El NIST ya se preocupó en 2016.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22402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E1A"/>
                </a:solidFill>
              </a:rPr>
              <a:t>VS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⚠  La solución: basar la seguridad en funciones de HASH, que los algoritmos cuánticos conocidos NO pueden romper eficientemente.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XMSS — Los 3 pilares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XMSS combina tres ideas para crear un esquema de firma resistente a cuántica: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OTS — One Time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Signature (Winternitz)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Una clave que firma UN SOLO mensaje. Si se reutiliza, la seguridad se rompe.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Árbol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Merkle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2044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Organiza miles de claves OTS en una estructura de árbol con una única clave pública raíz.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0175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72200" y="1280160"/>
            <a:ext cx="2743200" cy="347472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280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72200" y="1965960"/>
            <a:ext cx="274320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Estado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</a:rPr>
              <a:t>(Stateful)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2926080"/>
            <a:ext cx="2194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971800"/>
            <a:ext cx="2743200" cy="1600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XMSS lleva la cuenta de qué claves OTS ya usó. Nunca puede repetir un índice.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F2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Base matemática: las funciones de hash SHA-256 son resistentes al algoritmo de Grover (cuántica) con pérdida de solo 50% de bits de seguridad — manejable duplicando el tamaño.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01 — OTS: Winternitz One-Time Signature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¿Cómo funciona?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privada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188720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Serie de valores aleatorios: sk₀, sk₁, … skₙ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562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Clave pública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1856232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Hash de cada valor privado: pk_i = Hash(sk_i)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237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Firmar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2523744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Para cada bit del mensaje, revelás sk_i (bit=1) o su hash (bit=0)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9125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Verificar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191256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verificador comprueba que los valores revelados hasheados baten con la clave pública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58768"/>
            <a:ext cx="3931920" cy="566928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5876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⚠ Solo UNA vez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88036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firmás dos mensajes distintos, un atacante puede reconstruir la clave privada combinando ambas firmas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822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</a:rPr>
              <a:t>Diagrama simplificado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80560" y="1188720"/>
            <a:ext cx="4389120" cy="356616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1600200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15087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21671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2350008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2258568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2916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49240" y="3099816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008376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2916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sk₃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3666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Hash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49240" y="3849624"/>
            <a:ext cx="6400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89320" y="3758184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pk₃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1772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privada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(secreta)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35040" y="4480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Clave pública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(publicada)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02 — Árbol de Merkle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Tenemos miles de claves OTS de un solo uso. El árbol de Merkle las organiza bajo UNA SOLA clave pública raíz.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Raíz (Clave Pública)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Nodo[1,0]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Hash(Hoja0 + Hoja1)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solidFill>
            <a:srgbClr val="0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Nodo[1,1]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Hash(Hoja2 + Hoja3)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103120"/>
            <a:ext cx="1691640" cy="-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91640"/>
            <a:ext cx="169164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Hash(pk_OTS₀)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Hash(pk_OTS₁)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Hash(pk_OTS₂)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Hoja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Hash(pk_OTS₃)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108960"/>
            <a:ext cx="11430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514600"/>
            <a:ext cx="7772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514600"/>
            <a:ext cx="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108960"/>
            <a:ext cx="685800" cy="-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514600"/>
            <a:ext cx="1234440" cy="5943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OTS₃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(sk, pk)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06640" y="356616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 Raíz del árbol = Clave Pública XMSS. Para probar validez de una firma se revela el 'camino de autenticación' desde la hoja hasta la raíz (unos pocos hashes, no todo el árbol).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03 — Estado (Stateful)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XMSS es stateful: debe recordar qué índice OTS usó para nunca repetirlo. Esto lo diferencia de ECDSA (que es stateless).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El índice como contador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83080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0 → Usar OTS₀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41448"/>
            <a:ext cx="292608" cy="292608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304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1 → Usar OTS₁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3931920" cy="566928"/>
          </a:xfrm>
          <a:prstGeom prst="rect">
            <a:avLst/>
          </a:prstGeom>
          <a:solidFill>
            <a:srgbClr val="1A2E0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99816"/>
            <a:ext cx="292608" cy="29260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962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idx = 2 → Usar OTS₂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6265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← ahora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3931920" cy="566928"/>
          </a:xfrm>
          <a:prstGeom prst="rect">
            <a:avLst/>
          </a:prstGeom>
          <a:solidFill>
            <a:srgbClr val="080E1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758184"/>
            <a:ext cx="292608" cy="292608"/>
          </a:xfrm>
          <a:prstGeom prst="ellipse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6210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idx = 3 → Usar OTS₃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DBFE"/>
                </a:solidFill>
              </a:rPr>
              <a:t>Riesgos del estado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1645920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16459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1682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Pérdida del estado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956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 se pierde qué índice se usó, no se puede continuar firmando de forma segura.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80560" y="2414016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4140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2920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Backup y restore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249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Restaurar un backup antiguo puede hacer que se reutilice un índice — error crítico.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182112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02920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Límite de firmas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 árbol de altura h=20 permite 2²⁰ ≈ 1 millón de firmas. Luego hay que generar nueva clave.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80560" y="3950208"/>
            <a:ext cx="4297680" cy="658368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39502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02920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Uso ideal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42611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Dispositivos con pocas firmas y almacenamiento confiable: HSMs, firmware, PKI.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DE68A"/>
                </a:solidFill>
              </a:rPr>
              <a:t>EJEMPLO PRÁCTICO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Construyendo XMSS con h=2 (4 hojas)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Vamos a construir un esquema XMSS completo con un árbol de altura 2, lo que nos da exactamente 4 claves OTS (= 4 firmas posibles). Ideal para entender el flujo.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Generar 4 pares de claves OTS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Para cada hoja del árbol generamos un par (sk_i, pk_i) usando Winternitz.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3736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Construir el árbol de Merkle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03520" y="22128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Hasheamos las pk_i para obtener las hojas, luego construimos el árbol de abajo hacia arriba.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</a:rPr>
              <a:t>Firmar el primer mensaje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Usamos OTS₀ (índice 0), revelamos la clave privada parcial + el camino de autenticación.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023360" cy="123444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303520" y="3264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</a:rPr>
              <a:t>Verificar la firma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03520" y="36301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El verificador recalcula el árbol desde la hoja firmada y comprueba que llega a la misma Raíz.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los 4 pares de claves OTS (Winternitz)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Para cada una de las 4 hojas del árbol generamos un par de claves OTS independiente: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19786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sk₀ = [a1f3..., b9c2..., e4d7..., ...]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pk₀ = [Hash(a1f3...), Hash(b9c2...), ...]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154533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54533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06654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sk₁ = [7f2a..., 3d8e..., c1b4..., ...]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pk₁ = [Hash(7f2a...), Hash(3d8e...), ...]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241401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8036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8803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sk₂ = [9e1c..., 4a7d..., 2f8b..., ...]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93522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pk₂ = [Hash(9e1c...), Hash(4a7d...), ...]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28269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8412480" cy="749808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4904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OTS3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solidFill>
            <a:srgbClr val="1A0F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</a:rPr>
              <a:t>🔐  sk₃ = [6b5f..., 1e9c..., 8a3d..., ...]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solidFill>
            <a:srgbClr val="0A1A0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</a:rPr>
              <a:t>🌐  pk₃ = [Hash(6b5f...), Hash(1e9c...), ...]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" y="4151376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sk → PRIVADA, nunca se publica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pk → PÚBLICA, se pone en las hojas del árbol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solidFill>
            <a:srgbClr val="1A1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⚡  Cada par OTS es completamente independiente. La seguridad no depende de que estén relacionados entre sí.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árbol de Merkle (de abajo hacia arriba)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85039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50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0 — Las hojas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16128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Hoja[1] = Hash(pk₁)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Hoja[2] = Hash(pk₂)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Hoja[3] = Hash(pk₃)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627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1 — Nodos intermedios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4871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 Hoja[0] ‖ Hoja[1]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Nodo[1,1] = Hash( Hoja[2] ‖ Hoja[3] 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572000" cy="1188720"/>
          </a:xfrm>
          <a:prstGeom prst="rect">
            <a:avLst/>
          </a:prstGeom>
          <a:solidFill>
            <a:srgbClr val="080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502152"/>
            <a:ext cx="347472" cy="347472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Nivel 2 — La raíz (clave pública)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8130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 = Hash( Nodo[1,0] ‖ Nodo[1,1]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→ Esta Raíz ES la clave pública XMSS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Árbol completo resultante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Raíz = 8f4a2c...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(CLAVE PÚBLICA)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16459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N[1,0] = 3b7e1a...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N[1,1] = c5d2f8...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011680"/>
            <a:ext cx="914400" cy="-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1645920"/>
            <a:ext cx="91440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H[0]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1a9c...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H[1]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4d7f...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H[2]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2e8b...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H[3]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</a:rPr>
              <a:t>6f3a...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32120" y="2423160"/>
            <a:ext cx="45720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2423160"/>
            <a:ext cx="36576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18120" y="2834640"/>
            <a:ext cx="0" cy="-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008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152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solidFill>
            <a:srgbClr val="0F1E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</a:rPr>
              <a:t>OTS3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29600" y="321868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el primer mensaje — usando OTS₀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</a:rPr>
              <a:t>Mensaje a firmar:  "Transfiero 100 ETH a 0x1234...abcd"   →   m = Hash(mensaje) = 9d3e4f...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DBFE"/>
                </a:solidFill>
              </a:rPr>
              <a:t>La firma XMSS tiene 3 componentes: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Índice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01168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idx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Indica que se usó OTS₀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75564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El receptor sabe qué hoja buscar en el árbol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1576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1576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2752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Firma OTS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632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σ_OTS = Winternitz.Sign(sk₀, 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Revela parcialmente sk₀ según los bits de 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0720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Nunca se revela sk₀ completa — solo lo necesario para este mensaje. Ver ejemplo detallado en las próximas 4 slides 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67328"/>
            <a:ext cx="8412480" cy="932688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673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6868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Camino de autenticación (Auth Path)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auth = [ Hoja[1], Nodo[1,1]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→ Los 'hermanos' del camino desde OTS₀ hasta la Raíz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858768"/>
            <a:ext cx="352044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💡 Con estos 2 hashes el verificador puede reconstruir la Raíz sin conocer el árbol completo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Estado actualizado: idx avanza de 0 → 1. OTS₀ nunca más se puede usar.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A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82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firma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El verificador tiene: el mensaje, la firma (idx + σ_OTS + auth_path) y la Raíz (clave pública XMSS).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179576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Recalcular pk_OTS desde σ_OTS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1472184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Con la firma OTS y el mensaje, el verificador recalcula la clave pública OTS₀ usando las propiedades de Winternitz.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76856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11226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Calcular Hoja[0]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" y="2404872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Hoja[0] = Hash(pk_OTS₀ recalculada)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08376"/>
            <a:ext cx="8412480" cy="822960"/>
          </a:xfrm>
          <a:prstGeom prst="rect">
            <a:avLst/>
          </a:prstGeom>
          <a:solidFill>
            <a:srgbClr val="080E1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09544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044952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Subir por el árbol con auth_path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3337560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Nodo[1,0] = Hash(Hoja[0] ‖ auth[0])   donde auth[0] = Hoja[1]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Raíz'   = Hash(Nodo[1,0] ‖ auth[1])   donde auth[1] = Nodo[1,1]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41064"/>
            <a:ext cx="8412480" cy="822960"/>
          </a:xfrm>
          <a:prstGeom prst="rect">
            <a:avLst/>
          </a:prstGeom>
          <a:solidFill>
            <a:srgbClr val="0A1A0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3977640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Comparar raíces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" y="4270248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== Raíz (clave pública)  →  ✅ FIRMA VÁLIDA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Si Raíz' ≠  Raíz                  →  ❌ FIRMA INVÁLIDA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🔑 Clave: el verificador NUNCA necesita ver sk₀. Solo usa pk₀ (recalculada), los hashes del auth_path y la Raíz pública. Seguro y verificable.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0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vs XMSS — Comparación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41248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41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Característica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ECDSA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8412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XMSS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Base matemática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Curvas elípticas (DLP)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Funciones de hash (SHA-256)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82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Resistente a cuántica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❌ NO (Algoritmo de Shor)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6824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✅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03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Stateful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No (sin límite de firmas)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(hay que llevar índice)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523744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23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de firma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~64 bytes (muy compacto)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~2-3 KB (mucho mayor)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Tamaño clave pública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9184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33-65 bytes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443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~64 bytes (solo la raíz)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649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de firma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9184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Muy rápida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3649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Lenta (construye árbol)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85616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78561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Velocidad verificación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9184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Rápida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7856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Rápida (solo auth_path)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412480" cy="402336"/>
          </a:xfrm>
          <a:prstGeom prst="rect">
            <a:avLst/>
          </a:prstGeom>
          <a:solidFill>
            <a:srgbClr val="080E1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Estándar NIST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9184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Sí (FIPS 186)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206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Sí (SP 800-208, 2022)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26864"/>
            <a:ext cx="8412480" cy="402336"/>
          </a:xfrm>
          <a:prstGeom prst="rect">
            <a:avLst/>
          </a:prstGeom>
          <a:solidFill>
            <a:srgbClr val="0F1E3D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2686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</a:rPr>
              <a:t>Uso ideal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9184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Internet en general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46268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Firmware, PKI, bajo volumen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Ethereum y la resistencia cuántica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BFE"/>
                </a:solidFill>
              </a:rPr>
              <a:t>Vitalik Buterin presentó en DevConnect Buenos Aires (nov. 2024) el framework 'Lean Ethereum' — un rediseño de la capa base de Ethereum enfocado en simplicidad y seguridad post-cuántica.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Reemplazar BLS por firmas basadas en hash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Las firmas BLS actuales usan curvas elípticas (vulnerables a cuántica). Vitalik propone variantes Winternitz — la misma familia que XMSS.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9164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22392" y="17647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STARKs para agregación de firmas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2392" y="214884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Para compensar el tamaño mayor de las firmas hash, se usarán STARKs (pruebas de conocimiento cero) para agregar miles de firmas eficientemente. Los STARKs también son resistentes a cuántica.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755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Beam Chain — rediseño del consenso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El Beam Chain reduce el tiempo de finalización a 12 segundos y simplifica la estructura para que la transición a primitivas post-cuánticas sea viable sin sacrificar performance.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325880"/>
          </a:xfrm>
          <a:prstGeom prst="rect">
            <a:avLst/>
          </a:prstGeom>
          <a:solidFill>
            <a:srgbClr val="0F1E3D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154680"/>
            <a:ext cx="594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</a:rPr>
              <a:t>Conexión directa con XMSS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22392" y="3611880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XMSS y sus variantes Winternitz son parte de la familia de esquemas que el NIST estandarizó (SP 800-208). Ethereum no usará XMSS textualmente pero sí la misma base matemática.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830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3774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971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3492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74320"/>
            <a:ext cx="5486400" cy="4572000"/>
          </a:xfrm>
          <a:prstGeom prst="ellipse">
            <a:avLst/>
          </a:prstGeom>
          <a:solidFill>
            <a:srgbClr val="2563EB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4748B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XMSS se basa en hash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única suposición de seguridad es la resistencia de SHA-256 — mucho más sólida que el problema del logaritmo discreto.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960120"/>
            <a:ext cx="3931920" cy="411480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96012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árbol de Merkle es el corazón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46320" y="141732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Permite usar miles de claves OTS de un solo uso bajo una única clave pública de solo 64 bytes.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estado es crítico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9436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La gestión del índice es la responsabilidad operativa central. Una falla aquí puede comprometer toda la seguridad.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2743200"/>
            <a:ext cx="3931920" cy="1600200"/>
          </a:xfrm>
          <a:prstGeom prst="rect">
            <a:avLst/>
          </a:prstGeom>
          <a:solidFill>
            <a:srgbClr val="0F1E3D">
              <a:alpha val="8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743200"/>
            <a:ext cx="3931920" cy="411480"/>
          </a:xfrm>
          <a:prstGeom prst="rect">
            <a:avLst/>
          </a:prstGeom>
          <a:solidFill>
            <a:srgbClr val="A78BFA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743200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El futuro es post-cuántico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3657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El NIST lo estandarizó en 2022. Lean Ethereum lo está adoptando. Quien diseña sistemas hoy debe considerarlo.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title"/>
          <p:cNvSpPr/>
          <p:nvPr/>
        </p:nvSpPr>
        <p:spPr>
          <a:xfrm>
            <a:off x="274320" y="500000"/>
            <a:ext cx="841248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1 — Clave privada, cadenas de hash y clave pública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8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Card1BG"/>
          <p:cNvSpPr/>
          <p:nvPr/>
        </p:nvSpPr>
        <p:spPr>
          <a:xfrm>
            <a:off x="274320" y="870000"/>
            <a:ext cx="8412480" cy="68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Card1Title"/>
          <p:cNvSpPr/>
          <p:nvPr/>
        </p:nvSpPr>
        <p:spPr>
          <a:xfrm>
            <a:off x="380000" y="90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F59E0B"/>
                </a:solidFill>
              </a:rPr>
              <a:t>Clave privada (4 valores aleatorios)</a:t>
            </a:r>
          </a:p>
        </p:txBody>
      </p:sp>
      <p:sp>
        <p:nvSpPr>
          <p:cNvPr id="12" name="Card1Body"/>
          <p:cNvSpPr/>
          <p:nvPr/>
        </p:nvSpPr>
        <p:spPr>
          <a:xfrm>
            <a:off x="380000" y="1180000"/>
            <a:ext cx="8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>sk₀ = [ s₁ , s₂ , s₃ , s₄ ]</a:t>
            </a:r>
          </a:p>
        </p:txBody>
      </p:sp>
      <p:sp>
        <p:nvSpPr>
          <p:cNvPr id="20" name="Card2BG"/>
          <p:cNvSpPr/>
          <p:nvPr/>
        </p:nvSpPr>
        <p:spPr>
          <a:xfrm>
            <a:off x="274320" y="1680000"/>
            <a:ext cx="8412480" cy="1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Card2Title"/>
          <p:cNvSpPr/>
          <p:nvPr/>
        </p:nvSpPr>
        <p:spPr>
          <a:xfrm>
            <a:off x="380000" y="172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3B82F6"/>
                </a:solidFill>
              </a:rPr>
              <a:t>Cadena de hash (w=2, un paso por valor)</a:t>
            </a:r>
          </a:p>
        </p:txBody>
      </p:sp>
      <p:sp>
        <p:nvSpPr>
          <p:cNvPr id="22" name="Card2Body"/>
          <p:cNvSpPr/>
          <p:nvPr/>
        </p:nvSpPr>
        <p:spPr>
          <a:xfrm>
            <a:off x="380000" y="2020000"/>
            <a:ext cx="82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Hash(s₁)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Hash(s₂)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p₂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Hash(s₃)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2400"/>
              </a:lnSpc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 →  Hash(s₄)  = 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30" name="Card3BG"/>
          <p:cNvSpPr/>
          <p:nvPr/>
        </p:nvSpPr>
        <p:spPr>
          <a:xfrm>
            <a:off x="274320" y="3360000"/>
            <a:ext cx="8412480" cy="68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Card3Title"/>
          <p:cNvSpPr/>
          <p:nvPr/>
        </p:nvSpPr>
        <p:spPr>
          <a:xfrm>
            <a:off x="380000" y="339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10B981"/>
                </a:solidFill>
              </a:rPr>
              <a:t>Clave pública de esta OTS</a:t>
            </a:r>
          </a:p>
        </p:txBody>
      </p:sp>
      <p:sp>
        <p:nvSpPr>
          <p:cNvPr id="32" name="Card3Body"/>
          <p:cNvSpPr/>
          <p:nvPr/>
        </p:nvSpPr>
        <p:spPr>
          <a:xfrm>
            <a:off x="380000" y="3670000"/>
            <a:ext cx="8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>pk₀ = [ p₁ , p₂ , p₃ , p₄ ]</a:t>
            </a:r>
          </a:p>
        </p:txBody>
      </p:sp>
      <p:sp>
        <p:nvSpPr>
          <p:cNvPr id="40" name="Footer"/>
          <p:cNvSpPr/>
          <p:nvPr/>
        </p:nvSpPr>
        <p:spPr>
          <a:xfrm>
            <a:off x="274320" y="420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Cada OTS tiene su propia sk y pk. La pk se hashea para formar una hoja del árbol de Merkle.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2 — Firmar: qué se revela según cada bit del mensaje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MsgBG"/>
          <p:cNvSpPr/>
          <p:nvPr/>
        </p:nvSpPr>
        <p:spPr>
          <a:xfrm>
            <a:off x="274320" y="800000"/>
            <a:ext cx="8412480" cy="35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MsgTxt"/>
          <p:cNvSpPr/>
          <p:nvPr/>
        </p:nvSpPr>
        <p:spPr>
          <a:xfrm>
            <a:off x="274320" y="800000"/>
            <a:ext cx="8412480" cy="3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200" dirty="0">
                <a:solidFill>
                  <a:srgbClr val="FDE68A"/>
                </a:solidFill>
                <a:latin typeface="Consolas"/>
              </a:rPr>
              <a:t>Hash del mensaje   m = 1  0  1  1    (4 bits)</a:t>
            </a:r>
          </a:p>
        </p:txBody>
      </p:sp>
      <p:sp>
        <p:nvSpPr>
          <p:cNvPr id="20" name="RuleBG"/>
          <p:cNvSpPr/>
          <p:nvPr/>
        </p:nvSpPr>
        <p:spPr>
          <a:xfrm>
            <a:off x="274320" y="1250000"/>
            <a:ext cx="4000000" cy="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RuleTitle"/>
          <p:cNvSpPr/>
          <p:nvPr/>
        </p:nvSpPr>
        <p:spPr>
          <a:xfrm>
            <a:off x="380000" y="1280000"/>
            <a:ext cx="38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3B82F6"/>
                </a:solidFill>
              </a:rPr>
              <a:t>Regla de firma</a:t>
            </a:r>
          </a:p>
        </p:txBody>
      </p:sp>
      <p:sp>
        <p:nvSpPr>
          <p:cNvPr id="22" name="RuleBody"/>
          <p:cNvSpPr/>
          <p:nvPr/>
        </p:nvSpPr>
        <p:spPr>
          <a:xfrm>
            <a:off x="380000" y="1520000"/>
            <a:ext cx="38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000"/>
              </a:lnSpc>
            </a:pPr>
            <a:r>
              <a:rPr lang="es-ES" sz="1050" dirty="0">
                <a:solidFill>
                  <a:srgbClr val="BFDBFE"/>
                </a:solidFill>
              </a:rPr>
              <a:t xml:space="preserve">Bit = 0  →  revelar secreto (0 pasos): </a:t>
            </a:r>
            <a:r>
              <a:rPr lang="es-ES" sz="1050" b="1" dirty="0">
                <a:solidFill>
                  <a:srgbClr val="FDE68A"/>
                </a:solidFill>
                <a:latin typeface="Consolas"/>
              </a:rPr>
              <a:t>s</a:t>
            </a:r>
          </a:p>
          <a:p>
            <a:pPr indent="0" marL="0">
              <a:buNone/>
              <a:lnSpc>
                <a:spcPts val="2000"/>
              </a:lnSpc>
            </a:pPr>
            <a:r>
              <a:rPr lang="es-ES" sz="1050" dirty="0">
                <a:solidFill>
                  <a:srgbClr val="BFDBFE"/>
                </a:solidFill>
              </a:rPr>
              <a:t xml:space="preserve">Bit = 1  →  revelar hash (1 paso): </a:t>
            </a:r>
            <a:r>
              <a:rPr lang="es-ES" sz="1050" b="1" dirty="0">
                <a:solidFill>
                  <a:srgbClr val="10B981"/>
                </a:solidFill>
                <a:latin typeface="Consolas"/>
              </a:rPr>
              <a:t>Hash(s)</a:t>
            </a:r>
          </a:p>
        </p:txBody>
      </p:sp>
      <p:sp>
        <p:nvSpPr>
          <p:cNvPr id="30" name="SignBG"/>
          <p:cNvSpPr/>
          <p:nvPr/>
        </p:nvSpPr>
        <p:spPr>
          <a:xfrm>
            <a:off x="4480000" y="1250000"/>
            <a:ext cx="4206720" cy="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ignTitle"/>
          <p:cNvSpPr/>
          <p:nvPr/>
        </p:nvSpPr>
        <p:spPr>
          <a:xfrm>
            <a:off x="4580000" y="1280000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F59E0B"/>
                </a:solidFill>
              </a:rPr>
              <a:t>Aplicando al mensaje  1 0 1 1</a:t>
            </a:r>
          </a:p>
        </p:txBody>
      </p:sp>
      <p:sp>
        <p:nvSpPr>
          <p:cNvPr id="32" name="SignBody"/>
          <p:cNvSpPr/>
          <p:nvPr/>
        </p:nvSpPr>
        <p:spPr>
          <a:xfrm>
            <a:off x="4580000" y="1520000"/>
            <a:ext cx="4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Bit1=1 → Hash(s₁)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Bit2=0 → </a:t>
            </a:r>
            <a:r>
              <a:rPr lang="es-ES" sz="1000" b="1" dirty="0">
                <a:solidFill>
                  <a:srgbClr val="FDE68A"/>
                </a:solidFill>
                <a:latin typeface="Consolas"/>
              </a:rPr>
              <a:t>s₂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Bit3=1 → Hash(s₃)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1800"/>
              </a:lnSpc>
            </a:pPr>
            <a:r>
              <a:rPr lang="es-ES" sz="1000" dirty="0">
                <a:solidFill>
                  <a:srgbClr val="BFDBFE"/>
                </a:solidFill>
                <a:latin typeface="Consolas"/>
              </a:rPr>
              <a:t xml:space="preserve">Bit4=1 → Hash(s₄) = </a:t>
            </a:r>
            <a:r>
              <a:rPr lang="es-ES" sz="1000" b="1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40" name="ChainBG"/>
          <p:cNvSpPr/>
          <p:nvPr/>
        </p:nvSpPr>
        <p:spPr>
          <a:xfrm>
            <a:off x="274320" y="2100000"/>
            <a:ext cx="8412480" cy="190000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ChainHdr"/>
          <p:cNvSpPr/>
          <p:nvPr/>
        </p:nvSpPr>
        <p:spPr>
          <a:xfrm>
            <a:off x="380000" y="2140000"/>
            <a:ext cx="8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F8FAFC"/>
                </a:solidFill>
              </a:rPr>
              <a:t>Secreto                          Hash                           Público            Qué se revela</a:t>
            </a:r>
          </a:p>
        </p:txBody>
      </p:sp>
      <p:sp>
        <p:nvSpPr>
          <p:cNvPr id="42" name="ChainRows"/>
          <p:cNvSpPr/>
          <p:nvPr/>
        </p:nvSpPr>
        <p:spPr>
          <a:xfrm>
            <a:off x="380000" y="2440000"/>
            <a:ext cx="82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p₁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p₂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bit=0 → revelo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s₂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s₃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p₃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─── Hash ───►  </a:t>
            </a:r>
            <a:r>
              <a:rPr lang="es-ES" sz="1100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100" dirty="0">
                <a:solidFill>
                  <a:srgbClr val="64748B"/>
                </a:solidFill>
                <a:latin typeface="Consolas"/>
              </a:rPr>
              <a:t xml:space="preserve">          </a:t>
            </a:r>
            <a:r>
              <a:rPr lang="es-ES" sz="1100" dirty="0">
                <a:solidFill>
                  <a:srgbClr val="BFDBFE"/>
                </a:solidFill>
              </a:rPr>
              <a:t xml:space="preserve">bit=1 → revelo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p₄</a:t>
            </a:r>
          </a:p>
        </p:txBody>
      </p:sp>
      <p:sp>
        <p:nvSpPr>
          <p:cNvPr id="50" name="ResBG"/>
          <p:cNvSpPr/>
          <p:nvPr/>
        </p:nvSpPr>
        <p:spPr>
          <a:xfrm>
            <a:off x="274320" y="4150000"/>
            <a:ext cx="8412480" cy="4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1" name="ResTxt"/>
          <p:cNvSpPr/>
          <p:nvPr/>
        </p:nvSpPr>
        <p:spPr>
          <a:xfrm>
            <a:off x="274320" y="4150000"/>
            <a:ext cx="8412480" cy="4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10B981"/>
                </a:solidFill>
              </a:rPr>
              <a:t xml:space="preserve">Firma = [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400" b="1" dirty="0">
                <a:solidFill>
                  <a:srgbClr val="10B981"/>
                </a:solidFill>
              </a:rPr>
              <a:t xml:space="preserve"> , </a:t>
            </a:r>
            <a:r>
              <a:rPr lang="es-ES" sz="1400" b="1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400" b="1" dirty="0">
                <a:solidFill>
                  <a:srgbClr val="10B981"/>
                </a:solidFill>
              </a:rPr>
              <a:t xml:space="preserve"> ]</a:t>
            </a:r>
          </a:p>
        </p:txBody>
      </p:sp>
      <p:sp>
        <p:nvSpPr>
          <p:cNvPr id="60" name="Foot"/>
          <p:cNvSpPr/>
          <p:nvPr/>
        </p:nvSpPr>
        <p:spPr>
          <a:xfrm>
            <a:off x="274320" y="4700000"/>
            <a:ext cx="841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Notar: s₂ (amarillo) es el secreto puro. Los demás (verde) ya son hashes = valores públicos.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Paso 3 — Verificación: el receptor completa las cadenas de hash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CtxBG"/>
          <p:cNvSpPr/>
          <p:nvPr/>
        </p:nvSpPr>
        <p:spPr>
          <a:xfrm>
            <a:off x="274320" y="800000"/>
            <a:ext cx="8412480" cy="55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CtxTxt"/>
          <p:cNvSpPr/>
          <p:nvPr/>
        </p:nvSpPr>
        <p:spPr>
          <a:xfrm>
            <a:off x="274320" y="800000"/>
            <a:ext cx="841248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BFDBFE"/>
                </a:solidFill>
              </a:rPr>
              <a:t xml:space="preserve">El verificador recibe la firma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[ p₁ , s₂ , p₃ , p₄ ]</a:t>
            </a:r>
            <a:r>
              <a:rPr lang="es-ES" sz="1100" dirty="0">
                <a:solidFill>
                  <a:srgbClr val="BFDBFE"/>
                </a:solidFill>
              </a:rPr>
              <a:t xml:space="preserve">  y conoce los bits: 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1 0 1 1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Para cada valor, aplica los pasos de hash que faltan para llegar a la clave pública:</a:t>
            </a:r>
          </a:p>
        </p:txBody>
      </p:sp>
      <p:sp>
        <p:nvSpPr>
          <p:cNvPr id="20" name="VerBG"/>
          <p:cNvSpPr/>
          <p:nvPr/>
        </p:nvSpPr>
        <p:spPr>
          <a:xfrm>
            <a:off x="274320" y="1480000"/>
            <a:ext cx="8412480" cy="17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VerRows"/>
          <p:cNvSpPr/>
          <p:nvPr/>
        </p:nvSpPr>
        <p:spPr>
          <a:xfrm>
            <a:off x="380000" y="1540000"/>
            <a:ext cx="820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1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p₁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2 = 0: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</a:rPr>
              <a:t xml:space="preserve">   → aplica 1 Hash          → Hash(s₂) =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p₂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3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  ✓</a:t>
            </a:r>
          </a:p>
          <a:p>
            <a:pPr indent="0" marL="0">
              <a:buNone/>
              <a:lnSpc>
                <a:spcPts val="3200"/>
              </a:lnSpc>
            </a:pPr>
            <a:r>
              <a:rPr lang="es-ES" sz="1200" b="1" dirty="0">
                <a:solidFill>
                  <a:srgbClr val="FDE68A"/>
                </a:solidFill>
              </a:rPr>
              <a:t xml:space="preserve">Bit 4 = 1: </a:t>
            </a:r>
            <a:r>
              <a:rPr lang="es-ES" sz="1200" dirty="0">
                <a:solidFill>
                  <a:srgbClr val="BFDBFE"/>
                </a:solidFill>
              </a:rPr>
              <a:t xml:space="preserve"> recibió </a:t>
            </a:r>
            <a:r>
              <a:rPr lang="es-ES" sz="1200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200" dirty="0">
                <a:solidFill>
                  <a:srgbClr val="BFDBFE"/>
                </a:solidFill>
              </a:rPr>
              <a:t xml:space="preserve">   → necesita 0 pasos más   → ya es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p₄  ✓</a:t>
            </a:r>
          </a:p>
        </p:txBody>
      </p:sp>
      <p:sp>
        <p:nvSpPr>
          <p:cNvPr id="30" name="ResBG"/>
          <p:cNvSpPr/>
          <p:nvPr/>
        </p:nvSpPr>
        <p:spPr>
          <a:xfrm>
            <a:off x="274320" y="3350000"/>
            <a:ext cx="8412480" cy="5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ResTxt"/>
          <p:cNvSpPr/>
          <p:nvPr/>
        </p:nvSpPr>
        <p:spPr>
          <a:xfrm>
            <a:off x="274320" y="33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400" b="1" dirty="0">
                <a:solidFill>
                  <a:srgbClr val="10B981"/>
                </a:solidFill>
              </a:rPr>
              <a:t>Todos coinciden con pk₀ = [p₁, p₂, p₃, p₄]   →   FIRMA VÁLIDA  ✓</a:t>
            </a:r>
          </a:p>
        </p:txBody>
      </p:sp>
      <p:sp>
        <p:nvSpPr>
          <p:cNvPr id="40" name="InsightBG"/>
          <p:cNvSpPr/>
          <p:nvPr/>
        </p:nvSpPr>
        <p:spPr>
          <a:xfrm>
            <a:off x="274320" y="4000000"/>
            <a:ext cx="8412480" cy="45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InsightTxt"/>
          <p:cNvSpPr/>
          <p:nvPr/>
        </p:nvSpPr>
        <p:spPr>
          <a:xfrm>
            <a:off x="274320" y="4000000"/>
            <a:ext cx="8412480" cy="4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El verificador NUNCA vio los secretos s₁, s₃, s₄. Solo necesitó completar la cadena de s₂ (el único bit=0).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Si un solo valor no coincide, la firma se rechaza inmediatamente.</a:t>
            </a:r>
          </a:p>
        </p:txBody>
      </p:sp>
      <p:sp>
        <p:nvSpPr>
          <p:cNvPr id="50" name="Foot"/>
          <p:cNvSpPr/>
          <p:nvPr/>
        </p:nvSpPr>
        <p:spPr>
          <a:xfrm>
            <a:off x="274320" y="4600000"/>
            <a:ext cx="84124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La seguridad depende de que Hash es irreversible: de p₁ no se puede obtener s₁.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Ejemplo: Winternitz OTS con 4 bits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EF4444"/>
                </a:solidFill>
              </a:rPr>
              <a:t>Paso 4 — ¿Por qué solo UNA vez? El peligro de reutilizar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F1BG"/>
          <p:cNvSpPr/>
          <p:nvPr/>
        </p:nvSpPr>
        <p:spPr>
          <a:xfrm>
            <a:off x="274320" y="800000"/>
            <a:ext cx="4050000" cy="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F1Txt"/>
          <p:cNvSpPr/>
          <p:nvPr/>
        </p:nvSpPr>
        <p:spPr>
          <a:xfrm>
            <a:off x="274320" y="800000"/>
            <a:ext cx="405000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del mensaje 1  (bits: 1 0 1 1)</a:t>
            </a:r>
          </a:p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Firma₁ = [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]</a:t>
            </a:r>
          </a:p>
        </p:txBody>
      </p:sp>
      <p:sp>
        <p:nvSpPr>
          <p:cNvPr id="12" name="F2BG"/>
          <p:cNvSpPr/>
          <p:nvPr/>
        </p:nvSpPr>
        <p:spPr>
          <a:xfrm>
            <a:off x="4636800" y="800000"/>
            <a:ext cx="4050000" cy="55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F2Txt"/>
          <p:cNvSpPr/>
          <p:nvPr/>
        </p:nvSpPr>
        <p:spPr>
          <a:xfrm>
            <a:off x="4636800" y="800000"/>
            <a:ext cx="4050000" cy="55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F59E0B"/>
                </a:solidFill>
              </a:rPr>
              <a:t>Firma del mensaje 2  (bits: 0 1 1 0)</a:t>
            </a:r>
          </a:p>
          <a:p>
            <a:pPr indent="0" marL="0">
              <a:buNone/>
            </a:pP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Firma₂ = [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s₁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p₂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10B981"/>
                </a:solidFill>
                <a:latin typeface="Consolas"/>
              </a:rPr>
              <a:t>p₃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, </a:t>
            </a:r>
            <a:r>
              <a:rPr lang="es-ES" sz="1200" b="1" dirty="0">
                <a:solidFill>
                  <a:srgbClr val="FDE68A"/>
                </a:solidFill>
                <a:latin typeface="Consolas"/>
              </a:rPr>
              <a:t>s₄</a:t>
            </a:r>
            <a:r>
              <a:rPr lang="es-ES" sz="1200" dirty="0">
                <a:solidFill>
                  <a:srgbClr val="BFDBFE"/>
                </a:solidFill>
                <a:latin typeface="Consolas"/>
              </a:rPr>
              <a:t xml:space="preserve"> ]</a:t>
            </a:r>
          </a:p>
        </p:txBody>
      </p:sp>
      <p:sp>
        <p:nvSpPr>
          <p:cNvPr id="20" name="AtkBG"/>
          <p:cNvSpPr/>
          <p:nvPr/>
        </p:nvSpPr>
        <p:spPr>
          <a:xfrm>
            <a:off x="274320" y="1500000"/>
            <a:ext cx="8412480" cy="1800000"/>
          </a:xfrm>
          <a:prstGeom prst="rect">
            <a:avLst/>
          </a:prstGeom>
          <a:solidFill>
            <a:srgbClr val="080E1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AtkTitle"/>
          <p:cNvSpPr/>
          <p:nvPr/>
        </p:nvSpPr>
        <p:spPr>
          <a:xfrm>
            <a:off x="380000" y="1540000"/>
            <a:ext cx="8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300" b="1" dirty="0">
                <a:solidFill>
                  <a:srgbClr val="EF4444"/>
                </a:solidFill>
              </a:rPr>
              <a:t>El atacante que ve AMBAS firmas obtiene:</a:t>
            </a:r>
          </a:p>
        </p:txBody>
      </p:sp>
      <p:sp>
        <p:nvSpPr>
          <p:cNvPr id="22" name="AtkRows"/>
          <p:cNvSpPr/>
          <p:nvPr/>
        </p:nvSpPr>
        <p:spPr>
          <a:xfrm>
            <a:off x="380000" y="1860000"/>
            <a:ext cx="8200000" cy="1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1: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s₁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p₁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2: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s₂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p₂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3: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p₃</a:t>
            </a:r>
            <a:r>
              <a:rPr lang="es-ES" sz="1100" dirty="0">
                <a:solidFill>
                  <a:srgbClr val="64748B"/>
                </a:solidFill>
              </a:rPr>
              <a:t xml:space="preserve"> (de ambas)  → no obtiene s₃                →  </a:t>
            </a:r>
            <a:r>
              <a:rPr lang="es-ES" sz="1100" dirty="0">
                <a:solidFill>
                  <a:srgbClr val="10B981"/>
                </a:solidFill>
              </a:rPr>
              <a:t>OK (pero innecesario para bit=1)</a:t>
            </a:r>
          </a:p>
          <a:p>
            <a:pPr indent="0" marL="0">
              <a:buNone/>
              <a:lnSpc>
                <a:spcPts val="2800"/>
              </a:lnSpc>
            </a:pPr>
            <a:r>
              <a:rPr lang="es-ES" sz="1100" b="1" dirty="0">
                <a:solidFill>
                  <a:srgbClr val="FDE68A"/>
                </a:solidFill>
              </a:rPr>
              <a:t xml:space="preserve">Posición 4: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s₄</a:t>
            </a:r>
            <a:r>
              <a:rPr lang="es-ES" sz="1100" dirty="0">
                <a:solidFill>
                  <a:srgbClr val="64748B"/>
                </a:solidFill>
              </a:rPr>
              <a:t xml:space="preserve"> (de Firma₂)  +  </a:t>
            </a:r>
            <a:r>
              <a:rPr lang="es-ES" sz="1100" dirty="0">
                <a:solidFill>
                  <a:srgbClr val="BFDBFE"/>
                </a:solidFill>
                <a:latin typeface="Consolas"/>
              </a:rPr>
              <a:t>p₄</a:t>
            </a:r>
            <a:r>
              <a:rPr lang="es-ES" sz="1100" dirty="0">
                <a:solidFill>
                  <a:srgbClr val="64748B"/>
                </a:solidFill>
              </a:rPr>
              <a:t xml:space="preserve"> (de Firma₁)   →  </a:t>
            </a:r>
            <a:r>
              <a:rPr lang="es-ES" sz="1100" b="1" dirty="0">
                <a:solidFill>
                  <a:srgbClr val="EF4444"/>
                </a:solidFill>
              </a:rPr>
              <a:t>TIENE TODO</a:t>
            </a:r>
          </a:p>
        </p:txBody>
      </p:sp>
      <p:sp>
        <p:nvSpPr>
          <p:cNvPr id="30" name="DangerBG"/>
          <p:cNvSpPr/>
          <p:nvPr/>
        </p:nvSpPr>
        <p:spPr>
          <a:xfrm>
            <a:off x="274320" y="3450000"/>
            <a:ext cx="8412480" cy="500000"/>
          </a:xfrm>
          <a:prstGeom prst="rect">
            <a:avLst/>
          </a:prstGeom>
          <a:solidFill>
            <a:srgbClr val="1A050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DangerTxt"/>
          <p:cNvSpPr/>
          <p:nvPr/>
        </p:nvSpPr>
        <p:spPr>
          <a:xfrm>
            <a:off x="274320" y="34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algn="ctr" indent="0" marL="0">
              <a:buNone/>
            </a:pPr>
            <a:r>
              <a:rPr lang="es-ES" sz="1300" b="1" dirty="0">
                <a:solidFill>
                  <a:srgbClr val="EF4444"/>
                </a:solidFill>
              </a:rPr>
              <a:t>Con s₁, s₂, s₄ y p₃ puede forjar firmas para CUALQUIER mensaje. Seguridad ROTA.</a:t>
            </a:r>
          </a:p>
        </p:txBody>
      </p:sp>
      <p:sp>
        <p:nvSpPr>
          <p:cNvPr id="40" name="Foot"/>
          <p:cNvSpPr/>
          <p:nvPr/>
        </p:nvSpPr>
        <p:spPr>
          <a:xfrm>
            <a:off x="274320" y="4150000"/>
            <a:ext cx="8412480" cy="500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FootTxt"/>
          <p:cNvSpPr/>
          <p:nvPr/>
        </p:nvSpPr>
        <p:spPr>
          <a:xfrm>
            <a:off x="274320" y="41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Por eso XMSS lleva un contador de índice: cada OTS se usa exactamente UNA vez y se descarta.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>Esto conecta con el Pilar 03 (Estado): el idx DEBE avanzar después de cada firma.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274320" y="13716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200" b="1" dirty="0">
                <a:solidFill>
                  <a:srgbClr val="F8FAFC"/>
                </a:solidFill>
                <a:latin typeface="Arial" pitchFamily="34" charset="0"/>
              </a:rPr>
              <a:t>Del ejemplo al mundo real</a:t>
            </a:r>
          </a:p>
        </p:txBody>
      </p:sp>
      <p:sp>
        <p:nvSpPr>
          <p:cNvPr id="4" name="Sub"/>
          <p:cNvSpPr/>
          <p:nvPr/>
        </p:nvSpPr>
        <p:spPr>
          <a:xfrm>
            <a:off x="274320" y="46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dirty="0">
                <a:solidFill>
                  <a:srgbClr val="64748B"/>
                </a:solidFill>
              </a:rPr>
              <a:t>El mismo mecanismo Winternitz, pero con parámetros de producción</a:t>
            </a:r>
          </a:p>
        </p:txBody>
      </p:sp>
      <p:sp>
        <p:nvSpPr>
          <p:cNvPr id="5" name="Line"/>
          <p:cNvSpPr/>
          <p:nvPr/>
        </p:nvSpPr>
        <p:spPr>
          <a:xfrm>
            <a:off x="274320" y="720000"/>
            <a:ext cx="8412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MsgBG"/>
          <p:cNvSpPr/>
          <p:nvPr/>
        </p:nvSpPr>
        <p:spPr>
          <a:xfrm>
            <a:off x="274320" y="800000"/>
            <a:ext cx="8412480" cy="500000"/>
          </a:xfrm>
          <a:prstGeom prst="rect">
            <a:avLst/>
          </a:prstGeom>
          <a:solidFill>
            <a:srgbClr val="0A0F1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MsgTxt"/>
          <p:cNvSpPr/>
          <p:nvPr/>
        </p:nvSpPr>
        <p:spPr>
          <a:xfrm>
            <a:off x="274320" y="80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100" dirty="0">
                <a:solidFill>
                  <a:srgbClr val="64748B"/>
                </a:solidFill>
              </a:rPr>
              <a:t xml:space="preserve">En la vida real, el mensaje a firmar es algo como: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>“Transfiero 100 ETH a 0x7f8B...d4e2”</a:t>
            </a:r>
          </a:p>
          <a:p>
            <a:pPr indent="0" marL="0">
              <a:buNone/>
            </a:pPr>
            <a:r>
              <a:rPr lang="es-ES" sz="1100" dirty="0">
                <a:solidFill>
                  <a:srgbClr val="BFDBFE"/>
                </a:solidFill>
              </a:rPr>
              <a:t xml:space="preserve">Se hashea con SHA-256 → </a:t>
            </a:r>
            <a:r>
              <a:rPr lang="es-ES" sz="1100" b="1" dirty="0">
                <a:solidFill>
                  <a:srgbClr val="FDE68A"/>
                </a:solidFill>
                <a:latin typeface="Consolas"/>
              </a:rPr>
              <a:t>256 bits</a:t>
            </a:r>
            <a:r>
              <a:rPr lang="es-ES" sz="1100" dirty="0">
                <a:solidFill>
                  <a:srgbClr val="BFDBFE"/>
                </a:solidFill>
              </a:rPr>
              <a:t xml:space="preserve"> (en nuestro ejemplo usamos solo 4)</a:t>
            </a:r>
          </a:p>
        </p:txBody>
      </p:sp>
      <p:sp>
        <p:nvSpPr>
          <p:cNvPr id="20" name="TblHdrBG"/>
          <p:cNvSpPr/>
          <p:nvPr/>
        </p:nvSpPr>
        <p:spPr>
          <a:xfrm>
            <a:off x="274320" y="1450000"/>
            <a:ext cx="8412480" cy="350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blHdrTxt"/>
          <p:cNvSpPr/>
          <p:nvPr/>
        </p:nvSpPr>
        <p:spPr>
          <a:xfrm>
            <a:off x="274320" y="1450000"/>
            <a:ext cx="8412480" cy="3500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F8FAFC"/>
                </a:solidFill>
              </a:rPr>
              <a:t xml:space="preserve">Parámetro                                              Nuestro ejemplo                          XMSS real (NIST SP 800-208)</a:t>
            </a:r>
          </a:p>
        </p:txBody>
      </p:sp>
      <p:sp>
        <p:nvSpPr>
          <p:cNvPr id="30" name="TblRowsBG"/>
          <p:cNvSpPr/>
          <p:nvPr/>
        </p:nvSpPr>
        <p:spPr>
          <a:xfrm>
            <a:off x="274320" y="1800000"/>
            <a:ext cx="8412480" cy="1900000"/>
          </a:xfrm>
          <a:prstGeom prst="rect">
            <a:avLst/>
          </a:prstGeom>
          <a:solidFill>
            <a:srgbClr val="080E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blRows"/>
          <p:cNvSpPr/>
          <p:nvPr/>
        </p:nvSpPr>
        <p:spPr>
          <a:xfrm>
            <a:off x="274320" y="1800000"/>
            <a:ext cx="8412480" cy="1900000"/>
          </a:xfrm>
          <a:prstGeom prst="rect">
            <a:avLst/>
          </a:prstGeom>
          <a:noFill/>
          <a:ln/>
        </p:spPr>
        <p:txBody>
          <a:bodyPr wrap="square" lIns="101600" tIns="76200" rIns="101600" bIns="76200" rtlCol="0" anchor="t"/>
          <a:lstStyle/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Hash del mensaje         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bits          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256 bits (SHA-256)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Parámetro Winternitz (w)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w=2 (1 bit por trozo)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w=16 (4 bits por trozo)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Trozos del hash            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trozos de 1 bit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64 trozos de 4 bits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Pasos de hash por cadena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1 paso (0 ó 1)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hasta 15 pasos (0 a 15)</a:t>
            </a:r>
          </a:p>
          <a:p>
            <a:pPr indent="0" marL="0">
              <a:buNone/>
              <a:lnSpc>
                <a:spcPts val="2600"/>
              </a:lnSpc>
            </a:pPr>
            <a:r>
              <a:rPr lang="es-ES" sz="1100" dirty="0">
                <a:solidFill>
                  <a:srgbClr val="BFDBFE"/>
                </a:solidFill>
              </a:rPr>
              <a:t xml:space="preserve">Valores secretos en sk                         </a:t>
            </a:r>
            <a:r>
              <a:rPr lang="es-ES" sz="1100" dirty="0">
                <a:solidFill>
                  <a:srgbClr val="FDE68A"/>
                </a:solidFill>
                <a:latin typeface="Consolas"/>
              </a:rPr>
              <a:t xml:space="preserve">4                                                          </a:t>
            </a:r>
            <a:r>
              <a:rPr lang="es-ES" sz="1100" b="1" dirty="0">
                <a:solidFill>
                  <a:srgbClr val="10B981"/>
                </a:solidFill>
                <a:latin typeface="Consolas"/>
              </a:rPr>
              <a:t>~67 valores</a:t>
            </a:r>
          </a:p>
        </p:txBody>
      </p:sp>
      <p:sp>
        <p:nvSpPr>
          <p:cNvPr id="40" name="InsightBG"/>
          <p:cNvSpPr/>
          <p:nvPr/>
        </p:nvSpPr>
        <p:spPr>
          <a:xfrm>
            <a:off x="274320" y="3850000"/>
            <a:ext cx="8412480" cy="500000"/>
          </a:xfrm>
          <a:prstGeom prst="rect">
            <a:avLst/>
          </a:prstGeom>
          <a:solidFill>
            <a:srgbClr val="080E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InsightTxt"/>
          <p:cNvSpPr/>
          <p:nvPr/>
        </p:nvSpPr>
        <p:spPr>
          <a:xfrm>
            <a:off x="274320" y="3850000"/>
            <a:ext cx="8412480" cy="5000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rgbClr val="10B981"/>
                </a:solidFill>
              </a:rPr>
              <a:t>El principio es idéntico:</a:t>
            </a:r>
            <a:r>
              <a:rPr lang="es-ES" sz="1200" dirty="0">
                <a:solidFill>
                  <a:srgbClr val="BFDBFE"/>
                </a:solidFill>
              </a:rPr>
              <a:t xml:space="preserve"> para cada trozo del hash, se revela el secreto hasheado un número de veces que depende del valor de ese trozo. Más trozos y cadenas más largas, pero la misma lógica.</a:t>
            </a:r>
          </a:p>
        </p:txBody>
      </p:sp>
      <p:sp>
        <p:nvSpPr>
          <p:cNvPr id="50" name="Foot"/>
          <p:cNvSpPr/>
          <p:nvPr/>
        </p:nvSpPr>
        <p:spPr>
          <a:xfrm>
            <a:off x="274320" y="4500000"/>
            <a:ext cx="84124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64748B"/>
                </a:solidFill>
              </a:rPr>
              <a:t>El trade-off de w: mayor w = firma más compacta pero más lenta (más hashes por cadena). w=16 es el balance estándar del NIST.</a:t>
            </a:r>
          </a:p>
        </p:txBody>
      </p:sp>
      <p:sp>
        <p:nvSpPr>
          <p:cNvPr id="90" name="BadgeBG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BadgeLetter"/>
          <p:cNvSpPr/>
          <p:nvPr/>
        </p:nvSpPr>
        <p:spPr>
          <a:xfrm>
            <a:off x="7300000" y="1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 Black" pitchFamily="34" charset="0"/>
              </a:rPr>
              <a:t>B</a:t>
            </a:r>
          </a:p>
        </p:txBody>
      </p:sp>
      <p:sp>
        <p:nvSpPr>
          <p:cNvPr id="92" name="BadgeLabel"/>
          <p:cNvSpPr/>
          <p:nvPr/>
        </p:nvSpPr>
        <p:spPr>
          <a:xfrm>
            <a:off x="7720000" y="10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100" b="1" dirty="0">
                <a:solidFill>
                  <a:srgbClr val="3B82F6"/>
                </a:solidFill>
              </a:rPr>
              <a:t>Firma OTS</a:t>
            </a:r>
          </a:p>
          <a:p>
            <a:pPr indent="0" marL="0">
              <a:buNone/>
            </a:pPr>
            <a:r>
              <a:rPr lang="es-ES" sz="800" dirty="0">
                <a:solidFill>
                  <a:srgbClr val="64748B"/>
                </a:solidFill>
              </a:rPr>
              <a:t>Detalle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XMSS - Firmas Digitales Post-Cuánticas</dc:title>
  <dc:subject>PptxGenJS Presentation</dc:subject>
  <dc:creator>PptxGenJS</dc:creator>
  <cp:lastModifiedBy>PptxGenJS</cp:lastModifiedBy>
  <cp:revision>1</cp:revision>
  <dcterms:created xsi:type="dcterms:W3CDTF">2026-03-16T01:54:05Z</dcterms:created>
  <dcterms:modified xsi:type="dcterms:W3CDTF">2026-03-16T01:54:05Z</dcterms:modified>
</cp:coreProperties>
</file>