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0" r:id="rId21"/>
    <p:sldId id="271" r:id="rId22"/>
    <p:sldId id="272" r:id="rId23"/>
    <p:sldId id="273" r:id="rId24"/>
    <p:sldId id="274" r:id="rId25"/>
    <p:sldId id="266" r:id="rId12"/>
    <p:sldId id="267" r:id="rId13"/>
    <p:sldId id="268" r:id="rId14"/>
    <p:sldId id="275" r:id="rId26"/>
    <p:sldId id="276" r:id="rId27"/>
    <p:sldId id="277" r:id="rId28"/>
    <p:sldId id="278" r:id="rId29"/>
    <p:sldId id="279" r:id="rId30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9436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118872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1752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178308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2336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237744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297180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356616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416052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475488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5256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534924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457200"/>
            <a:ext cx="4572000" cy="4114800"/>
          </a:xfrm>
          <a:prstGeom prst="ellipse">
            <a:avLst/>
          </a:prstGeom>
          <a:solidFill>
            <a:srgbClr val="2563EB">
              <a:alpha val="12000"/>
            </a:srgbClr>
          </a:solidFill>
          <a:ln w="12700">
            <a:solidFill>
              <a:srgbClr val="2563EB">
                <a:alpha val="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548640"/>
            <a:ext cx="2743200" cy="365760"/>
          </a:xfrm>
          <a:prstGeom prst="rect">
            <a:avLst/>
          </a:prstGeom>
          <a:solidFill>
            <a:srgbClr val="1D4E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BFDBFE"/>
                </a:solidFill>
              </a:rPr>
              <a:t>CRIPTOGRAFÍA POST-CUÁNTICA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105156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XMSS</a:t>
            </a:r>
            <a:endParaRPr lang="en-US" sz="9600" dirty="0"/>
          </a:p>
        </p:txBody>
      </p:sp>
      <p:sp>
        <p:nvSpPr>
          <p:cNvPr id="26" name="Text 24"/>
          <p:cNvSpPr/>
          <p:nvPr/>
        </p:nvSpPr>
        <p:spPr>
          <a:xfrm>
            <a:off x="457200" y="2606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FDB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eXtended Merkle Signature Scheme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3200400" y="3200400"/>
            <a:ext cx="274320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3337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 y ejemplo práctico paso a paso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Resistente a computación cuántica  ·  Basado en funciones de hash  ·  Estándar NIST 2022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 ECDSA ya no es suficiente?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914400"/>
            <a:ext cx="4114800" cy="411480"/>
          </a:xfrm>
          <a:prstGeom prst="rect">
            <a:avLst/>
          </a:prstGeom>
          <a:solidFill>
            <a:srgbClr val="3B82F6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9144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</a:rPr>
              <a:t>ECDSA (hoy)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0040" y="1417320"/>
            <a:ext cx="4114800" cy="868680"/>
          </a:xfrm>
          <a:prstGeom prst="rect">
            <a:avLst/>
          </a:prstGeom>
          <a:solidFill>
            <a:srgbClr val="0A162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508760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4173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Se basa en el problema del logaritmo discreto sobre curvas elípticas.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2423160"/>
            <a:ext cx="4114800" cy="868680"/>
          </a:xfrm>
          <a:prstGeom prst="rect">
            <a:avLst/>
          </a:prstGeom>
          <a:solidFill>
            <a:srgbClr val="0A162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514600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42316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Una computadora clásica necesita ~10³⁰⁰ operaciones para romperlo.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" y="3429000"/>
            <a:ext cx="4114800" cy="868680"/>
          </a:xfrm>
          <a:prstGeom prst="rect">
            <a:avLst/>
          </a:prstGeom>
          <a:solidFill>
            <a:srgbClr val="0A162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520440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429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Usado en Bitcoin, Ethereum, TLS, SSH, GPG y casi todo internet.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09160" y="914400"/>
            <a:ext cx="4114800" cy="411480"/>
          </a:xfrm>
          <a:prstGeom prst="rect">
            <a:avLst/>
          </a:prstGeom>
          <a:solidFill>
            <a:srgbClr val="EF4444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9144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</a:rPr>
              <a:t>Computadora cuántica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709160" y="1417320"/>
            <a:ext cx="4114800" cy="868680"/>
          </a:xfrm>
          <a:prstGeom prst="rect">
            <a:avLst/>
          </a:prstGeom>
          <a:solidFill>
            <a:srgbClr val="0A162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1508760"/>
            <a:ext cx="201168" cy="20116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20640" y="14173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El algoritmo de Shor resuelve el logaritmo discreto en tiempo polinómico.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09160" y="2423160"/>
            <a:ext cx="4114800" cy="868680"/>
          </a:xfrm>
          <a:prstGeom prst="rect">
            <a:avLst/>
          </a:prstGeom>
          <a:solidFill>
            <a:srgbClr val="0A162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46320" y="2514600"/>
            <a:ext cx="201168" cy="20116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0640" y="242316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Una computadora cuántica de ~4.000 qubits lógicos rompería ECDSA.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09160" y="3429000"/>
            <a:ext cx="4114800" cy="868680"/>
          </a:xfrm>
          <a:prstGeom prst="rect">
            <a:avLst/>
          </a:prstGeom>
          <a:solidFill>
            <a:srgbClr val="0A162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46320" y="3520440"/>
            <a:ext cx="201168" cy="20116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0" y="3429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Google, IBM y China están avanzando rápido. El NIST ya se preocupó en 2016.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06240" y="224028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0624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0E1A"/>
                </a:solidFill>
              </a:rPr>
              <a:t>VS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20040" y="4434840"/>
            <a:ext cx="8503920" cy="502920"/>
          </a:xfrm>
          <a:prstGeom prst="rect">
            <a:avLst/>
          </a:prstGeom>
          <a:solidFill>
            <a:srgbClr val="3B0A0A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4434840"/>
            <a:ext cx="8503920" cy="50292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DE68A"/>
                </a:solidFill>
              </a:rPr>
              <a:t>⚠  La solución: basar la seguridad en funciones de HASH, que los algoritmos cuánticos conocidos NO pueden romper eficientemente.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XMSS — Los 3 pilares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777240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229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BFE"/>
                </a:solidFill>
              </a:rPr>
              <a:t>XMSS combina tres ideas para crear un esquema de firma resistente a cuántica: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743200" cy="3474720"/>
          </a:xfrm>
          <a:prstGeom prst="rect">
            <a:avLst/>
          </a:prstGeom>
          <a:solidFill>
            <a:srgbClr val="080E1A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2743200" cy="640080"/>
          </a:xfrm>
          <a:prstGeom prst="rect">
            <a:avLst/>
          </a:prstGeom>
          <a:solidFill>
            <a:srgbClr val="F59E0B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2801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20040" y="1965960"/>
            <a:ext cx="2743200" cy="9144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9E0B"/>
                </a:solidFill>
              </a:rPr>
              <a:t>OTS — One Time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9E0B"/>
                </a:solidFill>
              </a:rPr>
              <a:t>Signature (Winternitz)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2926080"/>
            <a:ext cx="219456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2971800"/>
            <a:ext cx="2743200" cy="160020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Una clave que firma UN SOLO mensaje. Si se reutiliza, la seguridad se rompe.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063240" y="301752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246120" y="1280160"/>
            <a:ext cx="2743200" cy="3474720"/>
          </a:xfrm>
          <a:prstGeom prst="rect">
            <a:avLst/>
          </a:prstGeom>
          <a:solidFill>
            <a:srgbClr val="080E1A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46120" y="1280160"/>
            <a:ext cx="2743200" cy="640080"/>
          </a:xfrm>
          <a:prstGeom prst="rect">
            <a:avLst/>
          </a:prstGeom>
          <a:solidFill>
            <a:srgbClr val="10B981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2801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246120" y="1965960"/>
            <a:ext cx="2743200" cy="9144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B981"/>
                </a:solidFill>
              </a:rPr>
              <a:t>Árbol de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0B981"/>
                </a:solidFill>
              </a:rPr>
              <a:t>Merkle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520440" y="2926080"/>
            <a:ext cx="219456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46120" y="2971800"/>
            <a:ext cx="2743200" cy="160020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Organiza miles de claves OTS en una estructura de árbol con una única clave pública raíz.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89320" y="301752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172200" y="1280160"/>
            <a:ext cx="2743200" cy="3474720"/>
          </a:xfrm>
          <a:prstGeom prst="rect">
            <a:avLst/>
          </a:prstGeom>
          <a:solidFill>
            <a:srgbClr val="080E1A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72200" y="1280160"/>
            <a:ext cx="2743200" cy="640080"/>
          </a:xfrm>
          <a:prstGeom prst="rect">
            <a:avLst/>
          </a:prstGeom>
          <a:solidFill>
            <a:srgbClr val="3B82F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72200" y="12801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172200" y="1965960"/>
            <a:ext cx="2743200" cy="9144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</a:rPr>
              <a:t>Estado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3B82F6"/>
                </a:solidFill>
              </a:rPr>
              <a:t>(Stateful)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446520" y="2926080"/>
            <a:ext cx="219456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72200" y="2971800"/>
            <a:ext cx="2743200" cy="160020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XMSS lleva la cuenta de qué claves OTS ya usó. Nunca puede repetir un índice.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0040" y="4709160"/>
            <a:ext cx="8503920" cy="274320"/>
          </a:xfrm>
          <a:prstGeom prst="rect">
            <a:avLst/>
          </a:prstGeom>
          <a:solidFill>
            <a:srgbClr val="0F2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4709160"/>
            <a:ext cx="85039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FDBFE"/>
                </a:solidFill>
              </a:rPr>
              <a:t>Base matemática: las funciones de hash SHA-256 son resistentes al algoritmo de Grover (cuántica) con pérdida de solo 50% de bits de seguridad — manejable duplicando el tamaño.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8288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 01 — OTS: Winternitz One-Time Signature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822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DE68A"/>
                </a:solidFill>
              </a:rPr>
              <a:t>¿Cómo funciona?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188720"/>
            <a:ext cx="3931920" cy="566928"/>
          </a:xfrm>
          <a:prstGeom prst="rect">
            <a:avLst/>
          </a:prstGeom>
          <a:solidFill>
            <a:srgbClr val="080E1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188720"/>
            <a:ext cx="1005840" cy="566928"/>
          </a:xfrm>
          <a:prstGeom prst="rect">
            <a:avLst/>
          </a:prstGeom>
          <a:solidFill>
            <a:srgbClr val="F59E0B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18872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Clave privada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25880" y="1188720"/>
            <a:ext cx="2880360" cy="56692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Serie de valores aleatorios: sk₀, sk₁, … skₙ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1856232"/>
            <a:ext cx="3931920" cy="566928"/>
          </a:xfrm>
          <a:prstGeom prst="rect">
            <a:avLst/>
          </a:prstGeom>
          <a:solidFill>
            <a:srgbClr val="080E1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" y="1856232"/>
            <a:ext cx="1005840" cy="566928"/>
          </a:xfrm>
          <a:prstGeom prst="rect">
            <a:avLst/>
          </a:prstGeom>
          <a:solidFill>
            <a:srgbClr val="F59E0B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185623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Clave pública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25880" y="1856232"/>
            <a:ext cx="2880360" cy="56692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Hash de cada valor privado: pk_i = Hash(sk_i)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523744"/>
            <a:ext cx="3931920" cy="566928"/>
          </a:xfrm>
          <a:prstGeom prst="rect">
            <a:avLst/>
          </a:prstGeom>
          <a:solidFill>
            <a:srgbClr val="080E1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2523744"/>
            <a:ext cx="1005840" cy="566928"/>
          </a:xfrm>
          <a:prstGeom prst="rect">
            <a:avLst/>
          </a:prstGeom>
          <a:solidFill>
            <a:srgbClr val="F59E0B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252374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Firmar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25880" y="2523744"/>
            <a:ext cx="2880360" cy="56692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Para cada bit del mensaje, revelás sk_i (bit=1) o su hash (bit=0)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191256"/>
            <a:ext cx="3931920" cy="566928"/>
          </a:xfrm>
          <a:prstGeom prst="rect">
            <a:avLst/>
          </a:prstGeom>
          <a:solidFill>
            <a:srgbClr val="080E1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" y="3191256"/>
            <a:ext cx="1005840" cy="566928"/>
          </a:xfrm>
          <a:prstGeom prst="rect">
            <a:avLst/>
          </a:prstGeom>
          <a:solidFill>
            <a:srgbClr val="F59E0B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3191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Verificar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25880" y="3191256"/>
            <a:ext cx="2880360" cy="56692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El verificador comprueba que los valores revelados hasheados baten con la clave pública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74320" y="3858768"/>
            <a:ext cx="3931920" cy="566928"/>
          </a:xfrm>
          <a:prstGeom prst="rect">
            <a:avLst/>
          </a:prstGeom>
          <a:solidFill>
            <a:srgbClr val="3B0A0A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320" y="3858768"/>
            <a:ext cx="1005840" cy="566928"/>
          </a:xfrm>
          <a:prstGeom prst="rect">
            <a:avLst/>
          </a:prstGeom>
          <a:solidFill>
            <a:srgbClr val="EF4444">
              <a:alpha val="7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385876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⚠ Solo UNA vez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325880" y="3858768"/>
            <a:ext cx="2880360" cy="56692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Si firmás dos mensajes distintos, un atacante puede reconstruir la clave privada combinando ambas firmas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480560" y="822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DE68A"/>
                </a:solidFill>
              </a:rPr>
              <a:t>Diagrama simplificado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480560" y="1188720"/>
            <a:ext cx="4389120" cy="3566160"/>
          </a:xfrm>
          <a:prstGeom prst="rect">
            <a:avLst/>
          </a:prstGeom>
          <a:solidFill>
            <a:srgbClr val="080E1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17720" y="1417320"/>
            <a:ext cx="731520" cy="365760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17720" y="14173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sk₀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486400" y="14173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Hash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49240" y="1600200"/>
            <a:ext cx="64008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89320" y="1508760"/>
            <a:ext cx="0" cy="1828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35040" y="1417320"/>
            <a:ext cx="731520" cy="365760"/>
          </a:xfrm>
          <a:prstGeom prst="rect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5040" y="14173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pk₀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617720" y="2167128"/>
            <a:ext cx="731520" cy="365760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17720" y="216712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sk₁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0" y="21671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Hash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49240" y="2350008"/>
            <a:ext cx="64008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89320" y="2258568"/>
            <a:ext cx="0" cy="1828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035040" y="2167128"/>
            <a:ext cx="731520" cy="365760"/>
          </a:xfrm>
          <a:prstGeom prst="rect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35040" y="216712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pk₁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617720" y="2916936"/>
            <a:ext cx="731520" cy="365760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0" y="291693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sk₂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486400" y="291693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Hash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49240" y="3099816"/>
            <a:ext cx="64008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989320" y="3008376"/>
            <a:ext cx="0" cy="1828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035040" y="2916936"/>
            <a:ext cx="731520" cy="365760"/>
          </a:xfrm>
          <a:prstGeom prst="rect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35040" y="291693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pk₂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617720" y="3666744"/>
            <a:ext cx="731520" cy="365760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17720" y="366674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sk₃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486400" y="366674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Hash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349240" y="3849624"/>
            <a:ext cx="64008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989320" y="3758184"/>
            <a:ext cx="0" cy="1828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35040" y="3666744"/>
            <a:ext cx="731520" cy="365760"/>
          </a:xfrm>
          <a:prstGeom prst="rect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035040" y="366674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pk₃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617720" y="44805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Clave privada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(secreta)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6035040" y="44805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Clave pública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(publicada)</a:t>
            </a:r>
            <a:endParaRPr lang="en-US" sz="850" dirty="0"/>
          </a:p>
        </p:txBody>
      </p:sp>
      <p:sp>
        <p:nvSpPr>
          <p:cNvPr id="99" name="RefBox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solidFill>
            <a:srgbClr val="F5A623">
              <a:alpha val="12000"/>
            </a:srgbClr>
          </a:solidFill>
          <a:ln w="12700">
            <a:solidFill>
              <a:srgbClr val="F5A623">
                <a:alpha val="40000"/>
              </a:srgbClr>
            </a:solidFill>
            <a:prstDash val="solid"/>
          </a:ln>
        </p:spPr>
      </p:sp>
      <p:sp>
        <p:nvSpPr>
          <p:cNvPr id="100" name="RefText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A623"/>
                </a:solidFill>
              </a:rPr>
              <a:t>➡  Ver slide 22: Target Sum Winternitz (TSW) — la variante optimizada para circuitos SNARK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 02 — Árbol de Merkle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731520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DBFE"/>
                </a:solidFill>
              </a:rPr>
              <a:t>Tenemos miles de claves OTS de un solo uso. El árbol de Merkle las organiza bajo UNA SOLA clave pública raíz.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0" y="1234440"/>
            <a:ext cx="1645920" cy="457200"/>
          </a:xfrm>
          <a:prstGeom prst="rect">
            <a:avLst/>
          </a:prstGeom>
          <a:solidFill>
            <a:srgbClr val="10B981">
              <a:alpha val="85000"/>
            </a:srgbClr>
          </a:solidFill>
          <a:ln w="254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>Raíz (Clave Pública)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11680" y="2103120"/>
            <a:ext cx="1554480" cy="411480"/>
          </a:xfrm>
          <a:prstGeom prst="rect">
            <a:avLst/>
          </a:prstGeom>
          <a:solidFill>
            <a:srgbClr val="0A3A2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11680" y="2103120"/>
            <a:ext cx="15544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Nodo[1,0]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Hash(Hoja0 + Hoja1)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94960" y="2103120"/>
            <a:ext cx="1554480" cy="411480"/>
          </a:xfrm>
          <a:prstGeom prst="rect">
            <a:avLst/>
          </a:prstGeom>
          <a:solidFill>
            <a:srgbClr val="0A3A2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94960" y="2103120"/>
            <a:ext cx="15544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Nodo[1,1]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Hash(Hoja2 + Hoja3)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480560" y="1691640"/>
            <a:ext cx="0" cy="41148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88920" y="2103120"/>
            <a:ext cx="1691640" cy="-41148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80560" y="1691640"/>
            <a:ext cx="1691640" cy="41148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108960"/>
            <a:ext cx="1463040" cy="457200"/>
          </a:xfrm>
          <a:prstGeom prst="rect">
            <a:avLst/>
          </a:prstGeom>
          <a:solidFill>
            <a:srgbClr val="F59E0B">
              <a:alpha val="7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108960"/>
            <a:ext cx="14630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8FAFC"/>
                </a:solidFill>
              </a:rPr>
              <a:t>Hoja 0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8FAFC"/>
                </a:solidFill>
              </a:rPr>
              <a:t>Hash(pk_OTS₀)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834640" y="3108960"/>
            <a:ext cx="1463040" cy="457200"/>
          </a:xfrm>
          <a:prstGeom prst="rect">
            <a:avLst/>
          </a:prstGeom>
          <a:solidFill>
            <a:srgbClr val="F59E0B">
              <a:alpha val="7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34640" y="3108960"/>
            <a:ext cx="14630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8FAFC"/>
                </a:solidFill>
              </a:rPr>
              <a:t>Hoja 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8FAFC"/>
                </a:solidFill>
              </a:rPr>
              <a:t>Hash(pk_OTS₁)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54880" y="3108960"/>
            <a:ext cx="1463040" cy="457200"/>
          </a:xfrm>
          <a:prstGeom prst="rect">
            <a:avLst/>
          </a:prstGeom>
          <a:solidFill>
            <a:srgbClr val="F59E0B">
              <a:alpha val="7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108960"/>
            <a:ext cx="14630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8FAFC"/>
                </a:solidFill>
              </a:rPr>
              <a:t>Hoja 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8FAFC"/>
                </a:solidFill>
              </a:rPr>
              <a:t>Hash(pk_OTS₂)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675120" y="3108960"/>
            <a:ext cx="1463040" cy="457200"/>
          </a:xfrm>
          <a:prstGeom prst="rect">
            <a:avLst/>
          </a:prstGeom>
          <a:solidFill>
            <a:srgbClr val="F59E0B">
              <a:alpha val="7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0" y="3108960"/>
            <a:ext cx="14630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8FAFC"/>
                </a:solidFill>
              </a:rPr>
              <a:t>Hoja 3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8FAFC"/>
                </a:solidFill>
              </a:rPr>
              <a:t>Hash(pk_OTS₃)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88920" y="2514600"/>
            <a:ext cx="0" cy="5943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45920" y="3108960"/>
            <a:ext cx="1143000" cy="-5943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88920" y="2514600"/>
            <a:ext cx="777240" cy="5943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72200" y="2514600"/>
            <a:ext cx="0" cy="5943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0" y="3108960"/>
            <a:ext cx="685800" cy="-5943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72200" y="2514600"/>
            <a:ext cx="1234440" cy="5943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05840" y="3840480"/>
            <a:ext cx="1280160" cy="411480"/>
          </a:xfrm>
          <a:prstGeom prst="rect">
            <a:avLst/>
          </a:prstGeom>
          <a:solidFill>
            <a:srgbClr val="0A1628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5840" y="3840480"/>
            <a:ext cx="12801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OTS₀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(sk, pk)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645920" y="3566160"/>
            <a:ext cx="0" cy="2743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26080" y="3840480"/>
            <a:ext cx="1280160" cy="411480"/>
          </a:xfrm>
          <a:prstGeom prst="rect">
            <a:avLst/>
          </a:prstGeom>
          <a:solidFill>
            <a:srgbClr val="0A1628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26080" y="3840480"/>
            <a:ext cx="12801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OTS₁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(sk, pk)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566160" y="3566160"/>
            <a:ext cx="0" cy="2743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46320" y="3840480"/>
            <a:ext cx="1280160" cy="411480"/>
          </a:xfrm>
          <a:prstGeom prst="rect">
            <a:avLst/>
          </a:prstGeom>
          <a:solidFill>
            <a:srgbClr val="0A1628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3840480"/>
            <a:ext cx="12801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OTS₂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(sk, pk)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486400" y="3566160"/>
            <a:ext cx="0" cy="2743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766560" y="3840480"/>
            <a:ext cx="1280160" cy="411480"/>
          </a:xfrm>
          <a:prstGeom prst="rect">
            <a:avLst/>
          </a:prstGeom>
          <a:solidFill>
            <a:srgbClr val="0A1628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0" y="3840480"/>
            <a:ext cx="12801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OTS₃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(sk, pk)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406640" y="3566160"/>
            <a:ext cx="0" cy="2743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4320" y="4480560"/>
            <a:ext cx="8595360" cy="457200"/>
          </a:xfrm>
          <a:prstGeom prst="rect">
            <a:avLst/>
          </a:prstGeom>
          <a:solidFill>
            <a:srgbClr val="0A162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4480560"/>
            <a:ext cx="8595360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La Raíz del árbol = Clave Pública XMSS. Para probar validez de una firma se revela el 'camino de autenticación' desde la hoja hasta la raíz (unos pocos hashes, no todo el árbol).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8288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 03 — Estado (Stateful)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731520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DBFE"/>
                </a:solidFill>
              </a:rPr>
              <a:t>XMSS es stateful: debe recordar qué índice OTS usó para nunca repetirlo. Esto lo diferencia de ECDSA (que es stateless).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74320" y="12344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FDBFE"/>
                </a:solidFill>
              </a:rPr>
              <a:t>El índice como contador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645920"/>
            <a:ext cx="3931920" cy="566928"/>
          </a:xfrm>
          <a:prstGeom prst="rect">
            <a:avLst/>
          </a:prstGeom>
          <a:solidFill>
            <a:srgbClr val="080E1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783080"/>
            <a:ext cx="292608" cy="292608"/>
          </a:xfrm>
          <a:prstGeom prst="ellipse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783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16459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idx = 0 → Usar OTS₀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2304288"/>
            <a:ext cx="3931920" cy="566928"/>
          </a:xfrm>
          <a:prstGeom prst="rect">
            <a:avLst/>
          </a:prstGeom>
          <a:solidFill>
            <a:srgbClr val="080E1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441448"/>
            <a:ext cx="292608" cy="292608"/>
          </a:xfrm>
          <a:prstGeom prst="ellipse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230428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idx = 1 → Usar OTS₁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2962656"/>
            <a:ext cx="3931920" cy="566928"/>
          </a:xfrm>
          <a:prstGeom prst="rect">
            <a:avLst/>
          </a:prstGeom>
          <a:solidFill>
            <a:srgbClr val="1A2E0A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099816"/>
            <a:ext cx="292608" cy="292608"/>
          </a:xfrm>
          <a:prstGeom prst="ellipse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296265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idx = 2 → Usar OTS₂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383280" y="2962656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← ahora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621024"/>
            <a:ext cx="3931920" cy="566928"/>
          </a:xfrm>
          <a:prstGeom prst="rect">
            <a:avLst/>
          </a:prstGeom>
          <a:solidFill>
            <a:srgbClr val="080E1A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3758184"/>
            <a:ext cx="292608" cy="292608"/>
          </a:xfrm>
          <a:prstGeom prst="ellipse">
            <a:avLst/>
          </a:prstGeom>
          <a:solidFill>
            <a:srgbClr val="64748B">
              <a:alpha val="4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758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77240" y="362102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idx = 3 → Usar OTS₃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480560" y="12344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FDBFE"/>
                </a:solidFill>
              </a:rPr>
              <a:t>Riesgos del estado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480560" y="1645920"/>
            <a:ext cx="4297680" cy="658368"/>
          </a:xfrm>
          <a:prstGeom prst="rect">
            <a:avLst/>
          </a:prstGeom>
          <a:solidFill>
            <a:srgbClr val="080E1A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26280" y="164592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💾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029200" y="16824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</a:rPr>
              <a:t>Pérdida del estado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29200" y="195681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Si se pierde qué índice se usó, no se puede continuar firmando de forma segura.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480560" y="2414016"/>
            <a:ext cx="4297680" cy="658368"/>
          </a:xfrm>
          <a:prstGeom prst="rect">
            <a:avLst/>
          </a:prstGeom>
          <a:solidFill>
            <a:srgbClr val="080E1A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26280" y="2414016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🔄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029200" y="24505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</a:rPr>
              <a:t>Backup y restore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29200" y="272491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Restaurar un backup antiguo puede hacer que se reutilice un índice — error crítico.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480560" y="3182112"/>
            <a:ext cx="4297680" cy="658368"/>
          </a:xfrm>
          <a:prstGeom prst="rect">
            <a:avLst/>
          </a:prstGeom>
          <a:solidFill>
            <a:srgbClr val="080E1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26280" y="3182112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📏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5029200" y="32186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Límite de firmas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029200" y="349300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Un árbol de altura h=20 permite 2²⁰ ≈ 1 millón de firmas. Luego hay que generar nueva clave.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480560" y="3950208"/>
            <a:ext cx="4297680" cy="658368"/>
          </a:xfrm>
          <a:prstGeom prst="rect">
            <a:avLst/>
          </a:prstGeom>
          <a:solidFill>
            <a:srgbClr val="080E1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26280" y="3950208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5029200" y="39867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Uso ideal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029200" y="426110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Dispositivos con pocas firmas y almacenamiento confiable: HSMs, firmware, PKI.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D4E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45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DE68A"/>
                </a:solidFill>
              </a:rPr>
              <a:t>EJEMPLO PRÁCTICO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4114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Construyendo XMSS con h=2 (4 hojas)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BFE"/>
                </a:solidFill>
              </a:rPr>
              <a:t>Vamos a construir un esquema XMSS completo con un árbol de altura 2, lo que nos da exactamente 4 claves OTS (= 4 firmas posibles). Ideal para entender el flujo.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4023360" cy="1234440"/>
          </a:xfrm>
          <a:prstGeom prst="rect">
            <a:avLst/>
          </a:prstGeom>
          <a:solidFill>
            <a:srgbClr val="0F1E3D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737360"/>
            <a:ext cx="502920" cy="1234440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737360"/>
            <a:ext cx="502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914400" y="18470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9E0B"/>
                </a:solidFill>
              </a:rPr>
              <a:t>Generar 4 pares de claves OTS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221284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Para cada hoja del árbol generamos un par (sk_i, pk_i) usando Winternitz.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54880" y="1737360"/>
            <a:ext cx="4023360" cy="1234440"/>
          </a:xfrm>
          <a:prstGeom prst="rect">
            <a:avLst/>
          </a:prstGeom>
          <a:solidFill>
            <a:srgbClr val="0F1E3D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737360"/>
            <a:ext cx="502920" cy="1234440"/>
          </a:xfrm>
          <a:prstGeom prst="rect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737360"/>
            <a:ext cx="502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303520" y="184708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B981"/>
                </a:solidFill>
              </a:rPr>
              <a:t>Construir el árbol de Merkle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303520" y="221284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Hasheamos las pk_i para obtener las hojas, luego construimos el árbol de abajo hacia arriba.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65760" y="3154680"/>
            <a:ext cx="4023360" cy="1234440"/>
          </a:xfrm>
          <a:prstGeom prst="rect">
            <a:avLst/>
          </a:prstGeom>
          <a:solidFill>
            <a:srgbClr val="0F1E3D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3154680"/>
            <a:ext cx="502920" cy="1234440"/>
          </a:xfrm>
          <a:prstGeom prst="rect">
            <a:avLst/>
          </a:prstGeom>
          <a:solidFill>
            <a:srgbClr val="3B82F6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154680"/>
            <a:ext cx="502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14400" y="326440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B82F6"/>
                </a:solidFill>
              </a:rPr>
              <a:t>Firmar el primer mensaje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4400" y="363016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Usamos OTS₀ (índice 0), revelamos la clave privada parcial + el camino de autenticación.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754880" y="3154680"/>
            <a:ext cx="4023360" cy="1234440"/>
          </a:xfrm>
          <a:prstGeom prst="rect">
            <a:avLst/>
          </a:prstGeom>
          <a:solidFill>
            <a:srgbClr val="0F1E3D"/>
          </a:solidFill>
          <a:ln w="1905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3154680"/>
            <a:ext cx="502920" cy="1234440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3154680"/>
            <a:ext cx="502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5303520" y="326440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78BFA"/>
                </a:solidFill>
              </a:rPr>
              <a:t>Verificar la firma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303520" y="363016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El verificador recalcula el árbol desde la hoja firmada y comprueba que llega a la misma Raíz.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37160"/>
            <a:ext cx="411480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37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0E1A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77240" y="1828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Generar los 4 pares de claves OTS (Winternitz)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658368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7315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DBFE"/>
                </a:solidFill>
              </a:rPr>
              <a:t>Para cada una de las 4 hojas del árbol generamos un par de claves OTS independiente: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8412480" cy="749808"/>
          </a:xfrm>
          <a:prstGeom prst="rect">
            <a:avLst/>
          </a:prstGeom>
          <a:solidFill>
            <a:srgbClr val="080E1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1143000"/>
            <a:ext cx="594360" cy="749808"/>
          </a:xfrm>
          <a:prstGeom prst="rect">
            <a:avLst/>
          </a:prstGeom>
          <a:solidFill>
            <a:srgbClr val="F59E0B">
              <a:alpha val="7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143000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OTS0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1197864"/>
            <a:ext cx="3566160" cy="274320"/>
          </a:xfrm>
          <a:prstGeom prst="rect">
            <a:avLst/>
          </a:prstGeom>
          <a:solidFill>
            <a:srgbClr val="1A0F0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197864"/>
            <a:ext cx="356616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</a:rPr>
              <a:t>🔐  sk₀ = [a1f3..., b9c2..., e4d7..., ...]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1197864"/>
            <a:ext cx="3931920" cy="274320"/>
          </a:xfrm>
          <a:prstGeom prst="rect">
            <a:avLst/>
          </a:prstGeom>
          <a:solidFill>
            <a:srgbClr val="0A1A0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197864"/>
            <a:ext cx="39319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</a:rPr>
              <a:t>🌐  pk₀ = [Hash(a1f3...), Hash(b9c2...), ...]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14400" y="1545336"/>
            <a:ext cx="356616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sk → PRIVADA, nunca se publica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63440" y="1545336"/>
            <a:ext cx="393192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pk → PÚBLICA, se pone en las hojas del árbol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2011680"/>
            <a:ext cx="8412480" cy="749808"/>
          </a:xfrm>
          <a:prstGeom prst="rect">
            <a:avLst/>
          </a:prstGeom>
          <a:solidFill>
            <a:srgbClr val="080E1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2011680"/>
            <a:ext cx="594360" cy="749808"/>
          </a:xfrm>
          <a:prstGeom prst="rect">
            <a:avLst/>
          </a:prstGeom>
          <a:solidFill>
            <a:srgbClr val="F59E0B">
              <a:alpha val="7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2011680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OTS1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14400" y="2066544"/>
            <a:ext cx="3566160" cy="274320"/>
          </a:xfrm>
          <a:prstGeom prst="rect">
            <a:avLst/>
          </a:prstGeom>
          <a:solidFill>
            <a:srgbClr val="1A0F0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2066544"/>
            <a:ext cx="356616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</a:rPr>
              <a:t>🔐  sk₁ = [7f2a..., 3d8e..., c1b4..., ...]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663440" y="2066544"/>
            <a:ext cx="3931920" cy="274320"/>
          </a:xfrm>
          <a:prstGeom prst="rect">
            <a:avLst/>
          </a:prstGeom>
          <a:solidFill>
            <a:srgbClr val="0A1A0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2066544"/>
            <a:ext cx="39319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</a:rPr>
              <a:t>🌐  pk₁ = [Hash(7f2a...), Hash(3d8e...), ...]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14400" y="2414016"/>
            <a:ext cx="356616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sk → PRIVADA, nunca se publica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663440" y="2414016"/>
            <a:ext cx="393192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pk → PÚBLICA, se pone en las hojas del árbol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74320" y="2880360"/>
            <a:ext cx="8412480" cy="749808"/>
          </a:xfrm>
          <a:prstGeom prst="rect">
            <a:avLst/>
          </a:prstGeom>
          <a:solidFill>
            <a:srgbClr val="080E1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" y="2880360"/>
            <a:ext cx="594360" cy="749808"/>
          </a:xfrm>
          <a:prstGeom prst="rect">
            <a:avLst/>
          </a:prstGeom>
          <a:solidFill>
            <a:srgbClr val="F59E0B">
              <a:alpha val="7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2880360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OTS2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14400" y="2935224"/>
            <a:ext cx="3566160" cy="274320"/>
          </a:xfrm>
          <a:prstGeom prst="rect">
            <a:avLst/>
          </a:prstGeom>
          <a:solidFill>
            <a:srgbClr val="1A0F0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2935224"/>
            <a:ext cx="356616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</a:rPr>
              <a:t>🔐  sk₂ = [9e1c..., 4a7d..., 2f8b..., ...]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63440" y="2935224"/>
            <a:ext cx="3931920" cy="274320"/>
          </a:xfrm>
          <a:prstGeom prst="rect">
            <a:avLst/>
          </a:prstGeom>
          <a:solidFill>
            <a:srgbClr val="0A1A0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63440" y="2935224"/>
            <a:ext cx="39319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</a:rPr>
              <a:t>🌐  pk₂ = [Hash(9e1c...), Hash(4a7d...), ...]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914400" y="3282696"/>
            <a:ext cx="356616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sk → PRIVADA, nunca se publica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663440" y="3282696"/>
            <a:ext cx="393192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pk → PÚBLICA, se pone en las hojas del árbol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3749040"/>
            <a:ext cx="8412480" cy="749808"/>
          </a:xfrm>
          <a:prstGeom prst="rect">
            <a:avLst/>
          </a:prstGeom>
          <a:solidFill>
            <a:srgbClr val="080E1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320" y="3749040"/>
            <a:ext cx="594360" cy="749808"/>
          </a:xfrm>
          <a:prstGeom prst="rect">
            <a:avLst/>
          </a:prstGeom>
          <a:solidFill>
            <a:srgbClr val="F59E0B">
              <a:alpha val="7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" y="3749040"/>
            <a:ext cx="594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</a:rPr>
              <a:t>OTS3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914400" y="3803904"/>
            <a:ext cx="3566160" cy="274320"/>
          </a:xfrm>
          <a:prstGeom prst="rect">
            <a:avLst/>
          </a:prstGeom>
          <a:solidFill>
            <a:srgbClr val="1A0F0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3803904"/>
            <a:ext cx="356616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</a:rPr>
              <a:t>🔐  sk₃ = [6b5f..., 1e9c..., 8a3d..., ...]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663440" y="3803904"/>
            <a:ext cx="3931920" cy="274320"/>
          </a:xfrm>
          <a:prstGeom prst="rect">
            <a:avLst/>
          </a:prstGeom>
          <a:solidFill>
            <a:srgbClr val="0A1A0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63440" y="3803904"/>
            <a:ext cx="3931920" cy="274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</a:rPr>
              <a:t>🌐  pk₃ = [Hash(6b5f...), Hash(1e9c...), ...]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14400" y="4151376"/>
            <a:ext cx="356616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sk → PRIVADA, nunca se publica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663440" y="4151376"/>
            <a:ext cx="3931920" cy="2560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pk → PÚBLICA, se pone en las hojas del árbol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74320" y="4617720"/>
            <a:ext cx="8412480" cy="347472"/>
          </a:xfrm>
          <a:prstGeom prst="rect">
            <a:avLst/>
          </a:prstGeom>
          <a:solidFill>
            <a:srgbClr val="1A1A0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74320" y="4617720"/>
            <a:ext cx="8412480" cy="347472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</a:rPr>
              <a:t>⚡  Cada par OTS es completamente independiente. La seguridad no depende de que estén relacionados entre sí.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37160"/>
            <a:ext cx="411480" cy="411480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37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0E1A"/>
                </a:solidFill>
              </a:rPr>
              <a:t>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77240" y="1828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el árbol de Merkle (de abajo hacia arriba)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658368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777240"/>
            <a:ext cx="4572000" cy="1188720"/>
          </a:xfrm>
          <a:prstGeom prst="rect">
            <a:avLst/>
          </a:prstGeom>
          <a:solidFill>
            <a:srgbClr val="080E1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7472" y="850392"/>
            <a:ext cx="347472" cy="347472"/>
          </a:xfrm>
          <a:prstGeom prst="ellipse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" y="8503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9808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Nivel 0 — Las hojas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49808" y="1161288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Hoja[0] = Hash(pk₀)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Hoja[1] = Hash(pk₁)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Hoja[2] = Hash(pk₂)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Hoja[3] = Hash(pk₃)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103120"/>
            <a:ext cx="4572000" cy="1188720"/>
          </a:xfrm>
          <a:prstGeom prst="rect">
            <a:avLst/>
          </a:prstGeom>
          <a:solidFill>
            <a:srgbClr val="080E1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7472" y="2176272"/>
            <a:ext cx="347472" cy="347472"/>
          </a:xfrm>
          <a:prstGeom prst="ellipse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9808" y="21488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Nivel 1 — Nodos intermedios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49808" y="2487168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Nodo[1,0] = Hash( Hoja[0] ‖ Hoja[1] 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Nodo[1,1] = Hash( Hoja[2] ‖ Hoja[3] 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3429000"/>
            <a:ext cx="4572000" cy="1188720"/>
          </a:xfrm>
          <a:prstGeom prst="rect">
            <a:avLst/>
          </a:prstGeom>
          <a:solidFill>
            <a:srgbClr val="080E1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472" y="3502152"/>
            <a:ext cx="347472" cy="347472"/>
          </a:xfrm>
          <a:prstGeom prst="ellipse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" y="3502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9808" y="3474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Nivel 2 — La raíz (clave pública)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49808" y="3813048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Raíz = Hash( Nodo[1,0] ‖ Nodo[1,1] 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→ Esta Raíz ES la clave pública XMSS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0640" y="7772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DBFE"/>
                </a:solidFill>
              </a:rPr>
              <a:t>Árbol completo resultante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69280" y="1188720"/>
            <a:ext cx="2560320" cy="457200"/>
          </a:xfrm>
          <a:prstGeom prst="rect">
            <a:avLst/>
          </a:prstGeom>
          <a:solidFill>
            <a:srgbClr val="10B981">
              <a:alpha val="85000"/>
            </a:srgbClr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8FAFC"/>
                </a:solidFill>
              </a:rPr>
              <a:t>Raíz = 8f4a2c...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8FAFC"/>
                </a:solidFill>
              </a:rPr>
              <a:t>(CLAVE PÚBLICA)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949440" y="1645920"/>
            <a:ext cx="0" cy="36576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2080" y="2011680"/>
            <a:ext cx="1737360" cy="411480"/>
          </a:xfrm>
          <a:prstGeom prst="rect">
            <a:avLst/>
          </a:prstGeom>
          <a:solidFill>
            <a:srgbClr val="0A2A1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12080" y="2011680"/>
            <a:ext cx="17373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N[1,0] = 3b7e1a...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040880" y="2011680"/>
            <a:ext cx="1737360" cy="411480"/>
          </a:xfrm>
          <a:prstGeom prst="rect">
            <a:avLst/>
          </a:prstGeom>
          <a:solidFill>
            <a:srgbClr val="0A2A1A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2011680"/>
            <a:ext cx="17373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N[1,1] = c5d2f8...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035040" y="2011680"/>
            <a:ext cx="914400" cy="-365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949440" y="1645920"/>
            <a:ext cx="914400" cy="365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74920" y="2834640"/>
            <a:ext cx="822960" cy="384048"/>
          </a:xfrm>
          <a:prstGeom prst="rect">
            <a:avLst/>
          </a:prstGeom>
          <a:solidFill>
            <a:srgbClr val="F59E0B">
              <a:alpha val="7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74920" y="2834640"/>
            <a:ext cx="82296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H[0]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1a9c...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989320" y="2834640"/>
            <a:ext cx="822960" cy="384048"/>
          </a:xfrm>
          <a:prstGeom prst="rect">
            <a:avLst/>
          </a:prstGeom>
          <a:solidFill>
            <a:srgbClr val="F59E0B">
              <a:alpha val="7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89320" y="2834640"/>
            <a:ext cx="82296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H[1]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4d7f...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903720" y="2834640"/>
            <a:ext cx="822960" cy="384048"/>
          </a:xfrm>
          <a:prstGeom prst="rect">
            <a:avLst/>
          </a:prstGeom>
          <a:solidFill>
            <a:srgbClr val="F59E0B">
              <a:alpha val="7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03720" y="2834640"/>
            <a:ext cx="82296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H[2]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2e8b...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818120" y="2834640"/>
            <a:ext cx="822960" cy="384048"/>
          </a:xfrm>
          <a:prstGeom prst="rect">
            <a:avLst/>
          </a:prstGeom>
          <a:solidFill>
            <a:srgbClr val="F59E0B">
              <a:alpha val="7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818120" y="2834640"/>
            <a:ext cx="82296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H[3]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6f3a...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532120" y="2423160"/>
            <a:ext cx="457200" cy="4114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89320" y="2834640"/>
            <a:ext cx="0" cy="-4114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452360" y="2423160"/>
            <a:ext cx="365760" cy="4114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818120" y="2834640"/>
            <a:ext cx="0" cy="-4114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120640" y="3474720"/>
            <a:ext cx="731520" cy="320040"/>
          </a:xfrm>
          <a:prstGeom prst="rect">
            <a:avLst/>
          </a:prstGeom>
          <a:solidFill>
            <a:srgbClr val="0F1E3D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20640" y="34747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OTS0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486400" y="3218688"/>
            <a:ext cx="0" cy="256032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35040" y="3474720"/>
            <a:ext cx="731520" cy="320040"/>
          </a:xfrm>
          <a:prstGeom prst="rect">
            <a:avLst/>
          </a:prstGeom>
          <a:solidFill>
            <a:srgbClr val="0F1E3D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35040" y="34747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OTS1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400800" y="3218688"/>
            <a:ext cx="0" cy="256032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949440" y="3474720"/>
            <a:ext cx="731520" cy="320040"/>
          </a:xfrm>
          <a:prstGeom prst="rect">
            <a:avLst/>
          </a:prstGeom>
          <a:solidFill>
            <a:srgbClr val="0F1E3D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49440" y="34747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OTS2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315200" y="3218688"/>
            <a:ext cx="0" cy="256032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863840" y="3474720"/>
            <a:ext cx="731520" cy="320040"/>
          </a:xfrm>
          <a:prstGeom prst="rect">
            <a:avLst/>
          </a:prstGeom>
          <a:solidFill>
            <a:srgbClr val="0F1E3D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863840" y="347472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OTS3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8229600" y="3218688"/>
            <a:ext cx="0" cy="256032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37160"/>
            <a:ext cx="411480" cy="411480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37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0E1A"/>
                </a:solidFill>
              </a:rPr>
              <a:t>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77240" y="1828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Firmar el primer mensaje — usando OTS₀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658368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749808"/>
            <a:ext cx="8412480" cy="438912"/>
          </a:xfrm>
          <a:prstGeom prst="rect">
            <a:avLst/>
          </a:prstGeom>
          <a:solidFill>
            <a:srgbClr val="0A0F1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49808"/>
            <a:ext cx="8412480" cy="43891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DE68A"/>
                </a:solidFill>
              </a:rPr>
              <a:t>Mensaje a firmar:  "Transfiero 100 ETH a 0x1234...abcd"   →   m = Hash(mensaje) = 9d3e4f...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129844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DBFE"/>
                </a:solidFill>
              </a:rPr>
              <a:t>La firma XMSS tiene 3 componentes: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1664208"/>
            <a:ext cx="8412480" cy="932688"/>
          </a:xfrm>
          <a:prstGeom prst="rect">
            <a:avLst/>
          </a:prstGeom>
          <a:solidFill>
            <a:srgbClr val="080E1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1664208"/>
            <a:ext cx="502920" cy="932688"/>
          </a:xfrm>
          <a:prstGeom prst="rect">
            <a:avLst/>
          </a:prstGeom>
          <a:solidFill>
            <a:srgbClr val="F59E0B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664208"/>
            <a:ext cx="5029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68680" y="170078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Índice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2011680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idx = 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→ Indica que se usó OTS₀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74920" y="1755648"/>
            <a:ext cx="3520440" cy="749808"/>
          </a:xfrm>
          <a:prstGeom prst="rect">
            <a:avLst/>
          </a:prstGeom>
          <a:solidFill>
            <a:srgbClr val="0A162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1755648"/>
            <a:ext cx="3520440" cy="74980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💡 El receptor sabe qué hoja buscar en el árbol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2715768"/>
            <a:ext cx="8412480" cy="932688"/>
          </a:xfrm>
          <a:prstGeom prst="rect">
            <a:avLst/>
          </a:prstGeom>
          <a:solidFill>
            <a:srgbClr val="080E1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2715768"/>
            <a:ext cx="502920" cy="932688"/>
          </a:xfrm>
          <a:prstGeom prst="rect">
            <a:avLst/>
          </a:prstGeom>
          <a:solidFill>
            <a:srgbClr val="3B82F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2715768"/>
            <a:ext cx="5029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68680" y="275234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</a:rPr>
              <a:t>Firma OTS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68680" y="3063240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σ_OTS = Winternitz.Sign(sk₀, m)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→ Revela parcialmente sk₀ según los bits de m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74920" y="2807208"/>
            <a:ext cx="3520440" cy="749808"/>
          </a:xfrm>
          <a:prstGeom prst="rect">
            <a:avLst/>
          </a:prstGeom>
          <a:solidFill>
            <a:srgbClr val="0A162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74920" y="2807208"/>
            <a:ext cx="3520440" cy="74980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💡 Nunca se revela sk₀ completa — solo lo necesario para este mensaje. Ver ejemplo detallado en las próximas 4 slides →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3767328"/>
            <a:ext cx="8412480" cy="932688"/>
          </a:xfrm>
          <a:prstGeom prst="rect">
            <a:avLst/>
          </a:prstGeom>
          <a:solidFill>
            <a:srgbClr val="080E1A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4320" y="3767328"/>
            <a:ext cx="502920" cy="932688"/>
          </a:xfrm>
          <a:prstGeom prst="rect">
            <a:avLst/>
          </a:prstGeom>
          <a:solidFill>
            <a:srgbClr val="10B981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3767328"/>
            <a:ext cx="5029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68680" y="380390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Camino de autenticación (Auth Path)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68680" y="4114800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auth = [ Hoja[1], Nodo[1,1] 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→ Los 'hermanos' del camino desde OTS₀ hasta la Raíz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74920" y="3858768"/>
            <a:ext cx="3520440" cy="749808"/>
          </a:xfrm>
          <a:prstGeom prst="rect">
            <a:avLst/>
          </a:prstGeom>
          <a:solidFill>
            <a:srgbClr val="0A162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4920" y="3858768"/>
            <a:ext cx="3520440" cy="74980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💡 Con estos 2 hashes el verificador puede reconstruir la Raíz sin conocer el árbol completo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74320" y="480060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Estado actualizado: idx avanza de 0 → 1. OTS₀ nunca más se puede usar.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A78B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37160"/>
            <a:ext cx="411480" cy="411480"/>
          </a:xfrm>
          <a:prstGeom prst="rect">
            <a:avLst/>
          </a:prstGeom>
          <a:solidFill>
            <a:srgbClr val="A78B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37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0E1A"/>
                </a:solidFill>
              </a:rPr>
              <a:t>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77240" y="1828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Verificar la firma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74320" y="658368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7315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DBFE"/>
                </a:solidFill>
              </a:rPr>
              <a:t>El verificador tiene: el mensaje, la firma (idx + σ_OTS + auth_path) y la Raíz (clave pública XMSS).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8412480" cy="822960"/>
          </a:xfrm>
          <a:prstGeom prst="rect">
            <a:avLst/>
          </a:prstGeom>
          <a:solidFill>
            <a:srgbClr val="080E1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1344168"/>
            <a:ext cx="384048" cy="384048"/>
          </a:xfrm>
          <a:prstGeom prst="ellipse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344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41248" y="1179576"/>
            <a:ext cx="7754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B5FD"/>
                </a:solidFill>
              </a:rPr>
              <a:t>Recalcular pk_OTS desde σ_OTS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1472184"/>
            <a:ext cx="7754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Con la firma OTS y el mensaje, el verificador recalcula la clave pública OTS₀ usando las propiedades de Winternitz.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075688"/>
            <a:ext cx="8412480" cy="822960"/>
          </a:xfrm>
          <a:prstGeom prst="rect">
            <a:avLst/>
          </a:prstGeom>
          <a:solidFill>
            <a:srgbClr val="080E1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276856"/>
            <a:ext cx="384048" cy="384048"/>
          </a:xfrm>
          <a:prstGeom prst="ellipse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76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1248" y="2112264"/>
            <a:ext cx="7754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B5FD"/>
                </a:solidFill>
              </a:rPr>
              <a:t>Calcular Hoja[0]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41248" y="2404872"/>
            <a:ext cx="7754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Hoja[0] = Hash(pk_OTS₀ recalculada)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3008376"/>
            <a:ext cx="8412480" cy="822960"/>
          </a:xfrm>
          <a:prstGeom prst="rect">
            <a:avLst/>
          </a:prstGeom>
          <a:solidFill>
            <a:srgbClr val="080E1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3209544"/>
            <a:ext cx="384048" cy="384048"/>
          </a:xfrm>
          <a:prstGeom prst="ellipse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09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044952"/>
            <a:ext cx="7754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4B5FD"/>
                </a:solidFill>
              </a:rPr>
              <a:t>Subir por el árbol con auth_path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41248" y="3337560"/>
            <a:ext cx="7754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Nodo[1,0] = Hash(Hoja[0] ‖ auth[0])   donde auth[0] = Hoja[1]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Raíz'   = Hash(Nodo[1,0] ‖ auth[1])   donde auth[1] = Nodo[1,1]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74320" y="3941064"/>
            <a:ext cx="8412480" cy="822960"/>
          </a:xfrm>
          <a:prstGeom prst="rect">
            <a:avLst/>
          </a:prstGeom>
          <a:solidFill>
            <a:srgbClr val="0A1A0A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4142232"/>
            <a:ext cx="384048" cy="384048"/>
          </a:xfrm>
          <a:prstGeom prst="ellipse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41248" y="3977640"/>
            <a:ext cx="7754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</a:rPr>
              <a:t>Comparar raíces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41248" y="4270248"/>
            <a:ext cx="7754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Si Raíz' == Raíz (clave pública)  →  ✅ FIRMA VÁLIDA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Si Raíz' ≠  Raíz                  →  ❌ FIRMA INVÁLIDA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4773168"/>
            <a:ext cx="8412480" cy="292608"/>
          </a:xfrm>
          <a:prstGeom prst="rect">
            <a:avLst/>
          </a:prstGeom>
          <a:solidFill>
            <a:srgbClr val="0A1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4773168"/>
            <a:ext cx="8412480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🔑 Clave: el verificador NUNCA necesita ver sk₀. Solo usa pk₀ (recalculada), los hashes del auth_path y la Raíz pública. Seguro y verificable.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80E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vs XMSS — Comparación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412480" cy="402336"/>
          </a:xfrm>
          <a:prstGeom prst="rect">
            <a:avLst/>
          </a:prstGeom>
          <a:solidFill>
            <a:srgbClr val="2563EB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41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Característica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91840" y="841248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ECDSA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0" y="841248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XMSS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261872"/>
            <a:ext cx="8412480" cy="402336"/>
          </a:xfrm>
          <a:prstGeom prst="rect">
            <a:avLst/>
          </a:prstGeom>
          <a:solidFill>
            <a:srgbClr val="0F1E3D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261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Base matemática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291840" y="126187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Curvas elípticas (DLP)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0" y="126187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</a:rPr>
              <a:t>Funciones de hash (SHA-256)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1682496"/>
            <a:ext cx="8412480" cy="402336"/>
          </a:xfrm>
          <a:prstGeom prst="rect">
            <a:avLst/>
          </a:prstGeom>
          <a:solidFill>
            <a:srgbClr val="080E1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1682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Resistente a cuántica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291840" y="168249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❌ NO (Algoritmo de Shor)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0" y="168249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</a:rPr>
              <a:t>✅ SÍ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103120"/>
            <a:ext cx="8412480" cy="402336"/>
          </a:xfrm>
          <a:prstGeom prst="rect">
            <a:avLst/>
          </a:prstGeom>
          <a:solidFill>
            <a:srgbClr val="0F1E3D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103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Stateful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91840" y="210312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No (sin límite de firmas)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43600" y="210312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</a:rPr>
              <a:t>Sí (hay que llevar índice)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2523744"/>
            <a:ext cx="8412480" cy="402336"/>
          </a:xfrm>
          <a:prstGeom prst="rect">
            <a:avLst/>
          </a:prstGeom>
          <a:solidFill>
            <a:srgbClr val="080E1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2523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Tamaño de firma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291840" y="25237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~64 bytes (muy compacto)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943600" y="25237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</a:rPr>
              <a:t>~2-3 KB (mucho mayor)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2944368"/>
            <a:ext cx="8412480" cy="402336"/>
          </a:xfrm>
          <a:prstGeom prst="rect">
            <a:avLst/>
          </a:prstGeom>
          <a:solidFill>
            <a:srgbClr val="0F1E3D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294436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Tamaño clave pública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291840" y="2944368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33-65 bytes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43600" y="2944368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</a:rPr>
              <a:t>~64 bytes (solo la raíz)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3364992"/>
            <a:ext cx="8412480" cy="402336"/>
          </a:xfrm>
          <a:prstGeom prst="rect">
            <a:avLst/>
          </a:prstGeom>
          <a:solidFill>
            <a:srgbClr val="080E1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36499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Velocidad de firma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3291840" y="336499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Muy rápida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943600" y="336499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</a:rPr>
              <a:t>Lenta (construye árbol)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74320" y="3785616"/>
            <a:ext cx="8412480" cy="402336"/>
          </a:xfrm>
          <a:prstGeom prst="rect">
            <a:avLst/>
          </a:prstGeom>
          <a:solidFill>
            <a:srgbClr val="0F1E3D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78561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Velocidad verificación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329184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Rápida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94360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</a:rPr>
              <a:t>Rápida (solo auth_path)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74320" y="4206240"/>
            <a:ext cx="8412480" cy="402336"/>
          </a:xfrm>
          <a:prstGeom prst="rect">
            <a:avLst/>
          </a:prstGeom>
          <a:solidFill>
            <a:srgbClr val="080E1A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20624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Estándar NIST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3291840" y="420624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Sí (FIPS 186)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943600" y="420624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</a:rPr>
              <a:t>Sí (SP 800-208, 2022)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74320" y="4626864"/>
            <a:ext cx="8412480" cy="402336"/>
          </a:xfrm>
          <a:prstGeom prst="rect">
            <a:avLst/>
          </a:prstGeom>
          <a:solidFill>
            <a:srgbClr val="0F1E3D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62686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FDBFE"/>
                </a:solidFill>
              </a:rPr>
              <a:t>Uso ideal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3291840" y="462686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Internet en general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943600" y="462686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DE68A"/>
                </a:solidFill>
              </a:rPr>
              <a:t>Firmware, PKI, bajo volumen</a:t>
            </a:r>
            <a:endParaRPr lang="en-US" sz="1100" dirty="0"/>
          </a:p>
        </p:txBody>
      </p:sp>
      <p:sp>
        <p:nvSpPr>
          <p:cNvPr id="99" name="RefBox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solidFill>
            <a:srgbClr val="10B981">
              <a:alpha val="12000"/>
            </a:srgbClr>
          </a:solidFill>
          <a:ln w="1270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100" name="RefText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0B981"/>
                </a:solidFill>
              </a:rPr>
              <a:t>➡  Ver slide 23: Resultados concretos — firma individual ~2,22 KiB, agregable vía pqSNARK a 2-3 MB para miles de firmantes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D4E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56032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 Ethereum y la resistencia cuántica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DBFE"/>
                </a:solidFill>
              </a:rPr>
              <a:t>Vitalik Buterin presentó en DevConnect Buenos Aires (nov. 2024) el framework 'Lean Ethereum' — un rediseño de la capa base de Ethereum enfocado en simplicidad y seguridad post-cuántica.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1691640"/>
            <a:ext cx="4114800" cy="1325880"/>
          </a:xfrm>
          <a:prstGeom prst="rect">
            <a:avLst/>
          </a:prstGeom>
          <a:solidFill>
            <a:srgbClr val="0F1E3D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691640"/>
            <a:ext cx="594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87552" y="17647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9E0B"/>
                </a:solidFill>
              </a:rPr>
              <a:t>Reemplazar BLS por firmas basadas en hash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87552" y="2148840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Las firmas BLS actuales usan curvas elípticas (vulnerables a cuántica). Vitalik propone variantes Winternitz — la misma familia que XMSS.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00600" y="1691640"/>
            <a:ext cx="4114800" cy="1325880"/>
          </a:xfrm>
          <a:prstGeom prst="rect">
            <a:avLst/>
          </a:prstGeom>
          <a:solidFill>
            <a:srgbClr val="0F1E3D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00600" y="1691640"/>
            <a:ext cx="594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422392" y="176479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82F6"/>
                </a:solidFill>
              </a:rPr>
              <a:t>STARKs para agregación de firmas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22392" y="2148840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Para compensar el tamaño mayor de las firmas hash, se usarán STARKs (pruebas de conocimiento cero) para agregar miles de firmas eficientemente. Los STARKs también son resistentes a cuántica.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154680"/>
            <a:ext cx="4114800" cy="1325880"/>
          </a:xfrm>
          <a:prstGeom prst="rect">
            <a:avLst/>
          </a:prstGeom>
          <a:solidFill>
            <a:srgbClr val="0F1E3D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5760" y="3154680"/>
            <a:ext cx="594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⛓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87552" y="322783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B981"/>
                </a:solidFill>
              </a:rPr>
              <a:t>Beam Chain — rediseño del consenso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87552" y="3611880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El Beam Chain reduce el tiempo de finalización a 12 segundos y simplifica la estructura para que la transición a primitivas post-cuánticas sea viable sin sacrificar performance.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00600" y="3154680"/>
            <a:ext cx="4114800" cy="1325880"/>
          </a:xfrm>
          <a:prstGeom prst="rect">
            <a:avLst/>
          </a:prstGeom>
          <a:solidFill>
            <a:srgbClr val="0F1E3D"/>
          </a:solidFill>
          <a:ln w="1905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800600" y="3154680"/>
            <a:ext cx="594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🔗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422392" y="3227832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8BFA"/>
                </a:solidFill>
              </a:rPr>
              <a:t>Conexión directa con XMSS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22392" y="3611880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BFE"/>
                </a:solidFill>
              </a:rPr>
              <a:t>XMSS y sus variantes Winternitz son parte de la familia de esquemas que el NIST estandarizó (SP 800-208). Ethereum no usará XMSS textualmente pero sí la misma base matemática.</a:t>
            </a:r>
            <a:endParaRPr lang="en-US" sz="1100" dirty="0"/>
          </a:p>
        </p:txBody>
      </p:sp>
      <p:sp>
        <p:nvSpPr>
          <p:cNvPr id="99" name="RefBox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solidFill>
            <a:srgbClr val="3B82F6">
              <a:alpha val="12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100" name="RefText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82F6"/>
                </a:solidFill>
              </a:rPr>
              <a:t>➡  Ver slides 19-23: Detalle del paper “Hash-Based Multi-Signatures for Post-Quantum Ethereum” (Drake et al., 2025)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59436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118872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1752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178308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2336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237744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297180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356616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416052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475488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52560" y="0"/>
            <a:ext cx="0" cy="514350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5349240"/>
            <a:ext cx="9144000" cy="0"/>
          </a:xfrm>
          <a:prstGeom prst="line">
            <a:avLst/>
          </a:prstGeom>
          <a:noFill/>
          <a:ln w="6350">
            <a:solidFill>
              <a:srgbClr val="1E3A5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0" y="274320"/>
            <a:ext cx="5486400" cy="4572000"/>
          </a:xfrm>
          <a:prstGeom prst="ellipse">
            <a:avLst/>
          </a:prstGeom>
          <a:solidFill>
            <a:srgbClr val="2563EB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64748B"/>
                </a:solidFill>
              </a:rPr>
              <a:t>Conclusiones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960120"/>
            <a:ext cx="3931920" cy="1600200"/>
          </a:xfrm>
          <a:prstGeom prst="rect">
            <a:avLst/>
          </a:prstGeom>
          <a:solidFill>
            <a:srgbClr val="0F1E3D">
              <a:alpha val="80000"/>
            </a:srgbClr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960120"/>
            <a:ext cx="3931920" cy="411480"/>
          </a:xfrm>
          <a:prstGeom prst="rect">
            <a:avLst/>
          </a:prstGeom>
          <a:solidFill>
            <a:srgbClr val="F59E0B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960120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</a:rPr>
              <a:t>XMSS se basa en hash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94360" y="1417320"/>
            <a:ext cx="36576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La única suposición de seguridad es la resistencia de SHA-256 — mucho más sólida que el problema del logaritmo discreto.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709160" y="960120"/>
            <a:ext cx="3931920" cy="1600200"/>
          </a:xfrm>
          <a:prstGeom prst="rect">
            <a:avLst/>
          </a:prstGeom>
          <a:solidFill>
            <a:srgbClr val="0F1E3D">
              <a:alpha val="80000"/>
            </a:srgbClr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09160" y="960120"/>
            <a:ext cx="3931920" cy="411480"/>
          </a:xfrm>
          <a:prstGeom prst="rect">
            <a:avLst/>
          </a:prstGeom>
          <a:solidFill>
            <a:srgbClr val="10B981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18888" y="960120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</a:rPr>
              <a:t>El árbol de Merkle es el corazón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4846320" y="1417320"/>
            <a:ext cx="36576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Permite usar miles de claves OTS de un solo uso bajo una única clave pública de solo 64 bytes.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2743200"/>
            <a:ext cx="3931920" cy="1600200"/>
          </a:xfrm>
          <a:prstGeom prst="rect">
            <a:avLst/>
          </a:prstGeom>
          <a:solidFill>
            <a:srgbClr val="0F1E3D">
              <a:alpha val="80000"/>
            </a:srgbClr>
          </a:solidFill>
          <a:ln w="19050">
            <a:solidFill>
              <a:srgbClr val="EF444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57200" y="2743200"/>
            <a:ext cx="3931920" cy="411480"/>
          </a:xfrm>
          <a:prstGeom prst="rect">
            <a:avLst/>
          </a:prstGeom>
          <a:solidFill>
            <a:srgbClr val="EF4444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2743200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</a:rPr>
              <a:t>El estado es crítico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594360" y="3200400"/>
            <a:ext cx="36576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La gestión del índice es la responsabilidad operativa central. Una falla aquí puede comprometer toda la seguridad.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709160" y="2743200"/>
            <a:ext cx="3931920" cy="1600200"/>
          </a:xfrm>
          <a:prstGeom prst="rect">
            <a:avLst/>
          </a:prstGeom>
          <a:solidFill>
            <a:srgbClr val="0F1E3D">
              <a:alpha val="80000"/>
            </a:srgbClr>
          </a:solidFill>
          <a:ln w="1905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709160" y="2743200"/>
            <a:ext cx="3931920" cy="411480"/>
          </a:xfrm>
          <a:prstGeom prst="rect">
            <a:avLst/>
          </a:prstGeom>
          <a:solidFill>
            <a:srgbClr val="A78BFA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18888" y="2743200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8FAFC"/>
                </a:solidFill>
              </a:rPr>
              <a:t>El futuro es post-cuántico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4846320" y="3200400"/>
            <a:ext cx="36576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BFE"/>
                </a:solidFill>
              </a:rPr>
              <a:t>El NIST lo estandarizó en 2022. Lean Ethereum lo está adoptando. Quien diseña sistemas hoy debe considerarlo.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itle"/>
          <p:cNvSpPr/>
          <p:nvPr/>
        </p:nvSpPr>
        <p:spPr>
          <a:xfrm>
            <a:off x="274320" y="13716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200" b="1" dirty="0">
                <a:solidFill>
                  <a:srgbClr val="F8FAFC"/>
                </a:solidFill>
                <a:latin typeface="Arial" pitchFamily="34" charset="0"/>
              </a:rPr>
              <a:t>Ejemplo: Winternitz OTS con 4 bits</a:t>
            </a:r>
          </a:p>
        </p:txBody>
      </p:sp>
      <p:sp>
        <p:nvSpPr>
          <p:cNvPr id="4" name="Subtitle"/>
          <p:cNvSpPr/>
          <p:nvPr/>
        </p:nvSpPr>
        <p:spPr>
          <a:xfrm>
            <a:off x="274320" y="500000"/>
            <a:ext cx="841248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dirty="0">
                <a:solidFill>
                  <a:srgbClr val="64748B"/>
                </a:solidFill>
              </a:rPr>
              <a:t>Paso 1 — Clave privada, cadenas de hash y clave pública</a:t>
            </a:r>
          </a:p>
        </p:txBody>
      </p:sp>
      <p:sp>
        <p:nvSpPr>
          <p:cNvPr id="5" name="Line"/>
          <p:cNvSpPr/>
          <p:nvPr/>
        </p:nvSpPr>
        <p:spPr>
          <a:xfrm>
            <a:off x="274320" y="780000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10" name="Card1BG"/>
          <p:cNvSpPr/>
          <p:nvPr/>
        </p:nvSpPr>
        <p:spPr>
          <a:xfrm>
            <a:off x="274320" y="870000"/>
            <a:ext cx="8412480" cy="680000"/>
          </a:xfrm>
          <a:prstGeom prst="rect">
            <a:avLst/>
          </a:prstGeom>
          <a:solidFill>
            <a:srgbClr val="080E1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1" name="Card1Title"/>
          <p:cNvSpPr/>
          <p:nvPr/>
        </p:nvSpPr>
        <p:spPr>
          <a:xfrm>
            <a:off x="380000" y="900000"/>
            <a:ext cx="82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b="1" dirty="0">
                <a:solidFill>
                  <a:srgbClr val="F59E0B"/>
                </a:solidFill>
              </a:rPr>
              <a:t>Clave privada (4 valores aleatorios)</a:t>
            </a:r>
          </a:p>
        </p:txBody>
      </p:sp>
      <p:sp>
        <p:nvSpPr>
          <p:cNvPr id="12" name="Card1Body"/>
          <p:cNvSpPr/>
          <p:nvPr/>
        </p:nvSpPr>
        <p:spPr>
          <a:xfrm>
            <a:off x="380000" y="1180000"/>
            <a:ext cx="82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dirty="0">
                <a:solidFill>
                  <a:srgbClr val="BFDBFE"/>
                </a:solidFill>
                <a:latin typeface="Consolas"/>
              </a:rPr>
              <a:t>sk₀ = [ s₁ , s₂ , s₃ , s₄ ]</a:t>
            </a:r>
          </a:p>
        </p:txBody>
      </p:sp>
      <p:sp>
        <p:nvSpPr>
          <p:cNvPr id="20" name="Card2BG"/>
          <p:cNvSpPr/>
          <p:nvPr/>
        </p:nvSpPr>
        <p:spPr>
          <a:xfrm>
            <a:off x="274320" y="1680000"/>
            <a:ext cx="8412480" cy="1550000"/>
          </a:xfrm>
          <a:prstGeom prst="rect">
            <a:avLst/>
          </a:prstGeom>
          <a:solidFill>
            <a:srgbClr val="080E1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1" name="Card2Title"/>
          <p:cNvSpPr/>
          <p:nvPr/>
        </p:nvSpPr>
        <p:spPr>
          <a:xfrm>
            <a:off x="380000" y="1720000"/>
            <a:ext cx="82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b="1" dirty="0">
                <a:solidFill>
                  <a:srgbClr val="3B82F6"/>
                </a:solidFill>
              </a:rPr>
              <a:t>Cadena de hash (w=2, un paso por valor)</a:t>
            </a:r>
          </a:p>
        </p:txBody>
      </p:sp>
      <p:sp>
        <p:nvSpPr>
          <p:cNvPr id="22" name="Card2Body"/>
          <p:cNvSpPr/>
          <p:nvPr/>
        </p:nvSpPr>
        <p:spPr>
          <a:xfrm>
            <a:off x="380000" y="2020000"/>
            <a:ext cx="8200000" cy="11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  <a:lnSpc>
                <a:spcPts val="2400"/>
              </a:lnSpc>
            </a:pPr>
            <a:r>
              <a:rPr lang="es-ES" sz="1200" dirty="0">
                <a:solidFill>
                  <a:srgbClr val="FDE68A"/>
                </a:solidFill>
                <a:latin typeface="Consolas"/>
              </a:rPr>
              <a:t>s₁</a:t>
            </a: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  →  Hash(s₁)  =  </a:t>
            </a:r>
            <a:r>
              <a:rPr lang="es-ES" sz="1200" dirty="0">
                <a:solidFill>
                  <a:srgbClr val="10B981"/>
                </a:solidFill>
                <a:latin typeface="Consolas"/>
              </a:rPr>
              <a:t>p₁</a:t>
            </a:r>
          </a:p>
          <a:p>
            <a:pPr indent="0" marL="0">
              <a:buNone/>
              <a:lnSpc>
                <a:spcPts val="2400"/>
              </a:lnSpc>
            </a:pPr>
            <a:r>
              <a:rPr lang="es-ES" sz="1200" dirty="0">
                <a:solidFill>
                  <a:srgbClr val="FDE68A"/>
                </a:solidFill>
                <a:latin typeface="Consolas"/>
              </a:rPr>
              <a:t>s₂</a:t>
            </a: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  →  Hash(s₂)  =  </a:t>
            </a:r>
            <a:r>
              <a:rPr lang="es-ES" sz="1200" dirty="0">
                <a:solidFill>
                  <a:srgbClr val="10B981"/>
                </a:solidFill>
                <a:latin typeface="Consolas"/>
              </a:rPr>
              <a:t>p₂</a:t>
            </a:r>
          </a:p>
          <a:p>
            <a:pPr indent="0" marL="0">
              <a:buNone/>
              <a:lnSpc>
                <a:spcPts val="2400"/>
              </a:lnSpc>
            </a:pPr>
            <a:r>
              <a:rPr lang="es-ES" sz="1200" dirty="0">
                <a:solidFill>
                  <a:srgbClr val="FDE68A"/>
                </a:solidFill>
                <a:latin typeface="Consolas"/>
              </a:rPr>
              <a:t>s₃</a:t>
            </a: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  →  Hash(s₃)  =  </a:t>
            </a:r>
            <a:r>
              <a:rPr lang="es-ES" sz="1200" dirty="0">
                <a:solidFill>
                  <a:srgbClr val="10B981"/>
                </a:solidFill>
                <a:latin typeface="Consolas"/>
              </a:rPr>
              <a:t>p₃</a:t>
            </a:r>
          </a:p>
          <a:p>
            <a:pPr indent="0" marL="0">
              <a:buNone/>
              <a:lnSpc>
                <a:spcPts val="2400"/>
              </a:lnSpc>
            </a:pPr>
            <a:r>
              <a:rPr lang="es-ES" sz="1200" dirty="0">
                <a:solidFill>
                  <a:srgbClr val="FDE68A"/>
                </a:solidFill>
                <a:latin typeface="Consolas"/>
              </a:rPr>
              <a:t>s₄</a:t>
            </a: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  →  Hash(s₄)  =  </a:t>
            </a:r>
            <a:r>
              <a:rPr lang="es-ES" sz="1200" dirty="0">
                <a:solidFill>
                  <a:srgbClr val="10B981"/>
                </a:solidFill>
                <a:latin typeface="Consolas"/>
              </a:rPr>
              <a:t>p₄</a:t>
            </a:r>
          </a:p>
        </p:txBody>
      </p:sp>
      <p:sp>
        <p:nvSpPr>
          <p:cNvPr id="30" name="Card3BG"/>
          <p:cNvSpPr/>
          <p:nvPr/>
        </p:nvSpPr>
        <p:spPr>
          <a:xfrm>
            <a:off x="274320" y="3360000"/>
            <a:ext cx="8412480" cy="680000"/>
          </a:xfrm>
          <a:prstGeom prst="rect">
            <a:avLst/>
          </a:prstGeom>
          <a:solidFill>
            <a:srgbClr val="080E1A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31" name="Card3Title"/>
          <p:cNvSpPr/>
          <p:nvPr/>
        </p:nvSpPr>
        <p:spPr>
          <a:xfrm>
            <a:off x="380000" y="3390000"/>
            <a:ext cx="82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b="1" dirty="0">
                <a:solidFill>
                  <a:srgbClr val="10B981"/>
                </a:solidFill>
              </a:rPr>
              <a:t>Clave pública de esta OTS</a:t>
            </a:r>
          </a:p>
        </p:txBody>
      </p:sp>
      <p:sp>
        <p:nvSpPr>
          <p:cNvPr id="32" name="Card3Body"/>
          <p:cNvSpPr/>
          <p:nvPr/>
        </p:nvSpPr>
        <p:spPr>
          <a:xfrm>
            <a:off x="380000" y="3670000"/>
            <a:ext cx="82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dirty="0">
                <a:solidFill>
                  <a:srgbClr val="BFDBFE"/>
                </a:solidFill>
                <a:latin typeface="Consolas"/>
              </a:rPr>
              <a:t>pk₀ = [ p₁ , p₂ , p₃ , p₄ ]</a:t>
            </a:r>
          </a:p>
        </p:txBody>
      </p:sp>
      <p:sp>
        <p:nvSpPr>
          <p:cNvPr id="40" name="Footer"/>
          <p:cNvSpPr/>
          <p:nvPr/>
        </p:nvSpPr>
        <p:spPr>
          <a:xfrm>
            <a:off x="274320" y="4200000"/>
            <a:ext cx="841248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050" dirty="0">
                <a:solidFill>
                  <a:srgbClr val="64748B"/>
                </a:solidFill>
              </a:rPr>
              <a:t>Cada OTS tiene su propia sk y pk. La pk se hashea para formar una hoja del árbol de Merkle.</a:t>
            </a:r>
          </a:p>
        </p:txBody>
      </p:sp>
      <p:sp>
        <p:nvSpPr>
          <p:cNvPr id="90" name="BadgeBG"/>
          <p:cNvSpPr/>
          <p:nvPr/>
        </p:nvSpPr>
        <p:spPr>
          <a:xfrm>
            <a:off x="7300000" y="100000"/>
            <a:ext cx="380000" cy="380000"/>
          </a:xfrm>
          <a:prstGeom prst="rect">
            <a:avLst/>
          </a:prstGeom>
          <a:solidFill>
            <a:srgbClr val="3B82F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1" name="BadgeLetter"/>
          <p:cNvSpPr/>
          <p:nvPr/>
        </p:nvSpPr>
        <p:spPr>
          <a:xfrm>
            <a:off x="7300000" y="100000"/>
            <a:ext cx="38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92" name="BadgeLabel"/>
          <p:cNvSpPr/>
          <p:nvPr/>
        </p:nvSpPr>
        <p:spPr>
          <a:xfrm>
            <a:off x="7720000" y="100000"/>
            <a:ext cx="130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100" b="1" dirty="0">
                <a:solidFill>
                  <a:srgbClr val="3B82F6"/>
                </a:solidFill>
              </a:rPr>
              <a:t>Firma OTS</a:t>
            </a:r>
          </a:p>
          <a:p>
            <a:pPr indent="0" marL="0">
              <a:buNone/>
            </a:pPr>
            <a:r>
              <a:rPr lang="es-ES" sz="800" dirty="0">
                <a:solidFill>
                  <a:srgbClr val="64748B"/>
                </a:solidFill>
              </a:rPr>
              <a:t>Detalle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itle"/>
          <p:cNvSpPr/>
          <p:nvPr/>
        </p:nvSpPr>
        <p:spPr>
          <a:xfrm>
            <a:off x="274320" y="137160"/>
            <a:ext cx="841248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200" b="1" dirty="0">
                <a:solidFill>
                  <a:srgbClr val="F8FAFC"/>
                </a:solidFill>
                <a:latin typeface="Arial" pitchFamily="34" charset="0"/>
              </a:rPr>
              <a:t>Ejemplo: Winternitz OTS con 4 bits</a:t>
            </a:r>
          </a:p>
        </p:txBody>
      </p:sp>
      <p:sp>
        <p:nvSpPr>
          <p:cNvPr id="4" name="Sub"/>
          <p:cNvSpPr/>
          <p:nvPr/>
        </p:nvSpPr>
        <p:spPr>
          <a:xfrm>
            <a:off x="274320" y="460000"/>
            <a:ext cx="841248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dirty="0">
                <a:solidFill>
                  <a:srgbClr val="64748B"/>
                </a:solidFill>
              </a:rPr>
              <a:t>Paso 2 — Firmar: qué se revela según cada bit del mensaje</a:t>
            </a:r>
          </a:p>
        </p:txBody>
      </p:sp>
      <p:sp>
        <p:nvSpPr>
          <p:cNvPr id="5" name="Line"/>
          <p:cNvSpPr/>
          <p:nvPr/>
        </p:nvSpPr>
        <p:spPr>
          <a:xfrm>
            <a:off x="274320" y="720000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10" name="MsgBG"/>
          <p:cNvSpPr/>
          <p:nvPr/>
        </p:nvSpPr>
        <p:spPr>
          <a:xfrm>
            <a:off x="274320" y="800000"/>
            <a:ext cx="8412480" cy="350000"/>
          </a:xfrm>
          <a:prstGeom prst="rect">
            <a:avLst/>
          </a:prstGeom>
          <a:solidFill>
            <a:srgbClr val="0A0F1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MsgTxt"/>
          <p:cNvSpPr/>
          <p:nvPr/>
        </p:nvSpPr>
        <p:spPr>
          <a:xfrm>
            <a:off x="274320" y="800000"/>
            <a:ext cx="8412480" cy="350000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algn="ctr" indent="0" marL="0">
              <a:buNone/>
            </a:pPr>
            <a:r>
              <a:rPr lang="es-ES" sz="1200" dirty="0">
                <a:solidFill>
                  <a:srgbClr val="FDE68A"/>
                </a:solidFill>
                <a:latin typeface="Consolas"/>
              </a:rPr>
              <a:t>Hash del mensaje   m = 1  0  1  1    (4 bits)</a:t>
            </a:r>
          </a:p>
        </p:txBody>
      </p:sp>
      <p:sp>
        <p:nvSpPr>
          <p:cNvPr id="20" name="RuleBG"/>
          <p:cNvSpPr/>
          <p:nvPr/>
        </p:nvSpPr>
        <p:spPr>
          <a:xfrm>
            <a:off x="274320" y="1250000"/>
            <a:ext cx="4000000" cy="700000"/>
          </a:xfrm>
          <a:prstGeom prst="rect">
            <a:avLst/>
          </a:prstGeom>
          <a:solidFill>
            <a:srgbClr val="080E1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1" name="RuleTitle"/>
          <p:cNvSpPr/>
          <p:nvPr/>
        </p:nvSpPr>
        <p:spPr>
          <a:xfrm>
            <a:off x="380000" y="1280000"/>
            <a:ext cx="380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dirty="0">
                <a:solidFill>
                  <a:srgbClr val="3B82F6"/>
                </a:solidFill>
              </a:rPr>
              <a:t>Regla de firma</a:t>
            </a:r>
          </a:p>
        </p:txBody>
      </p:sp>
      <p:sp>
        <p:nvSpPr>
          <p:cNvPr id="22" name="RuleBody"/>
          <p:cNvSpPr/>
          <p:nvPr/>
        </p:nvSpPr>
        <p:spPr>
          <a:xfrm>
            <a:off x="380000" y="1520000"/>
            <a:ext cx="38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  <a:lnSpc>
                <a:spcPts val="2000"/>
              </a:lnSpc>
            </a:pPr>
            <a:r>
              <a:rPr lang="es-ES" sz="1050" dirty="0">
                <a:solidFill>
                  <a:srgbClr val="BFDBFE"/>
                </a:solidFill>
              </a:rPr>
              <a:t xml:space="preserve">Bit = 0  →  revelar secreto (0 pasos): </a:t>
            </a:r>
            <a:r>
              <a:rPr lang="es-ES" sz="1050" b="1" dirty="0">
                <a:solidFill>
                  <a:srgbClr val="FDE68A"/>
                </a:solidFill>
                <a:latin typeface="Consolas"/>
              </a:rPr>
              <a:t>s</a:t>
            </a:r>
          </a:p>
          <a:p>
            <a:pPr indent="0" marL="0">
              <a:buNone/>
              <a:lnSpc>
                <a:spcPts val="2000"/>
              </a:lnSpc>
            </a:pPr>
            <a:r>
              <a:rPr lang="es-ES" sz="1050" dirty="0">
                <a:solidFill>
                  <a:srgbClr val="BFDBFE"/>
                </a:solidFill>
              </a:rPr>
              <a:t xml:space="preserve">Bit = 1  →  revelar hash (1 paso): </a:t>
            </a:r>
            <a:r>
              <a:rPr lang="es-ES" sz="1050" b="1" dirty="0">
                <a:solidFill>
                  <a:srgbClr val="10B981"/>
                </a:solidFill>
                <a:latin typeface="Consolas"/>
              </a:rPr>
              <a:t>Hash(s)</a:t>
            </a:r>
          </a:p>
        </p:txBody>
      </p:sp>
      <p:sp>
        <p:nvSpPr>
          <p:cNvPr id="30" name="SignBG"/>
          <p:cNvSpPr/>
          <p:nvPr/>
        </p:nvSpPr>
        <p:spPr>
          <a:xfrm>
            <a:off x="4480000" y="1250000"/>
            <a:ext cx="4206720" cy="700000"/>
          </a:xfrm>
          <a:prstGeom prst="rect">
            <a:avLst/>
          </a:prstGeom>
          <a:solidFill>
            <a:srgbClr val="080E1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1" name="SignTitle"/>
          <p:cNvSpPr/>
          <p:nvPr/>
        </p:nvSpPr>
        <p:spPr>
          <a:xfrm>
            <a:off x="4580000" y="1280000"/>
            <a:ext cx="400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b="1" dirty="0">
                <a:solidFill>
                  <a:srgbClr val="F59E0B"/>
                </a:solidFill>
              </a:rPr>
              <a:t>Aplicando al mensaje  1 0 1 1</a:t>
            </a:r>
          </a:p>
        </p:txBody>
      </p:sp>
      <p:sp>
        <p:nvSpPr>
          <p:cNvPr id="32" name="SignBody"/>
          <p:cNvSpPr/>
          <p:nvPr/>
        </p:nvSpPr>
        <p:spPr>
          <a:xfrm>
            <a:off x="4580000" y="1520000"/>
            <a:ext cx="40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  <a:lnSpc>
                <a:spcPts val="1800"/>
              </a:lnSpc>
            </a:pPr>
            <a:r>
              <a:rPr lang="es-ES" sz="1000" dirty="0">
                <a:solidFill>
                  <a:srgbClr val="BFDBFE"/>
                </a:solidFill>
                <a:latin typeface="Consolas"/>
              </a:rPr>
              <a:t xml:space="preserve">Bit1=1 → Hash(s₁) = </a:t>
            </a:r>
            <a:r>
              <a:rPr lang="es-ES" sz="1000" b="1" dirty="0">
                <a:solidFill>
                  <a:srgbClr val="10B981"/>
                </a:solidFill>
                <a:latin typeface="Consolas"/>
              </a:rPr>
              <a:t>p₁</a:t>
            </a:r>
          </a:p>
          <a:p>
            <a:pPr indent="0" marL="0">
              <a:buNone/>
              <a:lnSpc>
                <a:spcPts val="1800"/>
              </a:lnSpc>
            </a:pPr>
            <a:r>
              <a:rPr lang="es-ES" sz="1000" dirty="0">
                <a:solidFill>
                  <a:srgbClr val="BFDBFE"/>
                </a:solidFill>
                <a:latin typeface="Consolas"/>
              </a:rPr>
              <a:t xml:space="preserve">Bit2=0 → </a:t>
            </a:r>
            <a:r>
              <a:rPr lang="es-ES" sz="1000" b="1" dirty="0">
                <a:solidFill>
                  <a:srgbClr val="FDE68A"/>
                </a:solidFill>
                <a:latin typeface="Consolas"/>
              </a:rPr>
              <a:t>s₂</a:t>
            </a:r>
          </a:p>
          <a:p>
            <a:pPr indent="0" marL="0">
              <a:buNone/>
              <a:lnSpc>
                <a:spcPts val="1800"/>
              </a:lnSpc>
            </a:pPr>
            <a:r>
              <a:rPr lang="es-ES" sz="1000" dirty="0">
                <a:solidFill>
                  <a:srgbClr val="BFDBFE"/>
                </a:solidFill>
                <a:latin typeface="Consolas"/>
              </a:rPr>
              <a:t xml:space="preserve">Bit3=1 → Hash(s₃) = </a:t>
            </a:r>
            <a:r>
              <a:rPr lang="es-ES" sz="1000" b="1" dirty="0">
                <a:solidFill>
                  <a:srgbClr val="10B981"/>
                </a:solidFill>
                <a:latin typeface="Consolas"/>
              </a:rPr>
              <a:t>p₃</a:t>
            </a:r>
          </a:p>
          <a:p>
            <a:pPr indent="0" marL="0">
              <a:buNone/>
              <a:lnSpc>
                <a:spcPts val="1800"/>
              </a:lnSpc>
            </a:pPr>
            <a:r>
              <a:rPr lang="es-ES" sz="1000" dirty="0">
                <a:solidFill>
                  <a:srgbClr val="BFDBFE"/>
                </a:solidFill>
                <a:latin typeface="Consolas"/>
              </a:rPr>
              <a:t xml:space="preserve">Bit4=1 → Hash(s₄) = </a:t>
            </a:r>
            <a:r>
              <a:rPr lang="es-ES" sz="1000" b="1" dirty="0">
                <a:solidFill>
                  <a:srgbClr val="10B981"/>
                </a:solidFill>
                <a:latin typeface="Consolas"/>
              </a:rPr>
              <a:t>p₄</a:t>
            </a:r>
          </a:p>
        </p:txBody>
      </p:sp>
      <p:sp>
        <p:nvSpPr>
          <p:cNvPr id="40" name="ChainBG"/>
          <p:cNvSpPr/>
          <p:nvPr/>
        </p:nvSpPr>
        <p:spPr>
          <a:xfrm>
            <a:off x="274320" y="2100000"/>
            <a:ext cx="8412480" cy="1900000"/>
          </a:xfrm>
          <a:prstGeom prst="rect">
            <a:avLst/>
          </a:prstGeom>
          <a:solidFill>
            <a:srgbClr val="080E1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1" name="ChainHdr"/>
          <p:cNvSpPr/>
          <p:nvPr/>
        </p:nvSpPr>
        <p:spPr>
          <a:xfrm>
            <a:off x="380000" y="2140000"/>
            <a:ext cx="82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000" b="1" dirty="0">
                <a:solidFill>
                  <a:srgbClr val="F8FAFC"/>
                </a:solidFill>
              </a:rPr>
              <a:t>Secreto                          Hash                           Público            Qué se revela</a:t>
            </a:r>
          </a:p>
        </p:txBody>
      </p:sp>
      <p:sp>
        <p:nvSpPr>
          <p:cNvPr id="42" name="ChainRows"/>
          <p:cNvSpPr/>
          <p:nvPr/>
        </p:nvSpPr>
        <p:spPr>
          <a:xfrm>
            <a:off x="380000" y="2440000"/>
            <a:ext cx="8200000" cy="1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  <a:lnSpc>
                <a:spcPts val="2800"/>
              </a:lnSpc>
            </a:pPr>
            <a:r>
              <a:rPr lang="es-ES" sz="1100" dirty="0">
                <a:solidFill>
                  <a:srgbClr val="FDE68A"/>
                </a:solidFill>
                <a:latin typeface="Consolas"/>
              </a:rPr>
              <a:t>s₁</a:t>
            </a:r>
            <a:r>
              <a:rPr lang="es-ES" sz="1100" dirty="0">
                <a:solidFill>
                  <a:srgbClr val="64748B"/>
                </a:solidFill>
                <a:latin typeface="Consolas"/>
              </a:rPr>
              <a:t xml:space="preserve">  ─── Hash ───►  </a:t>
            </a:r>
            <a:r>
              <a:rPr lang="es-ES" sz="1100" dirty="0">
                <a:solidFill>
                  <a:srgbClr val="10B981"/>
                </a:solidFill>
                <a:latin typeface="Consolas"/>
              </a:rPr>
              <a:t>p₁</a:t>
            </a:r>
            <a:r>
              <a:rPr lang="es-ES" sz="1100" dirty="0">
                <a:solidFill>
                  <a:srgbClr val="64748B"/>
                </a:solidFill>
                <a:latin typeface="Consolas"/>
              </a:rPr>
              <a:t xml:space="preserve">          </a:t>
            </a:r>
            <a:r>
              <a:rPr lang="es-ES" sz="1100" dirty="0">
                <a:solidFill>
                  <a:srgbClr val="BFDBFE"/>
                </a:solidFill>
              </a:rPr>
              <a:t xml:space="preserve">bit=1 → revelo </a:t>
            </a:r>
            <a:r>
              <a:rPr lang="es-ES" sz="1100" b="1" dirty="0">
                <a:solidFill>
                  <a:srgbClr val="10B981"/>
                </a:solidFill>
                <a:latin typeface="Consolas"/>
              </a:rPr>
              <a:t>p₁</a:t>
            </a:r>
          </a:p>
          <a:p>
            <a:pPr indent="0" marL="0">
              <a:buNone/>
              <a:lnSpc>
                <a:spcPts val="2800"/>
              </a:lnSpc>
            </a:pPr>
            <a:r>
              <a:rPr lang="es-ES" sz="1100" dirty="0">
                <a:solidFill>
                  <a:srgbClr val="FDE68A"/>
                </a:solidFill>
                <a:latin typeface="Consolas"/>
              </a:rPr>
              <a:t>s₂</a:t>
            </a:r>
            <a:r>
              <a:rPr lang="es-ES" sz="1100" dirty="0">
                <a:solidFill>
                  <a:srgbClr val="64748B"/>
                </a:solidFill>
                <a:latin typeface="Consolas"/>
              </a:rPr>
              <a:t xml:space="preserve">  ─── Hash ───►  </a:t>
            </a:r>
            <a:r>
              <a:rPr lang="es-ES" sz="1100" dirty="0">
                <a:solidFill>
                  <a:srgbClr val="10B981"/>
                </a:solidFill>
                <a:latin typeface="Consolas"/>
              </a:rPr>
              <a:t>p₂</a:t>
            </a:r>
            <a:r>
              <a:rPr lang="es-ES" sz="1100" dirty="0">
                <a:solidFill>
                  <a:srgbClr val="64748B"/>
                </a:solidFill>
                <a:latin typeface="Consolas"/>
              </a:rPr>
              <a:t xml:space="preserve">          </a:t>
            </a:r>
            <a:r>
              <a:rPr lang="es-ES" sz="1100" dirty="0">
                <a:solidFill>
                  <a:srgbClr val="BFDBFE"/>
                </a:solidFill>
              </a:rPr>
              <a:t xml:space="preserve">bit=0 → revelo </a:t>
            </a:r>
            <a:r>
              <a:rPr lang="es-ES" sz="1100" b="1" dirty="0">
                <a:solidFill>
                  <a:srgbClr val="FDE68A"/>
                </a:solidFill>
                <a:latin typeface="Consolas"/>
              </a:rPr>
              <a:t>s₂</a:t>
            </a:r>
          </a:p>
          <a:p>
            <a:pPr indent="0" marL="0">
              <a:buNone/>
              <a:lnSpc>
                <a:spcPts val="2800"/>
              </a:lnSpc>
            </a:pPr>
            <a:r>
              <a:rPr lang="es-ES" sz="1100" dirty="0">
                <a:solidFill>
                  <a:srgbClr val="FDE68A"/>
                </a:solidFill>
                <a:latin typeface="Consolas"/>
              </a:rPr>
              <a:t>s₃</a:t>
            </a:r>
            <a:r>
              <a:rPr lang="es-ES" sz="1100" dirty="0">
                <a:solidFill>
                  <a:srgbClr val="64748B"/>
                </a:solidFill>
                <a:latin typeface="Consolas"/>
              </a:rPr>
              <a:t xml:space="preserve">  ─── Hash ───►  </a:t>
            </a:r>
            <a:r>
              <a:rPr lang="es-ES" sz="1100" dirty="0">
                <a:solidFill>
                  <a:srgbClr val="10B981"/>
                </a:solidFill>
                <a:latin typeface="Consolas"/>
              </a:rPr>
              <a:t>p₃</a:t>
            </a:r>
            <a:r>
              <a:rPr lang="es-ES" sz="1100" dirty="0">
                <a:solidFill>
                  <a:srgbClr val="64748B"/>
                </a:solidFill>
                <a:latin typeface="Consolas"/>
              </a:rPr>
              <a:t xml:space="preserve">          </a:t>
            </a:r>
            <a:r>
              <a:rPr lang="es-ES" sz="1100" dirty="0">
                <a:solidFill>
                  <a:srgbClr val="BFDBFE"/>
                </a:solidFill>
              </a:rPr>
              <a:t xml:space="preserve">bit=1 → revelo </a:t>
            </a:r>
            <a:r>
              <a:rPr lang="es-ES" sz="1100" b="1" dirty="0">
                <a:solidFill>
                  <a:srgbClr val="10B981"/>
                </a:solidFill>
                <a:latin typeface="Consolas"/>
              </a:rPr>
              <a:t>p₃</a:t>
            </a:r>
          </a:p>
          <a:p>
            <a:pPr indent="0" marL="0">
              <a:buNone/>
              <a:lnSpc>
                <a:spcPts val="2800"/>
              </a:lnSpc>
            </a:pPr>
            <a:r>
              <a:rPr lang="es-ES" sz="1100" dirty="0">
                <a:solidFill>
                  <a:srgbClr val="FDE68A"/>
                </a:solidFill>
                <a:latin typeface="Consolas"/>
              </a:rPr>
              <a:t>s₄</a:t>
            </a:r>
            <a:r>
              <a:rPr lang="es-ES" sz="1100" dirty="0">
                <a:solidFill>
                  <a:srgbClr val="64748B"/>
                </a:solidFill>
                <a:latin typeface="Consolas"/>
              </a:rPr>
              <a:t xml:space="preserve">  ─── Hash ───►  </a:t>
            </a:r>
            <a:r>
              <a:rPr lang="es-ES" sz="1100" dirty="0">
                <a:solidFill>
                  <a:srgbClr val="10B981"/>
                </a:solidFill>
                <a:latin typeface="Consolas"/>
              </a:rPr>
              <a:t>p₄</a:t>
            </a:r>
            <a:r>
              <a:rPr lang="es-ES" sz="1100" dirty="0">
                <a:solidFill>
                  <a:srgbClr val="64748B"/>
                </a:solidFill>
                <a:latin typeface="Consolas"/>
              </a:rPr>
              <a:t xml:space="preserve">          </a:t>
            </a:r>
            <a:r>
              <a:rPr lang="es-ES" sz="1100" dirty="0">
                <a:solidFill>
                  <a:srgbClr val="BFDBFE"/>
                </a:solidFill>
              </a:rPr>
              <a:t xml:space="preserve">bit=1 → revelo </a:t>
            </a:r>
            <a:r>
              <a:rPr lang="es-ES" sz="1100" b="1" dirty="0">
                <a:solidFill>
                  <a:srgbClr val="10B981"/>
                </a:solidFill>
                <a:latin typeface="Consolas"/>
              </a:rPr>
              <a:t>p₄</a:t>
            </a:r>
          </a:p>
        </p:txBody>
      </p:sp>
      <p:sp>
        <p:nvSpPr>
          <p:cNvPr id="50" name="ResBG"/>
          <p:cNvSpPr/>
          <p:nvPr/>
        </p:nvSpPr>
        <p:spPr>
          <a:xfrm>
            <a:off x="274320" y="4150000"/>
            <a:ext cx="8412480" cy="450000"/>
          </a:xfrm>
          <a:prstGeom prst="rect">
            <a:avLst/>
          </a:prstGeom>
          <a:solidFill>
            <a:srgbClr val="080E1A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51" name="ResTxt"/>
          <p:cNvSpPr/>
          <p:nvPr/>
        </p:nvSpPr>
        <p:spPr>
          <a:xfrm>
            <a:off x="274320" y="4150000"/>
            <a:ext cx="8412480" cy="450000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algn="ctr" indent="0" marL="0">
              <a:buNone/>
            </a:pPr>
            <a:r>
              <a:rPr lang="es-ES" sz="1400" b="1" dirty="0">
                <a:solidFill>
                  <a:srgbClr val="10B981"/>
                </a:solidFill>
              </a:rPr>
              <a:t xml:space="preserve">Firma = [ </a:t>
            </a:r>
            <a:r>
              <a:rPr lang="es-ES" sz="1400" b="1" dirty="0">
                <a:solidFill>
                  <a:srgbClr val="10B981"/>
                </a:solidFill>
                <a:latin typeface="Consolas"/>
              </a:rPr>
              <a:t>p₁</a:t>
            </a:r>
            <a:r>
              <a:rPr lang="es-ES" sz="1400" b="1" dirty="0">
                <a:solidFill>
                  <a:srgbClr val="10B981"/>
                </a:solidFill>
              </a:rPr>
              <a:t xml:space="preserve"> , </a:t>
            </a:r>
            <a:r>
              <a:rPr lang="es-ES" sz="1400" b="1" dirty="0">
                <a:solidFill>
                  <a:srgbClr val="FDE68A"/>
                </a:solidFill>
                <a:latin typeface="Consolas"/>
              </a:rPr>
              <a:t>s₂</a:t>
            </a:r>
            <a:r>
              <a:rPr lang="es-ES" sz="1400" b="1" dirty="0">
                <a:solidFill>
                  <a:srgbClr val="10B981"/>
                </a:solidFill>
              </a:rPr>
              <a:t xml:space="preserve"> , </a:t>
            </a:r>
            <a:r>
              <a:rPr lang="es-ES" sz="1400" b="1" dirty="0">
                <a:solidFill>
                  <a:srgbClr val="10B981"/>
                </a:solidFill>
                <a:latin typeface="Consolas"/>
              </a:rPr>
              <a:t>p₃</a:t>
            </a:r>
            <a:r>
              <a:rPr lang="es-ES" sz="1400" b="1" dirty="0">
                <a:solidFill>
                  <a:srgbClr val="10B981"/>
                </a:solidFill>
              </a:rPr>
              <a:t xml:space="preserve"> , </a:t>
            </a:r>
            <a:r>
              <a:rPr lang="es-ES" sz="1400" b="1" dirty="0">
                <a:solidFill>
                  <a:srgbClr val="10B981"/>
                </a:solidFill>
                <a:latin typeface="Consolas"/>
              </a:rPr>
              <a:t>p₄</a:t>
            </a:r>
            <a:r>
              <a:rPr lang="es-ES" sz="1400" b="1" dirty="0">
                <a:solidFill>
                  <a:srgbClr val="10B981"/>
                </a:solidFill>
              </a:rPr>
              <a:t xml:space="preserve"> ]</a:t>
            </a:r>
          </a:p>
        </p:txBody>
      </p:sp>
      <p:sp>
        <p:nvSpPr>
          <p:cNvPr id="60" name="Foot"/>
          <p:cNvSpPr/>
          <p:nvPr/>
        </p:nvSpPr>
        <p:spPr>
          <a:xfrm>
            <a:off x="274320" y="4700000"/>
            <a:ext cx="84124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050" dirty="0">
                <a:solidFill>
                  <a:srgbClr val="64748B"/>
                </a:solidFill>
              </a:rPr>
              <a:t>Notar: s₂ (amarillo) es el secreto puro. Los demás (verde) ya son hashes = valores públicos.</a:t>
            </a:r>
          </a:p>
        </p:txBody>
      </p:sp>
      <p:sp>
        <p:nvSpPr>
          <p:cNvPr id="90" name="BadgeBG"/>
          <p:cNvSpPr/>
          <p:nvPr/>
        </p:nvSpPr>
        <p:spPr>
          <a:xfrm>
            <a:off x="7300000" y="100000"/>
            <a:ext cx="380000" cy="380000"/>
          </a:xfrm>
          <a:prstGeom prst="rect">
            <a:avLst/>
          </a:prstGeom>
          <a:solidFill>
            <a:srgbClr val="3B82F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1" name="BadgeLetter"/>
          <p:cNvSpPr/>
          <p:nvPr/>
        </p:nvSpPr>
        <p:spPr>
          <a:xfrm>
            <a:off x="7300000" y="100000"/>
            <a:ext cx="38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92" name="BadgeLabel"/>
          <p:cNvSpPr/>
          <p:nvPr/>
        </p:nvSpPr>
        <p:spPr>
          <a:xfrm>
            <a:off x="7720000" y="100000"/>
            <a:ext cx="130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100" b="1" dirty="0">
                <a:solidFill>
                  <a:srgbClr val="3B82F6"/>
                </a:solidFill>
              </a:rPr>
              <a:t>Firma OTS</a:t>
            </a:r>
          </a:p>
          <a:p>
            <a:pPr indent="0" marL="0">
              <a:buNone/>
            </a:pPr>
            <a:r>
              <a:rPr lang="es-ES" sz="800" dirty="0">
                <a:solidFill>
                  <a:srgbClr val="64748B"/>
                </a:solidFill>
              </a:rPr>
              <a:t>Detalle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itle"/>
          <p:cNvSpPr/>
          <p:nvPr/>
        </p:nvSpPr>
        <p:spPr>
          <a:xfrm>
            <a:off x="274320" y="137160"/>
            <a:ext cx="841248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200" b="1" dirty="0">
                <a:solidFill>
                  <a:srgbClr val="F8FAFC"/>
                </a:solidFill>
                <a:latin typeface="Arial" pitchFamily="34" charset="0"/>
              </a:rPr>
              <a:t>Ejemplo: Winternitz OTS con 4 bits</a:t>
            </a:r>
          </a:p>
        </p:txBody>
      </p:sp>
      <p:sp>
        <p:nvSpPr>
          <p:cNvPr id="4" name="Sub"/>
          <p:cNvSpPr/>
          <p:nvPr/>
        </p:nvSpPr>
        <p:spPr>
          <a:xfrm>
            <a:off x="274320" y="460000"/>
            <a:ext cx="841248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dirty="0">
                <a:solidFill>
                  <a:srgbClr val="64748B"/>
                </a:solidFill>
              </a:rPr>
              <a:t>Paso 3 — Verificación: el receptor completa las cadenas de hash</a:t>
            </a:r>
          </a:p>
        </p:txBody>
      </p:sp>
      <p:sp>
        <p:nvSpPr>
          <p:cNvPr id="5" name="Line"/>
          <p:cNvSpPr/>
          <p:nvPr/>
        </p:nvSpPr>
        <p:spPr>
          <a:xfrm>
            <a:off x="274320" y="720000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10" name="CtxBG"/>
          <p:cNvSpPr/>
          <p:nvPr/>
        </p:nvSpPr>
        <p:spPr>
          <a:xfrm>
            <a:off x="274320" y="800000"/>
            <a:ext cx="8412480" cy="550000"/>
          </a:xfrm>
          <a:prstGeom prst="rect">
            <a:avLst/>
          </a:prstGeom>
          <a:solidFill>
            <a:srgbClr val="0A0F1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CtxTxt"/>
          <p:cNvSpPr/>
          <p:nvPr/>
        </p:nvSpPr>
        <p:spPr>
          <a:xfrm>
            <a:off x="274320" y="800000"/>
            <a:ext cx="8412480" cy="550000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ctr"/>
          <a:lstStyle/>
          <a:p>
            <a:pPr indent="0" marL="0">
              <a:buNone/>
            </a:pPr>
            <a:r>
              <a:rPr lang="es-ES" sz="1100" dirty="0">
                <a:solidFill>
                  <a:srgbClr val="BFDBFE"/>
                </a:solidFill>
              </a:rPr>
              <a:t xml:space="preserve">El verificador recibe la firma </a:t>
            </a:r>
            <a:r>
              <a:rPr lang="es-ES" sz="1100" b="1" dirty="0">
                <a:solidFill>
                  <a:srgbClr val="10B981"/>
                </a:solidFill>
                <a:latin typeface="Consolas"/>
              </a:rPr>
              <a:t>[ p₁ , s₂ , p₃ , p₄ ]</a:t>
            </a:r>
            <a:r>
              <a:rPr lang="es-ES" sz="1100" dirty="0">
                <a:solidFill>
                  <a:srgbClr val="BFDBFE"/>
                </a:solidFill>
              </a:rPr>
              <a:t xml:space="preserve">  y conoce los bits:  </a:t>
            </a:r>
            <a:r>
              <a:rPr lang="es-ES" sz="1100" b="1" dirty="0">
                <a:solidFill>
                  <a:srgbClr val="FDE68A"/>
                </a:solidFill>
                <a:latin typeface="Consolas"/>
              </a:rPr>
              <a:t>1 0 1 1</a:t>
            </a:r>
          </a:p>
          <a:p>
            <a:pPr indent="0" marL="0">
              <a:buNone/>
            </a:pPr>
            <a:r>
              <a:rPr lang="es-ES" sz="1100" dirty="0">
                <a:solidFill>
                  <a:srgbClr val="64748B"/>
                </a:solidFill>
              </a:rPr>
              <a:t>Para cada valor, aplica los pasos de hash que faltan para llegar a la clave pública:</a:t>
            </a:r>
          </a:p>
        </p:txBody>
      </p:sp>
      <p:sp>
        <p:nvSpPr>
          <p:cNvPr id="20" name="VerBG"/>
          <p:cNvSpPr/>
          <p:nvPr/>
        </p:nvSpPr>
        <p:spPr>
          <a:xfrm>
            <a:off x="274320" y="1480000"/>
            <a:ext cx="8412480" cy="1700000"/>
          </a:xfrm>
          <a:prstGeom prst="rect">
            <a:avLst/>
          </a:prstGeom>
          <a:solidFill>
            <a:srgbClr val="080E1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1" name="VerRows"/>
          <p:cNvSpPr/>
          <p:nvPr/>
        </p:nvSpPr>
        <p:spPr>
          <a:xfrm>
            <a:off x="380000" y="1540000"/>
            <a:ext cx="8200000" cy="15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  <a:lnSpc>
                <a:spcPts val="3200"/>
              </a:lnSpc>
            </a:pPr>
            <a:r>
              <a:rPr lang="es-ES" sz="1200" b="1" dirty="0">
                <a:solidFill>
                  <a:srgbClr val="FDE68A"/>
                </a:solidFill>
              </a:rPr>
              <a:t xml:space="preserve">Bit 1 = 1: </a:t>
            </a:r>
            <a:r>
              <a:rPr lang="es-ES" sz="1200" dirty="0">
                <a:solidFill>
                  <a:srgbClr val="BFDBFE"/>
                </a:solidFill>
              </a:rPr>
              <a:t xml:space="preserve"> recibió </a:t>
            </a:r>
            <a:r>
              <a:rPr lang="es-ES" sz="1200" dirty="0">
                <a:solidFill>
                  <a:srgbClr val="10B981"/>
                </a:solidFill>
                <a:latin typeface="Consolas"/>
              </a:rPr>
              <a:t>p₁</a:t>
            </a:r>
            <a:r>
              <a:rPr lang="es-ES" sz="1200" dirty="0">
                <a:solidFill>
                  <a:srgbClr val="BFDBFE"/>
                </a:solidFill>
              </a:rPr>
              <a:t xml:space="preserve">   → necesita 0 pasos más   → ya es </a:t>
            </a:r>
            <a:r>
              <a:rPr lang="es-ES" sz="1200" b="1" dirty="0">
                <a:solidFill>
                  <a:srgbClr val="10B981"/>
                </a:solidFill>
                <a:latin typeface="Consolas"/>
              </a:rPr>
              <a:t>p₁  ✓</a:t>
            </a:r>
          </a:p>
          <a:p>
            <a:pPr indent="0" marL="0">
              <a:buNone/>
              <a:lnSpc>
                <a:spcPts val="3200"/>
              </a:lnSpc>
            </a:pPr>
            <a:r>
              <a:rPr lang="es-ES" sz="1200" b="1" dirty="0">
                <a:solidFill>
                  <a:srgbClr val="FDE68A"/>
                </a:solidFill>
              </a:rPr>
              <a:t xml:space="preserve">Bit 2 = 0: </a:t>
            </a:r>
            <a:r>
              <a:rPr lang="es-ES" sz="1200" dirty="0">
                <a:solidFill>
                  <a:srgbClr val="BFDBFE"/>
                </a:solidFill>
              </a:rPr>
              <a:t xml:space="preserve"> recibió </a:t>
            </a:r>
            <a:r>
              <a:rPr lang="es-ES" sz="1200" dirty="0">
                <a:solidFill>
                  <a:srgbClr val="FDE68A"/>
                </a:solidFill>
                <a:latin typeface="Consolas"/>
              </a:rPr>
              <a:t>s₂</a:t>
            </a:r>
            <a:r>
              <a:rPr lang="es-ES" sz="1200" dirty="0">
                <a:solidFill>
                  <a:srgbClr val="BFDBFE"/>
                </a:solidFill>
              </a:rPr>
              <a:t xml:space="preserve">   → aplica 1 Hash          → Hash(s₂) = </a:t>
            </a:r>
            <a:r>
              <a:rPr lang="es-ES" sz="1200" b="1" dirty="0">
                <a:solidFill>
                  <a:srgbClr val="10B981"/>
                </a:solidFill>
                <a:latin typeface="Consolas"/>
              </a:rPr>
              <a:t>p₂  ✓</a:t>
            </a:r>
          </a:p>
          <a:p>
            <a:pPr indent="0" marL="0">
              <a:buNone/>
              <a:lnSpc>
                <a:spcPts val="3200"/>
              </a:lnSpc>
            </a:pPr>
            <a:r>
              <a:rPr lang="es-ES" sz="1200" b="1" dirty="0">
                <a:solidFill>
                  <a:srgbClr val="FDE68A"/>
                </a:solidFill>
              </a:rPr>
              <a:t xml:space="preserve">Bit 3 = 1: </a:t>
            </a:r>
            <a:r>
              <a:rPr lang="es-ES" sz="1200" dirty="0">
                <a:solidFill>
                  <a:srgbClr val="BFDBFE"/>
                </a:solidFill>
              </a:rPr>
              <a:t xml:space="preserve"> recibió </a:t>
            </a:r>
            <a:r>
              <a:rPr lang="es-ES" sz="1200" dirty="0">
                <a:solidFill>
                  <a:srgbClr val="10B981"/>
                </a:solidFill>
                <a:latin typeface="Consolas"/>
              </a:rPr>
              <a:t>p₃</a:t>
            </a:r>
            <a:r>
              <a:rPr lang="es-ES" sz="1200" dirty="0">
                <a:solidFill>
                  <a:srgbClr val="BFDBFE"/>
                </a:solidFill>
              </a:rPr>
              <a:t xml:space="preserve">   → necesita 0 pasos más   → ya es </a:t>
            </a:r>
            <a:r>
              <a:rPr lang="es-ES" sz="1200" b="1" dirty="0">
                <a:solidFill>
                  <a:srgbClr val="10B981"/>
                </a:solidFill>
                <a:latin typeface="Consolas"/>
              </a:rPr>
              <a:t>p₃  ✓</a:t>
            </a:r>
          </a:p>
          <a:p>
            <a:pPr indent="0" marL="0">
              <a:buNone/>
              <a:lnSpc>
                <a:spcPts val="3200"/>
              </a:lnSpc>
            </a:pPr>
            <a:r>
              <a:rPr lang="es-ES" sz="1200" b="1" dirty="0">
                <a:solidFill>
                  <a:srgbClr val="FDE68A"/>
                </a:solidFill>
              </a:rPr>
              <a:t xml:space="preserve">Bit 4 = 1: </a:t>
            </a:r>
            <a:r>
              <a:rPr lang="es-ES" sz="1200" dirty="0">
                <a:solidFill>
                  <a:srgbClr val="BFDBFE"/>
                </a:solidFill>
              </a:rPr>
              <a:t xml:space="preserve"> recibió </a:t>
            </a:r>
            <a:r>
              <a:rPr lang="es-ES" sz="1200" dirty="0">
                <a:solidFill>
                  <a:srgbClr val="10B981"/>
                </a:solidFill>
                <a:latin typeface="Consolas"/>
              </a:rPr>
              <a:t>p₄</a:t>
            </a:r>
            <a:r>
              <a:rPr lang="es-ES" sz="1200" dirty="0">
                <a:solidFill>
                  <a:srgbClr val="BFDBFE"/>
                </a:solidFill>
              </a:rPr>
              <a:t xml:space="preserve">   → necesita 0 pasos más   → ya es </a:t>
            </a:r>
            <a:r>
              <a:rPr lang="es-ES" sz="1200" b="1" dirty="0">
                <a:solidFill>
                  <a:srgbClr val="10B981"/>
                </a:solidFill>
                <a:latin typeface="Consolas"/>
              </a:rPr>
              <a:t>p₄  ✓</a:t>
            </a:r>
          </a:p>
        </p:txBody>
      </p:sp>
      <p:sp>
        <p:nvSpPr>
          <p:cNvPr id="30" name="ResBG"/>
          <p:cNvSpPr/>
          <p:nvPr/>
        </p:nvSpPr>
        <p:spPr>
          <a:xfrm>
            <a:off x="274320" y="3350000"/>
            <a:ext cx="8412480" cy="500000"/>
          </a:xfrm>
          <a:prstGeom prst="rect">
            <a:avLst/>
          </a:prstGeom>
          <a:solidFill>
            <a:srgbClr val="080E1A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31" name="ResTxt"/>
          <p:cNvSpPr/>
          <p:nvPr/>
        </p:nvSpPr>
        <p:spPr>
          <a:xfrm>
            <a:off x="274320" y="3350000"/>
            <a:ext cx="8412480" cy="500000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algn="ctr" indent="0" marL="0">
              <a:buNone/>
            </a:pPr>
            <a:r>
              <a:rPr lang="es-ES" sz="1400" b="1" dirty="0">
                <a:solidFill>
                  <a:srgbClr val="10B981"/>
                </a:solidFill>
              </a:rPr>
              <a:t>Todos coinciden con pk₀ = [p₁, p₂, p₃, p₄]   →   FIRMA VÁLIDA  ✓</a:t>
            </a:r>
          </a:p>
        </p:txBody>
      </p:sp>
      <p:sp>
        <p:nvSpPr>
          <p:cNvPr id="40" name="InsightBG"/>
          <p:cNvSpPr/>
          <p:nvPr/>
        </p:nvSpPr>
        <p:spPr>
          <a:xfrm>
            <a:off x="274320" y="4000000"/>
            <a:ext cx="8412480" cy="450000"/>
          </a:xfrm>
          <a:prstGeom prst="rect">
            <a:avLst/>
          </a:prstGeom>
          <a:solidFill>
            <a:srgbClr val="0A162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1" name="InsightTxt"/>
          <p:cNvSpPr/>
          <p:nvPr/>
        </p:nvSpPr>
        <p:spPr>
          <a:xfrm>
            <a:off x="274320" y="4000000"/>
            <a:ext cx="8412480" cy="450000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ctr"/>
          <a:lstStyle/>
          <a:p>
            <a:pPr indent="0" marL="0">
              <a:buNone/>
            </a:pPr>
            <a:r>
              <a:rPr lang="es-ES" sz="1100" dirty="0">
                <a:solidFill>
                  <a:srgbClr val="64748B"/>
                </a:solidFill>
              </a:rPr>
              <a:t>El verificador NUNCA vio los secretos s₁, s₃, s₄. Solo necesitó completar la cadena de s₂ (el único bit=0).</a:t>
            </a:r>
          </a:p>
          <a:p>
            <a:pPr indent="0" marL="0">
              <a:buNone/>
            </a:pPr>
            <a:r>
              <a:rPr lang="es-ES" sz="1100" dirty="0">
                <a:solidFill>
                  <a:srgbClr val="64748B"/>
                </a:solidFill>
              </a:rPr>
              <a:t>Si un solo valor no coincide, la firma se rechaza inmediatamente.</a:t>
            </a:r>
          </a:p>
        </p:txBody>
      </p:sp>
      <p:sp>
        <p:nvSpPr>
          <p:cNvPr id="50" name="Foot"/>
          <p:cNvSpPr/>
          <p:nvPr/>
        </p:nvSpPr>
        <p:spPr>
          <a:xfrm>
            <a:off x="274320" y="4600000"/>
            <a:ext cx="841248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050" dirty="0">
                <a:solidFill>
                  <a:srgbClr val="64748B"/>
                </a:solidFill>
              </a:rPr>
              <a:t>La seguridad depende de que Hash es irreversible: de p₁ no se puede obtener s₁.</a:t>
            </a:r>
          </a:p>
        </p:txBody>
      </p:sp>
      <p:sp>
        <p:nvSpPr>
          <p:cNvPr id="90" name="BadgeBG"/>
          <p:cNvSpPr/>
          <p:nvPr/>
        </p:nvSpPr>
        <p:spPr>
          <a:xfrm>
            <a:off x="7300000" y="100000"/>
            <a:ext cx="380000" cy="380000"/>
          </a:xfrm>
          <a:prstGeom prst="rect">
            <a:avLst/>
          </a:prstGeom>
          <a:solidFill>
            <a:srgbClr val="3B82F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1" name="BadgeLetter"/>
          <p:cNvSpPr/>
          <p:nvPr/>
        </p:nvSpPr>
        <p:spPr>
          <a:xfrm>
            <a:off x="7300000" y="100000"/>
            <a:ext cx="38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92" name="BadgeLabel"/>
          <p:cNvSpPr/>
          <p:nvPr/>
        </p:nvSpPr>
        <p:spPr>
          <a:xfrm>
            <a:off x="7720000" y="100000"/>
            <a:ext cx="130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100" b="1" dirty="0">
                <a:solidFill>
                  <a:srgbClr val="3B82F6"/>
                </a:solidFill>
              </a:rPr>
              <a:t>Firma OTS</a:t>
            </a:r>
          </a:p>
          <a:p>
            <a:pPr indent="0" marL="0">
              <a:buNone/>
            </a:pPr>
            <a:r>
              <a:rPr lang="es-ES" sz="800" dirty="0">
                <a:solidFill>
                  <a:srgbClr val="64748B"/>
                </a:solidFill>
              </a:rPr>
              <a:t>Detalle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itle"/>
          <p:cNvSpPr/>
          <p:nvPr/>
        </p:nvSpPr>
        <p:spPr>
          <a:xfrm>
            <a:off x="274320" y="137160"/>
            <a:ext cx="841248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200" b="1" dirty="0">
                <a:solidFill>
                  <a:srgbClr val="F8FAFC"/>
                </a:solidFill>
                <a:latin typeface="Arial" pitchFamily="34" charset="0"/>
              </a:rPr>
              <a:t>Ejemplo: Winternitz OTS con 4 bits</a:t>
            </a:r>
          </a:p>
        </p:txBody>
      </p:sp>
      <p:sp>
        <p:nvSpPr>
          <p:cNvPr id="4" name="Sub"/>
          <p:cNvSpPr/>
          <p:nvPr/>
        </p:nvSpPr>
        <p:spPr>
          <a:xfrm>
            <a:off x="274320" y="460000"/>
            <a:ext cx="841248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dirty="0">
                <a:solidFill>
                  <a:srgbClr val="EF4444"/>
                </a:solidFill>
              </a:rPr>
              <a:t>Paso 4 — ¿Por qué solo UNA vez? El peligro de reutilizar</a:t>
            </a:r>
          </a:p>
        </p:txBody>
      </p:sp>
      <p:sp>
        <p:nvSpPr>
          <p:cNvPr id="5" name="Line"/>
          <p:cNvSpPr/>
          <p:nvPr/>
        </p:nvSpPr>
        <p:spPr>
          <a:xfrm>
            <a:off x="274320" y="720000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10" name="F1BG"/>
          <p:cNvSpPr/>
          <p:nvPr/>
        </p:nvSpPr>
        <p:spPr>
          <a:xfrm>
            <a:off x="274320" y="800000"/>
            <a:ext cx="4050000" cy="550000"/>
          </a:xfrm>
          <a:prstGeom prst="rect">
            <a:avLst/>
          </a:prstGeom>
          <a:solidFill>
            <a:srgbClr val="080E1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1" name="F1Txt"/>
          <p:cNvSpPr/>
          <p:nvPr/>
        </p:nvSpPr>
        <p:spPr>
          <a:xfrm>
            <a:off x="274320" y="800000"/>
            <a:ext cx="4050000" cy="550000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ctr"/>
          <a:lstStyle/>
          <a:p>
            <a:pPr indent="0" marL="0">
              <a:buNone/>
            </a:pPr>
            <a:r>
              <a:rPr lang="es-ES" sz="1100" b="1" dirty="0">
                <a:solidFill>
                  <a:srgbClr val="3B82F6"/>
                </a:solidFill>
              </a:rPr>
              <a:t>Firma del mensaje 1  (bits: 1 0 1 1)</a:t>
            </a:r>
          </a:p>
          <a:p>
            <a:pPr indent="0" marL="0">
              <a:buNone/>
            </a:pP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Firma₁ = [ </a:t>
            </a:r>
            <a:r>
              <a:rPr lang="es-ES" sz="1200" b="1" dirty="0">
                <a:solidFill>
                  <a:srgbClr val="10B981"/>
                </a:solidFill>
                <a:latin typeface="Consolas"/>
              </a:rPr>
              <a:t>p₁</a:t>
            </a: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 , </a:t>
            </a:r>
            <a:r>
              <a:rPr lang="es-ES" sz="1200" b="1" dirty="0">
                <a:solidFill>
                  <a:srgbClr val="FDE68A"/>
                </a:solidFill>
                <a:latin typeface="Consolas"/>
              </a:rPr>
              <a:t>s₂</a:t>
            </a: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 , </a:t>
            </a:r>
            <a:r>
              <a:rPr lang="es-ES" sz="1200" b="1" dirty="0">
                <a:solidFill>
                  <a:srgbClr val="10B981"/>
                </a:solidFill>
                <a:latin typeface="Consolas"/>
              </a:rPr>
              <a:t>p₃</a:t>
            </a: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 , </a:t>
            </a:r>
            <a:r>
              <a:rPr lang="es-ES" sz="1200" b="1" dirty="0">
                <a:solidFill>
                  <a:srgbClr val="10B981"/>
                </a:solidFill>
                <a:latin typeface="Consolas"/>
              </a:rPr>
              <a:t>p₄</a:t>
            </a: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 ]</a:t>
            </a:r>
          </a:p>
        </p:txBody>
      </p:sp>
      <p:sp>
        <p:nvSpPr>
          <p:cNvPr id="12" name="F2BG"/>
          <p:cNvSpPr/>
          <p:nvPr/>
        </p:nvSpPr>
        <p:spPr>
          <a:xfrm>
            <a:off x="4636800" y="800000"/>
            <a:ext cx="4050000" cy="550000"/>
          </a:xfrm>
          <a:prstGeom prst="rect">
            <a:avLst/>
          </a:prstGeom>
          <a:solidFill>
            <a:srgbClr val="080E1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3" name="F2Txt"/>
          <p:cNvSpPr/>
          <p:nvPr/>
        </p:nvSpPr>
        <p:spPr>
          <a:xfrm>
            <a:off x="4636800" y="800000"/>
            <a:ext cx="4050000" cy="550000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ctr"/>
          <a:lstStyle/>
          <a:p>
            <a:pPr indent="0" marL="0">
              <a:buNone/>
            </a:pPr>
            <a:r>
              <a:rPr lang="es-ES" sz="1100" b="1" dirty="0">
                <a:solidFill>
                  <a:srgbClr val="F59E0B"/>
                </a:solidFill>
              </a:rPr>
              <a:t>Firma del mensaje 2  (bits: 0 1 1 0)</a:t>
            </a:r>
          </a:p>
          <a:p>
            <a:pPr indent="0" marL="0">
              <a:buNone/>
            </a:pP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Firma₂ = [ </a:t>
            </a:r>
            <a:r>
              <a:rPr lang="es-ES" sz="1200" b="1" dirty="0">
                <a:solidFill>
                  <a:srgbClr val="FDE68A"/>
                </a:solidFill>
                <a:latin typeface="Consolas"/>
              </a:rPr>
              <a:t>s₁</a:t>
            </a: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 , </a:t>
            </a:r>
            <a:r>
              <a:rPr lang="es-ES" sz="1200" b="1" dirty="0">
                <a:solidFill>
                  <a:srgbClr val="10B981"/>
                </a:solidFill>
                <a:latin typeface="Consolas"/>
              </a:rPr>
              <a:t>p₂</a:t>
            </a: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 , </a:t>
            </a:r>
            <a:r>
              <a:rPr lang="es-ES" sz="1200" b="1" dirty="0">
                <a:solidFill>
                  <a:srgbClr val="10B981"/>
                </a:solidFill>
                <a:latin typeface="Consolas"/>
              </a:rPr>
              <a:t>p₃</a:t>
            </a: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 , </a:t>
            </a:r>
            <a:r>
              <a:rPr lang="es-ES" sz="1200" b="1" dirty="0">
                <a:solidFill>
                  <a:srgbClr val="FDE68A"/>
                </a:solidFill>
                <a:latin typeface="Consolas"/>
              </a:rPr>
              <a:t>s₄</a:t>
            </a:r>
            <a:r>
              <a:rPr lang="es-ES" sz="1200" dirty="0">
                <a:solidFill>
                  <a:srgbClr val="BFDBFE"/>
                </a:solidFill>
                <a:latin typeface="Consolas"/>
              </a:rPr>
              <a:t xml:space="preserve"> ]</a:t>
            </a:r>
          </a:p>
        </p:txBody>
      </p:sp>
      <p:sp>
        <p:nvSpPr>
          <p:cNvPr id="20" name="AtkBG"/>
          <p:cNvSpPr/>
          <p:nvPr/>
        </p:nvSpPr>
        <p:spPr>
          <a:xfrm>
            <a:off x="274320" y="1500000"/>
            <a:ext cx="8412480" cy="1800000"/>
          </a:xfrm>
          <a:prstGeom prst="rect">
            <a:avLst/>
          </a:prstGeom>
          <a:solidFill>
            <a:srgbClr val="080E1A"/>
          </a:solidFill>
          <a:ln w="25400">
            <a:solidFill>
              <a:srgbClr val="EF4444"/>
            </a:solidFill>
            <a:prstDash val="solid"/>
          </a:ln>
        </p:spPr>
      </p:sp>
      <p:sp>
        <p:nvSpPr>
          <p:cNvPr id="21" name="AtkTitle"/>
          <p:cNvSpPr/>
          <p:nvPr/>
        </p:nvSpPr>
        <p:spPr>
          <a:xfrm>
            <a:off x="380000" y="1540000"/>
            <a:ext cx="82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300" b="1" dirty="0">
                <a:solidFill>
                  <a:srgbClr val="EF4444"/>
                </a:solidFill>
              </a:rPr>
              <a:t>El atacante que ve AMBAS firmas obtiene:</a:t>
            </a:r>
          </a:p>
        </p:txBody>
      </p:sp>
      <p:sp>
        <p:nvSpPr>
          <p:cNvPr id="22" name="AtkRows"/>
          <p:cNvSpPr/>
          <p:nvPr/>
        </p:nvSpPr>
        <p:spPr>
          <a:xfrm>
            <a:off x="380000" y="1860000"/>
            <a:ext cx="8200000" cy="13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  <a:lnSpc>
                <a:spcPts val="2800"/>
              </a:lnSpc>
            </a:pPr>
            <a:r>
              <a:rPr lang="es-ES" sz="1100" b="1" dirty="0">
                <a:solidFill>
                  <a:srgbClr val="FDE68A"/>
                </a:solidFill>
              </a:rPr>
              <a:t xml:space="preserve">Posición 1: </a:t>
            </a:r>
            <a:r>
              <a:rPr lang="es-ES" sz="1100" dirty="0">
                <a:solidFill>
                  <a:srgbClr val="BFDBFE"/>
                </a:solidFill>
                <a:latin typeface="Consolas"/>
              </a:rPr>
              <a:t>s₁</a:t>
            </a:r>
            <a:r>
              <a:rPr lang="es-ES" sz="1100" dirty="0">
                <a:solidFill>
                  <a:srgbClr val="64748B"/>
                </a:solidFill>
              </a:rPr>
              <a:t xml:space="preserve"> (de Firma₂)  +  </a:t>
            </a:r>
            <a:r>
              <a:rPr lang="es-ES" sz="1100" dirty="0">
                <a:solidFill>
                  <a:srgbClr val="BFDBFE"/>
                </a:solidFill>
                <a:latin typeface="Consolas"/>
              </a:rPr>
              <a:t>p₁</a:t>
            </a:r>
            <a:r>
              <a:rPr lang="es-ES" sz="1100" dirty="0">
                <a:solidFill>
                  <a:srgbClr val="64748B"/>
                </a:solidFill>
              </a:rPr>
              <a:t xml:space="preserve"> (de Firma₁)   →  </a:t>
            </a:r>
            <a:r>
              <a:rPr lang="es-ES" sz="1100" b="1" dirty="0">
                <a:solidFill>
                  <a:srgbClr val="EF4444"/>
                </a:solidFill>
              </a:rPr>
              <a:t>TIENE TODO</a:t>
            </a:r>
          </a:p>
          <a:p>
            <a:pPr indent="0" marL="0">
              <a:buNone/>
              <a:lnSpc>
                <a:spcPts val="2800"/>
              </a:lnSpc>
            </a:pPr>
            <a:r>
              <a:rPr lang="es-ES" sz="1100" b="1" dirty="0">
                <a:solidFill>
                  <a:srgbClr val="FDE68A"/>
                </a:solidFill>
              </a:rPr>
              <a:t xml:space="preserve">Posición 2: </a:t>
            </a:r>
            <a:r>
              <a:rPr lang="es-ES" sz="1100" dirty="0">
                <a:solidFill>
                  <a:srgbClr val="BFDBFE"/>
                </a:solidFill>
                <a:latin typeface="Consolas"/>
              </a:rPr>
              <a:t>s₂</a:t>
            </a:r>
            <a:r>
              <a:rPr lang="es-ES" sz="1100" dirty="0">
                <a:solidFill>
                  <a:srgbClr val="64748B"/>
                </a:solidFill>
              </a:rPr>
              <a:t xml:space="preserve"> (de Firma₁)  +  </a:t>
            </a:r>
            <a:r>
              <a:rPr lang="es-ES" sz="1100" dirty="0">
                <a:solidFill>
                  <a:srgbClr val="BFDBFE"/>
                </a:solidFill>
                <a:latin typeface="Consolas"/>
              </a:rPr>
              <a:t>p₂</a:t>
            </a:r>
            <a:r>
              <a:rPr lang="es-ES" sz="1100" dirty="0">
                <a:solidFill>
                  <a:srgbClr val="64748B"/>
                </a:solidFill>
              </a:rPr>
              <a:t xml:space="preserve"> (de Firma₂)   →  </a:t>
            </a:r>
            <a:r>
              <a:rPr lang="es-ES" sz="1100" b="1" dirty="0">
                <a:solidFill>
                  <a:srgbClr val="EF4444"/>
                </a:solidFill>
              </a:rPr>
              <a:t>TIENE TODO</a:t>
            </a:r>
          </a:p>
          <a:p>
            <a:pPr indent="0" marL="0">
              <a:buNone/>
              <a:lnSpc>
                <a:spcPts val="2800"/>
              </a:lnSpc>
            </a:pPr>
            <a:r>
              <a:rPr lang="es-ES" sz="1100" b="1" dirty="0">
                <a:solidFill>
                  <a:srgbClr val="FDE68A"/>
                </a:solidFill>
              </a:rPr>
              <a:t xml:space="preserve">Posición 3: </a:t>
            </a:r>
            <a:r>
              <a:rPr lang="es-ES" sz="1100" dirty="0">
                <a:solidFill>
                  <a:srgbClr val="BFDBFE"/>
                </a:solidFill>
                <a:latin typeface="Consolas"/>
              </a:rPr>
              <a:t>p₃</a:t>
            </a:r>
            <a:r>
              <a:rPr lang="es-ES" sz="1100" dirty="0">
                <a:solidFill>
                  <a:srgbClr val="64748B"/>
                </a:solidFill>
              </a:rPr>
              <a:t xml:space="preserve"> (de ambas)  → no obtiene s₃                →  </a:t>
            </a:r>
            <a:r>
              <a:rPr lang="es-ES" sz="1100" dirty="0">
                <a:solidFill>
                  <a:srgbClr val="10B981"/>
                </a:solidFill>
              </a:rPr>
              <a:t>OK (pero innecesario para bit=1)</a:t>
            </a:r>
          </a:p>
          <a:p>
            <a:pPr indent="0" marL="0">
              <a:buNone/>
              <a:lnSpc>
                <a:spcPts val="2800"/>
              </a:lnSpc>
            </a:pPr>
            <a:r>
              <a:rPr lang="es-ES" sz="1100" b="1" dirty="0">
                <a:solidFill>
                  <a:srgbClr val="FDE68A"/>
                </a:solidFill>
              </a:rPr>
              <a:t xml:space="preserve">Posición 4: </a:t>
            </a:r>
            <a:r>
              <a:rPr lang="es-ES" sz="1100" dirty="0">
                <a:solidFill>
                  <a:srgbClr val="BFDBFE"/>
                </a:solidFill>
                <a:latin typeface="Consolas"/>
              </a:rPr>
              <a:t>s₄</a:t>
            </a:r>
            <a:r>
              <a:rPr lang="es-ES" sz="1100" dirty="0">
                <a:solidFill>
                  <a:srgbClr val="64748B"/>
                </a:solidFill>
              </a:rPr>
              <a:t xml:space="preserve"> (de Firma₂)  +  </a:t>
            </a:r>
            <a:r>
              <a:rPr lang="es-ES" sz="1100" dirty="0">
                <a:solidFill>
                  <a:srgbClr val="BFDBFE"/>
                </a:solidFill>
                <a:latin typeface="Consolas"/>
              </a:rPr>
              <a:t>p₄</a:t>
            </a:r>
            <a:r>
              <a:rPr lang="es-ES" sz="1100" dirty="0">
                <a:solidFill>
                  <a:srgbClr val="64748B"/>
                </a:solidFill>
              </a:rPr>
              <a:t xml:space="preserve"> (de Firma₁)   →  </a:t>
            </a:r>
            <a:r>
              <a:rPr lang="es-ES" sz="1100" b="1" dirty="0">
                <a:solidFill>
                  <a:srgbClr val="EF4444"/>
                </a:solidFill>
              </a:rPr>
              <a:t>TIENE TODO</a:t>
            </a:r>
          </a:p>
        </p:txBody>
      </p:sp>
      <p:sp>
        <p:nvSpPr>
          <p:cNvPr id="30" name="DangerBG"/>
          <p:cNvSpPr/>
          <p:nvPr/>
        </p:nvSpPr>
        <p:spPr>
          <a:xfrm>
            <a:off x="274320" y="3450000"/>
            <a:ext cx="8412480" cy="500000"/>
          </a:xfrm>
          <a:prstGeom prst="rect">
            <a:avLst/>
          </a:prstGeom>
          <a:solidFill>
            <a:srgbClr val="1A0505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31" name="DangerTxt"/>
          <p:cNvSpPr/>
          <p:nvPr/>
        </p:nvSpPr>
        <p:spPr>
          <a:xfrm>
            <a:off x="274320" y="3450000"/>
            <a:ext cx="8412480" cy="500000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algn="ctr" indent="0" marL="0">
              <a:buNone/>
            </a:pPr>
            <a:r>
              <a:rPr lang="es-ES" sz="1300" b="1" dirty="0">
                <a:solidFill>
                  <a:srgbClr val="EF4444"/>
                </a:solidFill>
              </a:rPr>
              <a:t>Con s₁, s₂, s₄ y p₃ puede forjar firmas para CUALQUIER mensaje. Seguridad ROTA.</a:t>
            </a:r>
          </a:p>
        </p:txBody>
      </p:sp>
      <p:sp>
        <p:nvSpPr>
          <p:cNvPr id="40" name="Foot"/>
          <p:cNvSpPr/>
          <p:nvPr/>
        </p:nvSpPr>
        <p:spPr>
          <a:xfrm>
            <a:off x="274320" y="4150000"/>
            <a:ext cx="8412480" cy="500000"/>
          </a:xfrm>
          <a:prstGeom prst="rect">
            <a:avLst/>
          </a:prstGeom>
          <a:solidFill>
            <a:srgbClr val="0A1628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1" name="FootTxt"/>
          <p:cNvSpPr/>
          <p:nvPr/>
        </p:nvSpPr>
        <p:spPr>
          <a:xfrm>
            <a:off x="274320" y="4150000"/>
            <a:ext cx="8412480" cy="500000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ctr"/>
          <a:lstStyle/>
          <a:p>
            <a:pPr indent="0" marL="0">
              <a:buNone/>
            </a:pPr>
            <a:r>
              <a:rPr lang="es-ES" sz="1100" dirty="0">
                <a:solidFill>
                  <a:srgbClr val="64748B"/>
                </a:solidFill>
              </a:rPr>
              <a:t>Por eso XMSS lleva un contador de índice: cada OTS se usa exactamente UNA vez y se descarta.</a:t>
            </a:r>
          </a:p>
          <a:p>
            <a:pPr indent="0" marL="0">
              <a:buNone/>
            </a:pPr>
            <a:r>
              <a:rPr lang="es-ES" sz="1100" dirty="0">
                <a:solidFill>
                  <a:srgbClr val="64748B"/>
                </a:solidFill>
              </a:rPr>
              <a:t>Esto conecta con el Pilar 03 (Estado): el idx DEBE avanzar después de cada firma.</a:t>
            </a:r>
          </a:p>
        </p:txBody>
      </p:sp>
      <p:sp>
        <p:nvSpPr>
          <p:cNvPr id="90" name="BadgeBG"/>
          <p:cNvSpPr/>
          <p:nvPr/>
        </p:nvSpPr>
        <p:spPr>
          <a:xfrm>
            <a:off x="7300000" y="100000"/>
            <a:ext cx="380000" cy="380000"/>
          </a:xfrm>
          <a:prstGeom prst="rect">
            <a:avLst/>
          </a:prstGeom>
          <a:solidFill>
            <a:srgbClr val="3B82F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1" name="BadgeLetter"/>
          <p:cNvSpPr/>
          <p:nvPr/>
        </p:nvSpPr>
        <p:spPr>
          <a:xfrm>
            <a:off x="7300000" y="100000"/>
            <a:ext cx="38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92" name="BadgeLabel"/>
          <p:cNvSpPr/>
          <p:nvPr/>
        </p:nvSpPr>
        <p:spPr>
          <a:xfrm>
            <a:off x="7720000" y="100000"/>
            <a:ext cx="130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100" b="1" dirty="0">
                <a:solidFill>
                  <a:srgbClr val="3B82F6"/>
                </a:solidFill>
              </a:rPr>
              <a:t>Firma OTS</a:t>
            </a:r>
          </a:p>
          <a:p>
            <a:pPr indent="0" marL="0">
              <a:buNone/>
            </a:pPr>
            <a:r>
              <a:rPr lang="es-ES" sz="800" dirty="0">
                <a:solidFill>
                  <a:srgbClr val="64748B"/>
                </a:solidFill>
              </a:rPr>
              <a:t>Detalle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itle"/>
          <p:cNvSpPr/>
          <p:nvPr/>
        </p:nvSpPr>
        <p:spPr>
          <a:xfrm>
            <a:off x="274320" y="137160"/>
            <a:ext cx="841248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2200" b="1" dirty="0">
                <a:solidFill>
                  <a:srgbClr val="F8FAFC"/>
                </a:solidFill>
                <a:latin typeface="Arial" pitchFamily="34" charset="0"/>
              </a:rPr>
              <a:t>Del ejemplo al mundo real</a:t>
            </a:r>
          </a:p>
        </p:txBody>
      </p:sp>
      <p:sp>
        <p:nvSpPr>
          <p:cNvPr id="4" name="Sub"/>
          <p:cNvSpPr/>
          <p:nvPr/>
        </p:nvSpPr>
        <p:spPr>
          <a:xfrm>
            <a:off x="274320" y="460000"/>
            <a:ext cx="841248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200" dirty="0">
                <a:solidFill>
                  <a:srgbClr val="64748B"/>
                </a:solidFill>
              </a:rPr>
              <a:t>El mismo mecanismo Winternitz, pero con parámetros de producción</a:t>
            </a:r>
          </a:p>
        </p:txBody>
      </p:sp>
      <p:sp>
        <p:nvSpPr>
          <p:cNvPr id="5" name="Line"/>
          <p:cNvSpPr/>
          <p:nvPr/>
        </p:nvSpPr>
        <p:spPr>
          <a:xfrm>
            <a:off x="274320" y="720000"/>
            <a:ext cx="8412480" cy="0"/>
          </a:xfrm>
          <a:prstGeom prst="line">
            <a:avLst/>
          </a:prstGeom>
          <a:noFill/>
          <a:ln w="12700">
            <a:solidFill>
              <a:srgbClr val="1E3A5F"/>
            </a:solidFill>
            <a:prstDash val="solid"/>
          </a:ln>
        </p:spPr>
      </p:sp>
      <p:sp>
        <p:nvSpPr>
          <p:cNvPr id="10" name="MsgBG"/>
          <p:cNvSpPr/>
          <p:nvPr/>
        </p:nvSpPr>
        <p:spPr>
          <a:xfrm>
            <a:off x="274320" y="800000"/>
            <a:ext cx="8412480" cy="500000"/>
          </a:xfrm>
          <a:prstGeom prst="rect">
            <a:avLst/>
          </a:prstGeom>
          <a:solidFill>
            <a:srgbClr val="0A0F1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MsgTxt"/>
          <p:cNvSpPr/>
          <p:nvPr/>
        </p:nvSpPr>
        <p:spPr>
          <a:xfrm>
            <a:off x="274320" y="800000"/>
            <a:ext cx="8412480" cy="500000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ctr"/>
          <a:lstStyle/>
          <a:p>
            <a:pPr indent="0" marL="0">
              <a:buNone/>
            </a:pPr>
            <a:r>
              <a:rPr lang="es-ES" sz="1100" dirty="0">
                <a:solidFill>
                  <a:srgbClr val="64748B"/>
                </a:solidFill>
              </a:rPr>
              <a:t xml:space="preserve">En la vida real, el mensaje a firmar es algo como: </a:t>
            </a:r>
            <a:r>
              <a:rPr lang="es-ES" sz="1100" dirty="0">
                <a:solidFill>
                  <a:srgbClr val="FDE68A"/>
                </a:solidFill>
                <a:latin typeface="Consolas"/>
              </a:rPr>
              <a:t>“Transfiero 100 ETH a 0x7f8B...d4e2”</a:t>
            </a:r>
          </a:p>
          <a:p>
            <a:pPr indent="0" marL="0">
              <a:buNone/>
            </a:pPr>
            <a:r>
              <a:rPr lang="es-ES" sz="1100" dirty="0">
                <a:solidFill>
                  <a:srgbClr val="BFDBFE"/>
                </a:solidFill>
              </a:rPr>
              <a:t xml:space="preserve">Se hashea con SHA-256 → </a:t>
            </a:r>
            <a:r>
              <a:rPr lang="es-ES" sz="1100" b="1" dirty="0">
                <a:solidFill>
                  <a:srgbClr val="FDE68A"/>
                </a:solidFill>
                <a:latin typeface="Consolas"/>
              </a:rPr>
              <a:t>256 bits</a:t>
            </a:r>
            <a:r>
              <a:rPr lang="es-ES" sz="1100" dirty="0">
                <a:solidFill>
                  <a:srgbClr val="BFDBFE"/>
                </a:solidFill>
              </a:rPr>
              <a:t xml:space="preserve"> (en nuestro ejemplo usamos solo 4)</a:t>
            </a:r>
          </a:p>
        </p:txBody>
      </p:sp>
      <p:sp>
        <p:nvSpPr>
          <p:cNvPr id="20" name="TblHdrBG"/>
          <p:cNvSpPr/>
          <p:nvPr/>
        </p:nvSpPr>
        <p:spPr>
          <a:xfrm>
            <a:off x="274320" y="1450000"/>
            <a:ext cx="8412480" cy="350000"/>
          </a:xfrm>
          <a:prstGeom prst="rect">
            <a:avLst/>
          </a:prstGeom>
          <a:solidFill>
            <a:srgbClr val="1E3A5F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blHdrTxt"/>
          <p:cNvSpPr/>
          <p:nvPr/>
        </p:nvSpPr>
        <p:spPr>
          <a:xfrm>
            <a:off x="274320" y="1450000"/>
            <a:ext cx="8412480" cy="350000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s-ES" sz="1100" b="1" dirty="0">
                <a:solidFill>
                  <a:srgbClr val="F8FAFC"/>
                </a:solidFill>
              </a:rPr>
              <a:t xml:space="preserve">Parámetro                                              Nuestro ejemplo                          XMSS real (NIST SP 800-208)</a:t>
            </a:r>
          </a:p>
        </p:txBody>
      </p:sp>
      <p:sp>
        <p:nvSpPr>
          <p:cNvPr id="30" name="TblRowsBG"/>
          <p:cNvSpPr/>
          <p:nvPr/>
        </p:nvSpPr>
        <p:spPr>
          <a:xfrm>
            <a:off x="274320" y="1800000"/>
            <a:ext cx="8412480" cy="1900000"/>
          </a:xfrm>
          <a:prstGeom prst="rect">
            <a:avLst/>
          </a:prstGeom>
          <a:solidFill>
            <a:srgbClr val="080E1A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1" name="TblRows"/>
          <p:cNvSpPr/>
          <p:nvPr/>
        </p:nvSpPr>
        <p:spPr>
          <a:xfrm>
            <a:off x="274320" y="1800000"/>
            <a:ext cx="8412480" cy="1900000"/>
          </a:xfrm>
          <a:prstGeom prst="rect">
            <a:avLst/>
          </a:prstGeom>
          <a:noFill/>
          <a:ln/>
        </p:spPr>
        <p:txBody>
          <a:bodyPr wrap="square" lIns="101600" tIns="76200" rIns="101600" bIns="76200" rtlCol="0" anchor="t"/>
          <a:lstStyle/>
          <a:p>
            <a:pPr indent="0" marL="0">
              <a:buNone/>
              <a:lnSpc>
                <a:spcPts val="2600"/>
              </a:lnSpc>
            </a:pPr>
            <a:r>
              <a:rPr lang="es-ES" sz="1100" dirty="0">
                <a:solidFill>
                  <a:srgbClr val="BFDBFE"/>
                </a:solidFill>
              </a:rPr>
              <a:t xml:space="preserve">Hash del mensaje                                  </a:t>
            </a:r>
            <a:r>
              <a:rPr lang="es-ES" sz="1100" dirty="0">
                <a:solidFill>
                  <a:srgbClr val="FDE68A"/>
                </a:solidFill>
                <a:latin typeface="Consolas"/>
              </a:rPr>
              <a:t xml:space="preserve">4 bits                                           </a:t>
            </a:r>
            <a:r>
              <a:rPr lang="es-ES" sz="1100" b="1" dirty="0">
                <a:solidFill>
                  <a:srgbClr val="10B981"/>
                </a:solidFill>
                <a:latin typeface="Consolas"/>
              </a:rPr>
              <a:t>256 bits (SHA-256)</a:t>
            </a:r>
          </a:p>
          <a:p>
            <a:pPr indent="0" marL="0">
              <a:buNone/>
              <a:lnSpc>
                <a:spcPts val="2600"/>
              </a:lnSpc>
            </a:pPr>
            <a:r>
              <a:rPr lang="es-ES" sz="1100" dirty="0">
                <a:solidFill>
                  <a:srgbClr val="BFDBFE"/>
                </a:solidFill>
              </a:rPr>
              <a:t xml:space="preserve">Parámetro Winternitz (w)                      </a:t>
            </a:r>
            <a:r>
              <a:rPr lang="es-ES" sz="1100" dirty="0">
                <a:solidFill>
                  <a:srgbClr val="FDE68A"/>
                </a:solidFill>
                <a:latin typeface="Consolas"/>
              </a:rPr>
              <a:t xml:space="preserve">w=2 (1 bit por trozo)                    </a:t>
            </a:r>
            <a:r>
              <a:rPr lang="es-ES" sz="1100" b="1" dirty="0">
                <a:solidFill>
                  <a:srgbClr val="10B981"/>
                </a:solidFill>
                <a:latin typeface="Consolas"/>
              </a:rPr>
              <a:t>w=16 (4 bits por trozo)</a:t>
            </a:r>
          </a:p>
          <a:p>
            <a:pPr indent="0" marL="0">
              <a:buNone/>
              <a:lnSpc>
                <a:spcPts val="2600"/>
              </a:lnSpc>
            </a:pPr>
            <a:r>
              <a:rPr lang="es-ES" sz="1100" dirty="0">
                <a:solidFill>
                  <a:srgbClr val="BFDBFE"/>
                </a:solidFill>
              </a:rPr>
              <a:t xml:space="preserve">Trozos del hash                                     </a:t>
            </a:r>
            <a:r>
              <a:rPr lang="es-ES" sz="1100" dirty="0">
                <a:solidFill>
                  <a:srgbClr val="FDE68A"/>
                </a:solidFill>
                <a:latin typeface="Consolas"/>
              </a:rPr>
              <a:t xml:space="preserve">4 trozos de 1 bit                            </a:t>
            </a:r>
            <a:r>
              <a:rPr lang="es-ES" sz="1100" b="1" dirty="0">
                <a:solidFill>
                  <a:srgbClr val="10B981"/>
                </a:solidFill>
                <a:latin typeface="Consolas"/>
              </a:rPr>
              <a:t>64 trozos de 4 bits</a:t>
            </a:r>
          </a:p>
          <a:p>
            <a:pPr indent="0" marL="0">
              <a:buNone/>
              <a:lnSpc>
                <a:spcPts val="2600"/>
              </a:lnSpc>
            </a:pPr>
            <a:r>
              <a:rPr lang="es-ES" sz="1100" dirty="0">
                <a:solidFill>
                  <a:srgbClr val="BFDBFE"/>
                </a:solidFill>
              </a:rPr>
              <a:t xml:space="preserve">Pasos de hash por cadena                  </a:t>
            </a:r>
            <a:r>
              <a:rPr lang="es-ES" sz="1100" dirty="0">
                <a:solidFill>
                  <a:srgbClr val="FDE68A"/>
                </a:solidFill>
                <a:latin typeface="Consolas"/>
              </a:rPr>
              <a:t xml:space="preserve">1 paso (0 ó 1)                                 </a:t>
            </a:r>
            <a:r>
              <a:rPr lang="es-ES" sz="1100" b="1" dirty="0">
                <a:solidFill>
                  <a:srgbClr val="10B981"/>
                </a:solidFill>
                <a:latin typeface="Consolas"/>
              </a:rPr>
              <a:t>hasta 15 pasos (0 a 15)</a:t>
            </a:r>
          </a:p>
          <a:p>
            <a:pPr indent="0" marL="0">
              <a:buNone/>
              <a:lnSpc>
                <a:spcPts val="2600"/>
              </a:lnSpc>
            </a:pPr>
            <a:r>
              <a:rPr lang="es-ES" sz="1100" dirty="0">
                <a:solidFill>
                  <a:srgbClr val="BFDBFE"/>
                </a:solidFill>
              </a:rPr>
              <a:t xml:space="preserve">Valores secretos en sk                         </a:t>
            </a:r>
            <a:r>
              <a:rPr lang="es-ES" sz="1100" dirty="0">
                <a:solidFill>
                  <a:srgbClr val="FDE68A"/>
                </a:solidFill>
                <a:latin typeface="Consolas"/>
              </a:rPr>
              <a:t xml:space="preserve">4                                                          </a:t>
            </a:r>
            <a:r>
              <a:rPr lang="es-ES" sz="1100" b="1" dirty="0">
                <a:solidFill>
                  <a:srgbClr val="10B981"/>
                </a:solidFill>
                <a:latin typeface="Consolas"/>
              </a:rPr>
              <a:t>~67 valores</a:t>
            </a:r>
          </a:p>
        </p:txBody>
      </p:sp>
      <p:sp>
        <p:nvSpPr>
          <p:cNvPr id="40" name="InsightBG"/>
          <p:cNvSpPr/>
          <p:nvPr/>
        </p:nvSpPr>
        <p:spPr>
          <a:xfrm>
            <a:off x="274320" y="3850000"/>
            <a:ext cx="8412480" cy="500000"/>
          </a:xfrm>
          <a:prstGeom prst="rect">
            <a:avLst/>
          </a:prstGeom>
          <a:solidFill>
            <a:srgbClr val="080E1A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41" name="InsightTxt"/>
          <p:cNvSpPr/>
          <p:nvPr/>
        </p:nvSpPr>
        <p:spPr>
          <a:xfrm>
            <a:off x="274320" y="3850000"/>
            <a:ext cx="8412480" cy="500000"/>
          </a:xfrm>
          <a:prstGeom prst="rect">
            <a:avLst/>
          </a:prstGeom>
          <a:noFill/>
          <a:ln/>
        </p:spPr>
        <p:txBody>
          <a:bodyPr wrap="square" lIns="101600" tIns="50800" rIns="101600" bIns="50800" rtlCol="0" anchor="ctr"/>
          <a:lstStyle/>
          <a:p>
            <a:pPr indent="0" marL="0">
              <a:buNone/>
            </a:pPr>
            <a:r>
              <a:rPr lang="es-ES" sz="1200" b="1" dirty="0">
                <a:solidFill>
                  <a:srgbClr val="10B981"/>
                </a:solidFill>
              </a:rPr>
              <a:t>El principio es idéntico:</a:t>
            </a:r>
            <a:r>
              <a:rPr lang="es-ES" sz="1200" dirty="0">
                <a:solidFill>
                  <a:srgbClr val="BFDBFE"/>
                </a:solidFill>
              </a:rPr>
              <a:t xml:space="preserve"> para cada trozo del hash, se revela el secreto hasheado un número de veces que depende del valor de ese trozo. Más trozos y cadenas más largas, pero la misma lógica.</a:t>
            </a:r>
          </a:p>
        </p:txBody>
      </p:sp>
      <p:sp>
        <p:nvSpPr>
          <p:cNvPr id="50" name="Foot"/>
          <p:cNvSpPr/>
          <p:nvPr/>
        </p:nvSpPr>
        <p:spPr>
          <a:xfrm>
            <a:off x="274320" y="4500000"/>
            <a:ext cx="8412480" cy="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050" dirty="0">
                <a:solidFill>
                  <a:srgbClr val="64748B"/>
                </a:solidFill>
              </a:rPr>
              <a:t>El trade-off de w: mayor w = firma más compacta pero más lenta (más hashes por cadena). w=16 es el balance estándar del NIST.</a:t>
            </a:r>
          </a:p>
        </p:txBody>
      </p:sp>
      <p:sp>
        <p:nvSpPr>
          <p:cNvPr id="90" name="BadgeBG"/>
          <p:cNvSpPr/>
          <p:nvPr/>
        </p:nvSpPr>
        <p:spPr>
          <a:xfrm>
            <a:off x="7300000" y="100000"/>
            <a:ext cx="380000" cy="380000"/>
          </a:xfrm>
          <a:prstGeom prst="rect">
            <a:avLst/>
          </a:prstGeom>
          <a:solidFill>
            <a:srgbClr val="3B82F6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1" name="BadgeLetter"/>
          <p:cNvSpPr/>
          <p:nvPr/>
        </p:nvSpPr>
        <p:spPr>
          <a:xfrm>
            <a:off x="7300000" y="100000"/>
            <a:ext cx="38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92" name="BadgeLabel"/>
          <p:cNvSpPr/>
          <p:nvPr/>
        </p:nvSpPr>
        <p:spPr>
          <a:xfrm>
            <a:off x="7720000" y="100000"/>
            <a:ext cx="130000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ES" sz="1100" b="1" dirty="0">
                <a:solidFill>
                  <a:srgbClr val="3B82F6"/>
                </a:solidFill>
              </a:rPr>
              <a:t>Firma OTS</a:t>
            </a:r>
          </a:p>
          <a:p>
            <a:pPr indent="0" marL="0">
              <a:buNone/>
            </a:pPr>
            <a:r>
              <a:rPr lang="es-ES" sz="800" dirty="0">
                <a:solidFill>
                  <a:srgbClr val="64748B"/>
                </a:solidFill>
              </a:rPr>
              <a:t>Detalle</a:t>
            </a:r>
          </a:p>
        </p:txBody>
      </p:sp>
      <p:sp>
        <p:nvSpPr>
          <p:cNvPr id="99" name="RefBox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solidFill>
            <a:srgbClr val="F5A623">
              <a:alpha val="12000"/>
            </a:srgbClr>
          </a:solidFill>
          <a:ln w="12700">
            <a:solidFill>
              <a:srgbClr val="F5A623">
                <a:alpha val="40000"/>
              </a:srgbClr>
            </a:solidFill>
            <a:prstDash val="solid"/>
          </a:ln>
        </p:spPr>
      </p:sp>
      <p:sp>
        <p:nvSpPr>
          <p:cNvPr id="100" name="RefText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A623"/>
                </a:solidFill>
              </a:rPr>
              <a:t>➡  Ver slide 22: TSW propone w=2 con target fijo, eliminando el checksum y logrando circuito SNARK de tamaño fijo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5A62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problema: agregar firmas XMSS a escala</a:t>
            </a:r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FDBFE"/>
                </a:solidFill>
              </a:rPr>
              <a:t>El desafío central que enfrenta Lean Ethereum</a:t>
            </a:r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14800" cy="2743200"/>
          </a:xfrm>
          <a:prstGeom prst="rect">
            <a:avLst/>
          </a:prstGeom>
          <a:solidFill>
            <a:srgbClr val="0F1E3D"/>
          </a:solidFill>
          <a:ln w="19050">
            <a:solidFill>
              <a:srgbClr val="F5A62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143000"/>
            <a:ext cx="3886200" cy="2651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</a:rPr>
              <a:t>Con BLS (hoy):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 xml:space="preserve">  • Agregar firmas = operación matemática simple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 xml:space="preserve">  • 10.000 firmas → 1 firma compacta de ~96 bytes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 xml:space="preserve">  • Tiempo: casi instantáneo</a:t>
            </a:r>
          </a:p>
          <a:p>
            <a:pPr indent="0" marL="0">
              <a:buNone/>
            </a:pPr>
            <a:r>
              <a:rPr lang="en-US" sz="6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</a:rPr>
              <a:t>Con XMSS (post-cuántico):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 xml:space="preserve">  • No existe agregación algebraica nativa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 xml:space="preserve">  • Cada firma pesa ~2-3 KB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 xml:space="preserve">  • 10.000 validadores → ~22 GB sin agregar ❌</a:t>
            </a:r>
          </a:p>
        </p:txBody>
      </p:sp>
      <p:sp>
        <p:nvSpPr>
          <p:cNvPr id="7" name="Shape 5"/>
          <p:cNvSpPr/>
          <p:nvPr/>
        </p:nvSpPr>
        <p:spPr>
          <a:xfrm>
            <a:off x="4663440" y="1097280"/>
            <a:ext cx="4114800" cy="2743200"/>
          </a:xfrm>
          <a:prstGeom prst="rect">
            <a:avLst/>
          </a:prstGeom>
          <a:solidFill>
            <a:srgbClr val="0F1E3D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00600" y="1143000"/>
            <a:ext cx="3886200" cy="2651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</a:rPr>
              <a:t>Por qué importa</a:t>
            </a:r>
          </a:p>
          <a:p>
            <a:pPr indent="0" marL="0">
              <a:buNone/>
            </a:pPr>
            <a:r>
              <a:rPr lang="en-US" sz="6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En cada slot de 4 segundos, el proposer necesita incluir en el bloque los votos de miles de validadores.</a:t>
            </a:r>
          </a:p>
          <a:p>
            <a:pPr indent="0" marL="0">
              <a:buNone/>
            </a:pPr>
            <a:r>
              <a:rPr lang="en-US" sz="6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Con firmas de ese tamaño, sin una solución de agregación, el sistema es inviable.</a:t>
            </a:r>
          </a:p>
        </p:txBody>
      </p:sp>
      <p:sp>
        <p:nvSpPr>
          <p:cNvPr id="9" name="Shape 7"/>
          <p:cNvSpPr/>
          <p:nvPr/>
        </p:nvSpPr>
        <p:spPr>
          <a:xfrm>
            <a:off x="365760" y="4023360"/>
            <a:ext cx="8412480" cy="548640"/>
          </a:xfrm>
          <a:prstGeom prst="rect">
            <a:avLst/>
          </a:prstGeom>
          <a:solidFill>
            <a:srgbClr val="F5A623">
              <a:alpha val="1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4023360"/>
            <a:ext cx="813816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A623"/>
                </a:solidFill>
              </a:rPr>
              <a:t>⚠  La solución no puede usar álgebra de curvas elípticas — eso rompería la resistencia cuántica. Necesita una alternativa basada en hash.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F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solución: pqSNARK para agregación</a:t>
            </a:r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FDBFE"/>
                </a:solidFill>
              </a:rPr>
              <a:t>Pruebas sucintas post-cuánticas como reemplazo de la agregación BLS</a:t>
            </a:r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14800" cy="1280160"/>
          </a:xfrm>
          <a:prstGeom prst="rect">
            <a:avLst/>
          </a:prstGeom>
          <a:solidFill>
            <a:srgbClr val="0F1E3D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143000"/>
            <a:ext cx="3886200" cy="11887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¿Qué es un pqSNARK?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Una prueba criptográfica que demuestra que se ejecutó un programa correctamente, sin revelar los inputs. Es muy pequeña y rápida de verificar. La “pq” significa que también es resistente a computadoras cuánticas.</a:t>
            </a:r>
          </a:p>
        </p:txBody>
      </p:sp>
      <p:sp>
        <p:nvSpPr>
          <p:cNvPr id="7" name="Shape 5"/>
          <p:cNvSpPr/>
          <p:nvPr/>
        </p:nvSpPr>
        <p:spPr>
          <a:xfrm>
            <a:off x="4663440" y="1097280"/>
            <a:ext cx="4114800" cy="1280160"/>
          </a:xfrm>
          <a:prstGeom prst="rect">
            <a:avLst/>
          </a:prstGeom>
          <a:solidFill>
            <a:srgbClr val="0F1E3D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00600" y="1143000"/>
            <a:ext cx="3886200" cy="11887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</a:rPr>
              <a:t>El flujo de agregación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1. Cada validador firma con su XMSS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2. El Aggregator genera un pqSNARK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3. Firma agregada = argumento SNARK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4. Verificar = correr el verificador (rápido)</a:t>
            </a:r>
          </a:p>
        </p:txBody>
      </p:sp>
      <p:sp>
        <p:nvSpPr>
          <p:cNvPr id="20" name="Shape 20"/>
          <p:cNvSpPr/>
          <p:nvPr/>
        </p:nvSpPr>
        <p:spPr>
          <a:xfrm>
            <a:off x="365760" y="2560320"/>
            <a:ext cx="8412480" cy="320040"/>
          </a:xfrm>
          <a:prstGeom prst="rect">
            <a:avLst/>
          </a:prstGeom>
          <a:solidFill>
            <a:srgbClr val="162D50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1" name="Text 21"/>
          <p:cNvSpPr/>
          <p:nvPr/>
        </p:nvSpPr>
        <p:spPr>
          <a:xfrm>
            <a:off x="365760" y="2560320"/>
            <a:ext cx="8412480" cy="32004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</a:rPr>
              <a:t xml:space="preserve">                                                        Sin agregar                                  Con pqSNARK</a:t>
            </a:r>
          </a:p>
        </p:txBody>
      </p:sp>
      <p:sp>
        <p:nvSpPr>
          <p:cNvPr id="22" name="Shape 22"/>
          <p:cNvSpPr/>
          <p:nvPr/>
        </p:nvSpPr>
        <p:spPr>
          <a:xfrm>
            <a:off x="365760" y="2880360"/>
            <a:ext cx="8412480" cy="822960"/>
          </a:xfrm>
          <a:prstGeom prst="rect">
            <a:avLst/>
          </a:prstGeom>
          <a:solidFill>
            <a:srgbClr val="0F1E3D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3" name="Text 23"/>
          <p:cNvSpPr/>
          <p:nvPr/>
        </p:nvSpPr>
        <p:spPr>
          <a:xfrm>
            <a:off x="365760" y="2880360"/>
            <a:ext cx="8412480" cy="8229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FDBFE"/>
                </a:solidFill>
              </a:rPr>
              <a:t xml:space="preserve">1.000 firmas         </a:t>
            </a:r>
            <a:r>
              <a:rPr lang="en-US" sz="1000" dirty="0">
                <a:solidFill>
                  <a:srgbClr val="EF4444"/>
                </a:solidFill>
              </a:rPr>
              <a:t xml:space="preserve">~2,2 GB                              </a:t>
            </a:r>
            <a:r>
              <a:rPr lang="en-US" sz="1000" dirty="0">
                <a:solidFill>
                  <a:srgbClr val="10B981"/>
                </a:solidFill>
              </a:rPr>
              <a:t>~2-3 MB</a:t>
            </a:r>
          </a:p>
          <a:p>
            <a:pPr indent="0" marL="0">
              <a:buNone/>
            </a:pPr>
            <a:r>
              <a:rPr lang="en-US" sz="1000" b="1" dirty="0">
                <a:solidFill>
                  <a:srgbClr val="BFDBFE"/>
                </a:solidFill>
              </a:rPr>
              <a:t xml:space="preserve">10.000 firmas      </a:t>
            </a:r>
            <a:r>
              <a:rPr lang="en-US" sz="1000" dirty="0">
                <a:solidFill>
                  <a:srgbClr val="EF4444"/>
                </a:solidFill>
              </a:rPr>
              <a:t xml:space="preserve">~22 GB                               </a:t>
            </a:r>
            <a:r>
              <a:rPr lang="en-US" sz="1000" dirty="0">
                <a:solidFill>
                  <a:srgbClr val="10B981"/>
                </a:solidFill>
              </a:rPr>
              <a:t>~2-3 MB</a:t>
            </a:r>
          </a:p>
          <a:p>
            <a:pPr indent="0" marL="0">
              <a:buNone/>
            </a:pPr>
            <a:r>
              <a:rPr lang="en-US" sz="1000" b="1" dirty="0">
                <a:solidFill>
                  <a:srgbClr val="BFDBFE"/>
                </a:solidFill>
              </a:rPr>
              <a:t xml:space="preserve">Verificación          </a:t>
            </a:r>
            <a:r>
              <a:rPr lang="en-US" sz="1000" dirty="0">
                <a:solidFill>
                  <a:srgbClr val="EF4444"/>
                </a:solidFill>
              </a:rPr>
              <a:t xml:space="preserve">k verificaciones                  </a:t>
            </a:r>
            <a:r>
              <a:rPr lang="en-US" sz="1000" dirty="0">
                <a:solidFill>
                  <a:srgbClr val="10B981"/>
                </a:solidFill>
              </a:rPr>
              <a:t>1 verificación</a:t>
            </a:r>
          </a:p>
        </p:txBody>
      </p:sp>
      <p:sp>
        <p:nvSpPr>
          <p:cNvPr id="11" name="Shape 9"/>
          <p:cNvSpPr/>
          <p:nvPr/>
        </p:nvSpPr>
        <p:spPr>
          <a:xfrm>
            <a:off x="365760" y="4023360"/>
            <a:ext cx="8412480" cy="548640"/>
          </a:xfrm>
          <a:prstGeom prst="rect">
            <a:avLst/>
          </a:prstGeom>
          <a:solidFill>
            <a:srgbClr val="10B981">
              <a:alpha val="15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4023360"/>
            <a:ext cx="813816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0B981"/>
                </a:solidFill>
              </a:rPr>
              <a:t>✅  Con más de 1.000 firmantes, la firma agregada es más chica que cualquier firma individual. El tamaño del SNARK no crece con la cantidad de firmantes.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Random Oracle Paradox</a:t>
            </a:r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FDBFE"/>
                </a:solidFill>
              </a:rPr>
              <a:t>Por qué no se puede tomar XMSS existente y meterlo en un SNARK directamente</a:t>
            </a:r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14800" cy="2743200"/>
          </a:xfrm>
          <a:prstGeom prst="rect">
            <a:avLst/>
          </a:prstGeom>
          <a:solidFill>
            <a:srgbClr val="0F1E3D"/>
          </a:solidFill>
          <a:ln w="19050">
            <a:solidFill>
              <a:srgbClr val="F5A62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143000"/>
            <a:ext cx="3886200" cy="2651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</a:rPr>
              <a:t>El problema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950" dirty="0">
                <a:solidFill>
                  <a:srgbClr val="BFDBFE"/>
                </a:solidFill>
              </a:rPr>
              <a:t>Para probar que XMSS es seguro, las pruebas matemáticas asumen que la función hash se comporta como un random oracle: una caja negra mágica que devuelve valores aleatorios.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950" dirty="0">
                <a:solidFill>
                  <a:srgbClr val="BFDBFE"/>
                </a:solidFill>
              </a:rPr>
              <a:t>Pero el SNARK necesita tratar la función hash como un circuito explícito y concreto.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</a:rPr>
              <a:t>Son dos cosas contradictorias: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900" dirty="0">
                <a:solidFill>
                  <a:srgbClr val="BFDBFE"/>
                </a:solidFill>
                <a:latin typeface="Consolas"/>
              </a:rPr>
              <a:t>Prueba de seguridad XMSS:</a:t>
            </a:r>
          </a:p>
          <a:p>
            <a:pPr indent="0" marL="0">
              <a:buNone/>
            </a:pPr>
            <a:r>
              <a:rPr lang="en-US" sz="900" dirty="0">
                <a:solidFill>
                  <a:srgbClr val="BFDBFE"/>
                </a:solidFill>
                <a:latin typeface="Consolas"/>
              </a:rPr>
              <a:t xml:space="preserve">  "hash = caja negra mágica"</a:t>
            </a:r>
          </a:p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onsolas"/>
              </a:rPr>
              <a:t>↕ CONTRADICCIÓN</a:t>
            </a:r>
          </a:p>
          <a:p>
            <a:pPr indent="0" marL="0">
              <a:buNone/>
            </a:pPr>
            <a:r>
              <a:rPr lang="en-US" sz="900" dirty="0">
                <a:solidFill>
                  <a:srgbClr val="BFDBFE"/>
                </a:solidFill>
                <a:latin typeface="Consolas"/>
              </a:rPr>
              <a:t>El SNARK necesita:</a:t>
            </a:r>
          </a:p>
          <a:p>
            <a:pPr indent="0" marL="0">
              <a:buNone/>
            </a:pPr>
            <a:r>
              <a:rPr lang="en-US" sz="900" dirty="0">
                <a:solidFill>
                  <a:srgbClr val="BFDBFE"/>
                </a:solidFill>
                <a:latin typeface="Consolas"/>
              </a:rPr>
              <a:t xml:space="preserve">  "hash = circuito concreto"</a:t>
            </a:r>
          </a:p>
        </p:txBody>
      </p:sp>
      <p:sp>
        <p:nvSpPr>
          <p:cNvPr id="7" name="Shape 5"/>
          <p:cNvSpPr/>
          <p:nvPr/>
        </p:nvSpPr>
        <p:spPr>
          <a:xfrm>
            <a:off x="4663440" y="1097280"/>
            <a:ext cx="4114800" cy="2743200"/>
          </a:xfrm>
          <a:prstGeom prst="rect">
            <a:avLst/>
          </a:prstGeom>
          <a:solidFill>
            <a:srgbClr val="0F1E3D"/>
          </a:solidFill>
          <a:ln w="19050">
            <a:solidFill>
              <a:srgbClr val="4A90D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00600" y="1143000"/>
            <a:ext cx="3886200" cy="2651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A90D9"/>
                </a:solidFill>
              </a:rPr>
              <a:t>La solución del paper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00" dirty="0">
                <a:solidFill>
                  <a:srgbClr val="BFDBFE"/>
                </a:solidFill>
              </a:rPr>
              <a:t>En vez de asumir random oracle, prueban la seguridad usando propiedades concretas de la función hash en el modelo estándar: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50" b="1" dirty="0">
                <a:solidFill>
                  <a:srgbClr val="4A90D9"/>
                </a:solidFill>
              </a:rPr>
              <a:t>SM-TCR</a:t>
            </a:r>
            <a:r>
              <a:rPr lang="en-US" sz="1050" dirty="0">
                <a:solidFill>
                  <a:srgbClr val="BFDBFE"/>
                </a:solidFill>
              </a:rPr>
              <a:t xml:space="preserve">  resistencia a colisiones multi-target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50" b="1" dirty="0">
                <a:solidFill>
                  <a:srgbClr val="4A90D9"/>
                </a:solidFill>
              </a:rPr>
              <a:t>SM-PRE</a:t>
            </a:r>
            <a:r>
              <a:rPr lang="en-US" sz="1050" dirty="0">
                <a:solidFill>
                  <a:srgbClr val="BFDBFE"/>
                </a:solidFill>
              </a:rPr>
              <a:t xml:space="preserve">  resistencia a preimagen multi-target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50" b="1" dirty="0">
                <a:solidFill>
                  <a:srgbClr val="4A90D9"/>
                </a:solidFill>
              </a:rPr>
              <a:t>SM-UD</a:t>
            </a:r>
            <a:r>
              <a:rPr lang="en-US" sz="1050" dirty="0">
                <a:solidFill>
                  <a:srgbClr val="BFDBFE"/>
                </a:solidFill>
              </a:rPr>
              <a:t xml:space="preserve">  indetectabilidad multi-target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00" dirty="0">
                <a:solidFill>
                  <a:srgbClr val="BFDBFE"/>
                </a:solidFill>
              </a:rPr>
              <a:t>Así la función hash puede ser un circuito concreto sin contradicción. Este es uno de los aportes más importantes del paper.</a:t>
            </a:r>
          </a:p>
        </p:txBody>
      </p:sp>
      <p:sp>
        <p:nvSpPr>
          <p:cNvPr id="9" name="Shape 7"/>
          <p:cNvSpPr/>
          <p:nvPr/>
        </p:nvSpPr>
        <p:spPr>
          <a:xfrm>
            <a:off x="365760" y="4023360"/>
            <a:ext cx="8412480" cy="548640"/>
          </a:xfrm>
          <a:prstGeom prst="rect">
            <a:avLst/>
          </a:prstGeom>
          <a:solidFill>
            <a:srgbClr val="4A90D9">
              <a:alpha val="15000"/>
            </a:srgbClr>
          </a:solidFill>
          <a:ln w="1905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4023360"/>
            <a:ext cx="813816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0D9"/>
                </a:solidFill>
              </a:rPr>
              <a:t>Fuente: "Hash-Based Multi-Signatures for Post-Quantum Ethereum" — Drake, Khovratovich, Kudinov, Wagner (Ethereum Foundation / TU Eindhoven, 2025)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B4530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Sum Winternitz (TSW)</a:t>
            </a:r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FDBFE"/>
                </a:solidFill>
              </a:rPr>
              <a:t>La variante nueva que hace eficiente la agregación con SNARKs</a:t>
            </a:r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14800" cy="1371600"/>
          </a:xfrm>
          <a:prstGeom prst="rect">
            <a:avLst/>
          </a:prstGeom>
          <a:solidFill>
            <a:srgbClr val="0F1E3D"/>
          </a:solidFill>
          <a:ln w="19050">
            <a:solidFill>
              <a:srgbClr val="F5A62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143000"/>
            <a:ext cx="3886200" cy="12801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</a:rPr>
              <a:t>Winternitz clásico (problema)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El número de hashes al verificar depende del mensaje: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 xml:space="preserve">  • Varía en cada verificación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 xml:space="preserve">  • Circuito SNARK de tamaño variable → muy costoso</a:t>
            </a:r>
          </a:p>
        </p:txBody>
      </p:sp>
      <p:sp>
        <p:nvSpPr>
          <p:cNvPr id="7" name="Shape 5"/>
          <p:cNvSpPr/>
          <p:nvPr/>
        </p:nvSpPr>
        <p:spPr>
          <a:xfrm>
            <a:off x="4663440" y="1097280"/>
            <a:ext cx="4114800" cy="1371600"/>
          </a:xfrm>
          <a:prstGeom prst="rect">
            <a:avLst/>
          </a:prstGeom>
          <a:solidFill>
            <a:srgbClr val="0F1E3D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00600" y="1143000"/>
            <a:ext cx="3886200" cy="12801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</a:rPr>
              <a:t>La solución TSW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Exige que la suma de todos los dígitos del encoding sea exactamente T (un target fijo).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BFDBFE"/>
                </a:solidFill>
              </a:rPr>
              <a:t>Si el hash no suma T → se rehashea con nueva aleatoriedad hasta lograrlo.</a:t>
            </a:r>
          </a:p>
        </p:txBody>
      </p:sp>
      <p:sp>
        <p:nvSpPr>
          <p:cNvPr id="30" name="Shape 30"/>
          <p:cNvSpPr/>
          <p:nvPr/>
        </p:nvSpPr>
        <p:spPr>
          <a:xfrm>
            <a:off x="365760" y="2651760"/>
            <a:ext cx="2651760" cy="594360"/>
          </a:xfrm>
          <a:prstGeom prst="rect">
            <a:avLst/>
          </a:prstGeom>
          <a:solidFill>
            <a:srgbClr val="0F1E3D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31" name="Text 31"/>
          <p:cNvSpPr/>
          <p:nvPr/>
        </p:nvSpPr>
        <p:spPr>
          <a:xfrm>
            <a:off x="365760" y="2651760"/>
            <a:ext cx="26517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✅ Sin checksum</a:t>
            </a:r>
          </a:p>
          <a:p>
            <a:pPr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Firma más pequeña</a:t>
            </a:r>
          </a:p>
        </p:txBody>
      </p:sp>
      <p:sp>
        <p:nvSpPr>
          <p:cNvPr id="32" name="Shape 32"/>
          <p:cNvSpPr/>
          <p:nvPr/>
        </p:nvSpPr>
        <p:spPr>
          <a:xfrm>
            <a:off x="3200400" y="2651760"/>
            <a:ext cx="2651760" cy="594360"/>
          </a:xfrm>
          <a:prstGeom prst="rect">
            <a:avLst/>
          </a:prstGeom>
          <a:solidFill>
            <a:srgbClr val="0F1E3D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33" name="Text 33"/>
          <p:cNvSpPr/>
          <p:nvPr/>
        </p:nvSpPr>
        <p:spPr>
          <a:xfrm>
            <a:off x="3200400" y="2651760"/>
            <a:ext cx="26517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✅ Verificación determinística</a:t>
            </a:r>
          </a:p>
          <a:p>
            <a:pPr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Siempre misma cantidad de hashes</a:t>
            </a:r>
          </a:p>
        </p:txBody>
      </p:sp>
      <p:sp>
        <p:nvSpPr>
          <p:cNvPr id="34" name="Shape 34"/>
          <p:cNvSpPr/>
          <p:nvPr/>
        </p:nvSpPr>
        <p:spPr>
          <a:xfrm>
            <a:off x="6035040" y="2651760"/>
            <a:ext cx="2743200" cy="594360"/>
          </a:xfrm>
          <a:prstGeom prst="rect">
            <a:avLst/>
          </a:prstGeom>
          <a:solidFill>
            <a:srgbClr val="0F1E3D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35" name="Text 35"/>
          <p:cNvSpPr/>
          <p:nvPr/>
        </p:nvSpPr>
        <p:spPr>
          <a:xfrm>
            <a:off x="6035040" y="2651760"/>
            <a:ext cx="27432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✅ Circuito SNARK fijo</a:t>
            </a:r>
          </a:p>
          <a:p>
            <a:pPr indent="0" marL="0">
              <a:buNone/>
            </a:pPr>
            <a:r>
              <a:rPr lang="en-US" sz="900" dirty="0">
                <a:solidFill>
                  <a:srgbClr val="BFDBFE"/>
                </a:solidFill>
              </a:rPr>
              <a:t>Eficiencia predecible</a:t>
            </a:r>
          </a:p>
        </p:txBody>
      </p:sp>
      <p:sp>
        <p:nvSpPr>
          <p:cNvPr id="40" name="Shape 40"/>
          <p:cNvSpPr/>
          <p:nvPr/>
        </p:nvSpPr>
        <p:spPr>
          <a:xfrm>
            <a:off x="365760" y="3428996"/>
            <a:ext cx="8412480" cy="411480"/>
          </a:xfrm>
          <a:prstGeom prst="rect">
            <a:avLst/>
          </a:prstGeom>
          <a:solidFill>
            <a:srgbClr val="0F1E3D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41" name="Text 41"/>
          <p:cNvSpPr/>
          <p:nvPr/>
        </p:nvSpPr>
        <p:spPr>
          <a:xfrm>
            <a:off x="502920" y="3428996"/>
            <a:ext cx="8138160" cy="411480"/>
          </a:xfrm>
          <a:prstGeom prst="rect">
            <a:avLst/>
          </a:prstGeom>
          <a:noFill/>
          <a:ln/>
        </p:spPr>
        <p:txBody>
          <a:bodyPr wrap="square" lIns="91440" tIns="27432" rIns="91440" bIns="27432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FDBFE"/>
                </a:solidFill>
                <a:latin typeface="Consolas"/>
              </a:rPr>
              <a:t>T grande → menos hashes en verificación → más reintentos al firmar</a:t>
            </a:r>
          </a:p>
          <a:p>
            <a:pPr indent="0" marL="0">
              <a:buNone/>
            </a:pPr>
            <a:r>
              <a:rPr lang="en-US" sz="900" dirty="0">
                <a:solidFill>
                  <a:srgbClr val="BFDBFE"/>
                </a:solidFill>
                <a:latin typeface="Consolas"/>
              </a:rPr>
              <a:t>T chico  → más hashes en verificación  → menos reintentos al firmar</a:t>
            </a:r>
          </a:p>
        </p:txBody>
      </p:sp>
      <p:sp>
        <p:nvSpPr>
          <p:cNvPr id="11" name="Shape 9"/>
          <p:cNvSpPr/>
          <p:nvPr/>
        </p:nvSpPr>
        <p:spPr>
          <a:xfrm>
            <a:off x="365760" y="4023360"/>
            <a:ext cx="8412480" cy="548640"/>
          </a:xfrm>
          <a:prstGeom prst="rect">
            <a:avLst/>
          </a:prstGeom>
          <a:solidFill>
            <a:srgbClr val="F5A623">
              <a:alpha val="1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4023360"/>
            <a:ext cx="813816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A623"/>
                </a:solidFill>
              </a:rPr>
              <a:t>⚠  TSW es una de las novedades principales del paper. Elimina el checksum y le da al circuito SNARK un tamaño fijo y predecible, clave para la eficiencia en producción.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8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F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concretos del paper</a:t>
            </a:r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FDBFE"/>
                </a:solidFill>
              </a:rPr>
              <a:t>Parámetros: seguridad NIST Level 1 — 128 bits clásicos, 64 bits cuánticos</a:t>
            </a:r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14800" cy="1554480"/>
          </a:xfrm>
          <a:prstGeom prst="rect">
            <a:avLst/>
          </a:prstGeom>
          <a:solidFill>
            <a:srgbClr val="0F1E3D"/>
          </a:solidFill>
          <a:ln w="19050">
            <a:solidFill>
              <a:srgbClr val="F5A62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143000"/>
            <a:ext cx="3886200" cy="1462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Firma individual (SHA-3, TSW, w=2)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00" b="1" dirty="0">
                <a:solidFill>
                  <a:srgbClr val="BFDBFE"/>
                </a:solidFill>
              </a:rPr>
              <a:t xml:space="preserve">Tamaño de firma:  </a:t>
            </a:r>
            <a:r>
              <a:rPr lang="en-US" sz="1000" dirty="0">
                <a:solidFill>
                  <a:srgbClr val="F5A623"/>
                </a:solidFill>
              </a:rPr>
              <a:t>~2,22 KiB</a:t>
            </a:r>
          </a:p>
          <a:p>
            <a:pPr indent="0" marL="0">
              <a:buNone/>
            </a:pPr>
            <a:r>
              <a:rPr lang="en-US" sz="1000" b="1" dirty="0">
                <a:solidFill>
                  <a:srgbClr val="BFDBFE"/>
                </a:solidFill>
              </a:rPr>
              <a:t xml:space="preserve">Gen. de claves:  </a:t>
            </a:r>
            <a:r>
              <a:rPr lang="en-US" sz="1000" dirty="0">
                <a:solidFill>
                  <a:srgbClr val="BFDBFE"/>
                </a:solidFill>
              </a:rPr>
              <a:t>~16 segundos</a:t>
            </a:r>
          </a:p>
          <a:p>
            <a:pPr indent="0" marL="0">
              <a:buNone/>
            </a:pPr>
            <a:r>
              <a:rPr lang="en-US" sz="1000" b="1" dirty="0">
                <a:solidFill>
                  <a:srgbClr val="BFDBFE"/>
                </a:solidFill>
              </a:rPr>
              <a:t xml:space="preserve">Tiempo de firma:  </a:t>
            </a:r>
            <a:r>
              <a:rPr lang="en-US" sz="1000" dirty="0">
                <a:solidFill>
                  <a:srgbClr val="BFDBFE"/>
                </a:solidFill>
              </a:rPr>
              <a:t>~55 µs</a:t>
            </a:r>
          </a:p>
          <a:p>
            <a:pPr indent="0" marL="0">
              <a:buNone/>
            </a:pPr>
            <a:r>
              <a:rPr lang="en-US" sz="1000" b="1" dirty="0">
                <a:solidFill>
                  <a:srgbClr val="BFDBFE"/>
                </a:solidFill>
              </a:rPr>
              <a:t xml:space="preserve">Verificación:  </a:t>
            </a:r>
            <a:r>
              <a:rPr lang="en-US" sz="1000" dirty="0">
                <a:solidFill>
                  <a:srgbClr val="BFDBFE"/>
                </a:solidFill>
              </a:rPr>
              <a:t>~26 µs (~259 hashes)</a:t>
            </a:r>
          </a:p>
        </p:txBody>
      </p:sp>
      <p:sp>
        <p:nvSpPr>
          <p:cNvPr id="7" name="Shape 5"/>
          <p:cNvSpPr/>
          <p:nvPr/>
        </p:nvSpPr>
        <p:spPr>
          <a:xfrm>
            <a:off x="4663440" y="1097280"/>
            <a:ext cx="4114800" cy="1554480"/>
          </a:xfrm>
          <a:prstGeom prst="rect">
            <a:avLst/>
          </a:prstGeom>
          <a:solidFill>
            <a:srgbClr val="0F1E3D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00600" y="1143000"/>
            <a:ext cx="3886200" cy="1462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</a:rPr>
              <a:t>Agregación (con Poseidon2)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1000" b="1" dirty="0">
                <a:solidFill>
                  <a:srgbClr val="BFDBFE"/>
                </a:solidFill>
              </a:rPr>
              <a:t xml:space="preserve">Firmas/seg:  </a:t>
            </a:r>
            <a:r>
              <a:rPr lang="en-US" sz="1000" dirty="0">
                <a:solidFill>
                  <a:srgbClr val="3B82F6"/>
                </a:solidFill>
              </a:rPr>
              <a:t>~10.000</a:t>
            </a:r>
          </a:p>
          <a:p>
            <a:pPr indent="0" marL="0">
              <a:buNone/>
            </a:pPr>
            <a:r>
              <a:rPr lang="en-US" sz="1000" b="1" dirty="0">
                <a:solidFill>
                  <a:srgbClr val="BFDBFE"/>
                </a:solidFill>
              </a:rPr>
              <a:t xml:space="preserve">Plonky3/FRI:  </a:t>
            </a:r>
            <a:r>
              <a:rPr lang="en-US" sz="1000" dirty="0">
                <a:solidFill>
                  <a:srgbClr val="BFDBFE"/>
                </a:solidFill>
              </a:rPr>
              <a:t>2-3 MB</a:t>
            </a:r>
          </a:p>
          <a:p>
            <a:pPr indent="0" marL="0">
              <a:buNone/>
            </a:pPr>
            <a:r>
              <a:rPr lang="en-US" sz="1000" b="1" dirty="0">
                <a:solidFill>
                  <a:srgbClr val="BFDBFE"/>
                </a:solidFill>
              </a:rPr>
              <a:t xml:space="preserve">STIR/WHIR:  </a:t>
            </a:r>
            <a:r>
              <a:rPr lang="en-US" sz="1000" dirty="0">
                <a:solidFill>
                  <a:srgbClr val="BFDBFE"/>
                </a:solidFill>
              </a:rPr>
              <a:t>&lt; 1 MB (estimado)</a:t>
            </a:r>
          </a:p>
          <a:p>
            <a:pPr indent="0" marL="0">
              <a:buNone/>
            </a:pPr>
            <a:r>
              <a:rPr lang="en-US" sz="4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</a:rPr>
              <a:t>Poseidon2: ~10x más lento en CPU que SHA-3 pero mucho más eficiente dentro del circuito SNARK.</a:t>
            </a:r>
          </a:p>
        </p:txBody>
      </p:sp>
      <p:sp>
        <p:nvSpPr>
          <p:cNvPr id="9" name="Shape 7"/>
          <p:cNvSpPr/>
          <p:nvPr/>
        </p:nvSpPr>
        <p:spPr>
          <a:xfrm>
            <a:off x="365760" y="2834640"/>
            <a:ext cx="8412480" cy="1005840"/>
          </a:xfrm>
          <a:prstGeom prst="rect">
            <a:avLst/>
          </a:prstGeom>
          <a:solidFill>
            <a:srgbClr val="0F1E3D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" y="2880360"/>
            <a:ext cx="8138160" cy="914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</a:rPr>
              <a:t>Comparación con otros esquemas</a:t>
            </a:r>
          </a:p>
          <a:p>
            <a:pPr indent="0" marL="0">
              <a:buNone/>
            </a:pPr>
            <a:r>
              <a:rPr lang="en-US" sz="300" dirty="0">
                <a:solidFill>
                  <a:srgbClr val="080E1A"/>
                </a:solidFill>
              </a:rPr>
              <a:t xml:space="preserve"> </a:t>
            </a:r>
          </a:p>
          <a:p>
            <a:pPr indent="0" marL="0">
              <a:buNone/>
            </a:pPr>
            <a:r>
              <a:rPr lang="en-US" sz="950" b="1" dirty="0">
                <a:solidFill>
                  <a:srgbClr val="F5A623"/>
                </a:solidFill>
              </a:rPr>
              <a:t xml:space="preserve">Este paper          </a:t>
            </a:r>
            <a:r>
              <a:rPr lang="en-US" sz="950" dirty="0">
                <a:solidFill>
                  <a:srgbClr val="10B981"/>
                </a:solidFill>
              </a:rPr>
              <a:t xml:space="preserve">✅ Agrega     </a:t>
            </a:r>
            <a:r>
              <a:rPr lang="en-US" sz="950" dirty="0">
                <a:solidFill>
                  <a:srgbClr val="BFDBFE"/>
                </a:solidFill>
              </a:rPr>
              <a:t>~1-4 KiB</a:t>
            </a:r>
          </a:p>
          <a:p>
            <a:pPr indent="0" marL="0">
              <a:buNone/>
            </a:pPr>
            <a:r>
              <a:rPr lang="en-US" sz="950" dirty="0">
                <a:solidFill>
                  <a:srgbClr val="BFDBFE"/>
                </a:solidFill>
              </a:rPr>
              <a:t>Khaburzaniya       ✅ Agrega     ~8 KiB</a:t>
            </a:r>
          </a:p>
          <a:p>
            <a:pPr indent="0" marL="0">
              <a:buNone/>
            </a:pPr>
            <a:r>
              <a:rPr lang="en-US" sz="950" dirty="0">
                <a:solidFill>
                  <a:srgbClr val="BFDBFE"/>
                </a:solidFill>
              </a:rPr>
              <a:t>Squirrel/Chipmunk  ✅ Agrega     &gt;32 KiB</a:t>
            </a:r>
          </a:p>
          <a:p>
            <a:pPr indent="0" marL="0">
              <a:buNone/>
            </a:pPr>
            <a:r>
              <a:rPr lang="en-US" sz="950" dirty="0">
                <a:solidFill>
                  <a:srgbClr val="BFDBFE"/>
                </a:solidFill>
              </a:rPr>
              <a:t xml:space="preserve">SPHINCS+              </a:t>
            </a:r>
            <a:r>
              <a:rPr lang="en-US" sz="950" dirty="0">
                <a:solidFill>
                  <a:srgbClr val="EF4444"/>
                </a:solidFill>
              </a:rPr>
              <a:t xml:space="preserve">❌ No agrega  </a:t>
            </a:r>
            <a:r>
              <a:rPr lang="en-US" sz="950" dirty="0">
                <a:solidFill>
                  <a:srgbClr val="BFDBFE"/>
                </a:solidFill>
              </a:rPr>
              <a:t>~8-50 KiB</a:t>
            </a:r>
          </a:p>
        </p:txBody>
      </p:sp>
      <p:sp>
        <p:nvSpPr>
          <p:cNvPr id="11" name="Shape 9"/>
          <p:cNvSpPr/>
          <p:nvPr/>
        </p:nvSpPr>
        <p:spPr>
          <a:xfrm>
            <a:off x="365760" y="4023360"/>
            <a:ext cx="8412480" cy="548640"/>
          </a:xfrm>
          <a:prstGeom prst="rect">
            <a:avLst/>
          </a:prstGeom>
          <a:solidFill>
            <a:srgbClr val="10B981">
              <a:alpha val="15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4023360"/>
            <a:ext cx="813816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</a:rPr>
              <a:t>✅  Este esquema tiene las firmas individuales más pequeñas de todos los que soportan agregación. Es la propuesta más eficiente para proof-of-stake post-cuántico a la fecha.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XMSS - Firmas Digitales Post-Cuánticas</dc:title>
  <dc:subject>PptxGenJS Presentation</dc:subject>
  <dc:creator>PptxGenJS</dc:creator>
  <cp:lastModifiedBy>PptxGenJS</cp:lastModifiedBy>
  <cp:revision>1</cp:revision>
  <dcterms:created xsi:type="dcterms:W3CDTF">2026-03-16T01:54:05Z</dcterms:created>
  <dcterms:modified xsi:type="dcterms:W3CDTF">2026-03-16T01:54:05Z</dcterms:modified>
</cp:coreProperties>
</file>