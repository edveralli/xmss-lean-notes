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70" r:id="rId21"/>
    <p:sldId id="271" r:id="rId22"/>
    <p:sldId id="272" r:id="rId23"/>
    <p:sldId id="273" r:id="rId24"/>
    <p:sldId id="274" r:id="rId25"/>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E1A"/>
        </a:solidFill>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6350">
            <a:solidFill>
              <a:srgbClr val="1E3A5F"/>
            </a:solidFill>
            <a:prstDash val="solid"/>
          </a:ln>
        </p:spPr>
      </p:sp>
      <p:sp>
        <p:nvSpPr>
          <p:cNvPr id="3" name="Shape 1"/>
          <p:cNvSpPr/>
          <p:nvPr/>
        </p:nvSpPr>
        <p:spPr>
          <a:xfrm>
            <a:off x="0" y="0"/>
            <a:ext cx="9144000" cy="0"/>
          </a:xfrm>
          <a:prstGeom prst="line">
            <a:avLst/>
          </a:prstGeom>
          <a:noFill/>
          <a:ln w="6350">
            <a:solidFill>
              <a:srgbClr val="1E3A5F"/>
            </a:solidFill>
            <a:prstDash val="solid"/>
          </a:ln>
        </p:spPr>
      </p:sp>
      <p:sp>
        <p:nvSpPr>
          <p:cNvPr id="4" name="Shape 2"/>
          <p:cNvSpPr/>
          <p:nvPr/>
        </p:nvSpPr>
        <p:spPr>
          <a:xfrm>
            <a:off x="1005840" y="0"/>
            <a:ext cx="0" cy="5143500"/>
          </a:xfrm>
          <a:prstGeom prst="line">
            <a:avLst/>
          </a:prstGeom>
          <a:noFill/>
          <a:ln w="6350">
            <a:solidFill>
              <a:srgbClr val="1E3A5F"/>
            </a:solidFill>
            <a:prstDash val="solid"/>
          </a:ln>
        </p:spPr>
      </p:sp>
      <p:sp>
        <p:nvSpPr>
          <p:cNvPr id="5" name="Shape 3"/>
          <p:cNvSpPr/>
          <p:nvPr/>
        </p:nvSpPr>
        <p:spPr>
          <a:xfrm>
            <a:off x="0" y="594360"/>
            <a:ext cx="9144000" cy="0"/>
          </a:xfrm>
          <a:prstGeom prst="line">
            <a:avLst/>
          </a:prstGeom>
          <a:noFill/>
          <a:ln w="6350">
            <a:solidFill>
              <a:srgbClr val="1E3A5F"/>
            </a:solidFill>
            <a:prstDash val="solid"/>
          </a:ln>
        </p:spPr>
      </p:sp>
      <p:sp>
        <p:nvSpPr>
          <p:cNvPr id="6" name="Shape 4"/>
          <p:cNvSpPr/>
          <p:nvPr/>
        </p:nvSpPr>
        <p:spPr>
          <a:xfrm>
            <a:off x="2011680" y="0"/>
            <a:ext cx="0" cy="5143500"/>
          </a:xfrm>
          <a:prstGeom prst="line">
            <a:avLst/>
          </a:prstGeom>
          <a:noFill/>
          <a:ln w="6350">
            <a:solidFill>
              <a:srgbClr val="1E3A5F"/>
            </a:solidFill>
            <a:prstDash val="solid"/>
          </a:ln>
        </p:spPr>
      </p:sp>
      <p:sp>
        <p:nvSpPr>
          <p:cNvPr id="7" name="Shape 5"/>
          <p:cNvSpPr/>
          <p:nvPr/>
        </p:nvSpPr>
        <p:spPr>
          <a:xfrm>
            <a:off x="0" y="1188720"/>
            <a:ext cx="9144000" cy="0"/>
          </a:xfrm>
          <a:prstGeom prst="line">
            <a:avLst/>
          </a:prstGeom>
          <a:noFill/>
          <a:ln w="6350">
            <a:solidFill>
              <a:srgbClr val="1E3A5F"/>
            </a:solidFill>
            <a:prstDash val="solid"/>
          </a:ln>
        </p:spPr>
      </p:sp>
      <p:sp>
        <p:nvSpPr>
          <p:cNvPr id="8" name="Shape 6"/>
          <p:cNvSpPr/>
          <p:nvPr/>
        </p:nvSpPr>
        <p:spPr>
          <a:xfrm>
            <a:off x="3017520" y="0"/>
            <a:ext cx="0" cy="5143500"/>
          </a:xfrm>
          <a:prstGeom prst="line">
            <a:avLst/>
          </a:prstGeom>
          <a:noFill/>
          <a:ln w="6350">
            <a:solidFill>
              <a:srgbClr val="1E3A5F"/>
            </a:solidFill>
            <a:prstDash val="solid"/>
          </a:ln>
        </p:spPr>
      </p:sp>
      <p:sp>
        <p:nvSpPr>
          <p:cNvPr id="9" name="Shape 7"/>
          <p:cNvSpPr/>
          <p:nvPr/>
        </p:nvSpPr>
        <p:spPr>
          <a:xfrm>
            <a:off x="0" y="1783080"/>
            <a:ext cx="9144000" cy="0"/>
          </a:xfrm>
          <a:prstGeom prst="line">
            <a:avLst/>
          </a:prstGeom>
          <a:noFill/>
          <a:ln w="6350">
            <a:solidFill>
              <a:srgbClr val="1E3A5F"/>
            </a:solidFill>
            <a:prstDash val="solid"/>
          </a:ln>
        </p:spPr>
      </p:sp>
      <p:sp>
        <p:nvSpPr>
          <p:cNvPr id="10" name="Shape 8"/>
          <p:cNvSpPr/>
          <p:nvPr/>
        </p:nvSpPr>
        <p:spPr>
          <a:xfrm>
            <a:off x="4023360" y="0"/>
            <a:ext cx="0" cy="5143500"/>
          </a:xfrm>
          <a:prstGeom prst="line">
            <a:avLst/>
          </a:prstGeom>
          <a:noFill/>
          <a:ln w="6350">
            <a:solidFill>
              <a:srgbClr val="1E3A5F"/>
            </a:solidFill>
            <a:prstDash val="solid"/>
          </a:ln>
        </p:spPr>
      </p:sp>
      <p:sp>
        <p:nvSpPr>
          <p:cNvPr id="11" name="Shape 9"/>
          <p:cNvSpPr/>
          <p:nvPr/>
        </p:nvSpPr>
        <p:spPr>
          <a:xfrm>
            <a:off x="0" y="2377440"/>
            <a:ext cx="9144000" cy="0"/>
          </a:xfrm>
          <a:prstGeom prst="line">
            <a:avLst/>
          </a:prstGeom>
          <a:noFill/>
          <a:ln w="6350">
            <a:solidFill>
              <a:srgbClr val="1E3A5F"/>
            </a:solidFill>
            <a:prstDash val="solid"/>
          </a:ln>
        </p:spPr>
      </p:sp>
      <p:sp>
        <p:nvSpPr>
          <p:cNvPr id="12" name="Shape 10"/>
          <p:cNvSpPr/>
          <p:nvPr/>
        </p:nvSpPr>
        <p:spPr>
          <a:xfrm>
            <a:off x="5029200" y="0"/>
            <a:ext cx="0" cy="5143500"/>
          </a:xfrm>
          <a:prstGeom prst="line">
            <a:avLst/>
          </a:prstGeom>
          <a:noFill/>
          <a:ln w="6350">
            <a:solidFill>
              <a:srgbClr val="1E3A5F"/>
            </a:solidFill>
            <a:prstDash val="solid"/>
          </a:ln>
        </p:spPr>
      </p:sp>
      <p:sp>
        <p:nvSpPr>
          <p:cNvPr id="13" name="Shape 11"/>
          <p:cNvSpPr/>
          <p:nvPr/>
        </p:nvSpPr>
        <p:spPr>
          <a:xfrm>
            <a:off x="0" y="2971800"/>
            <a:ext cx="9144000" cy="0"/>
          </a:xfrm>
          <a:prstGeom prst="line">
            <a:avLst/>
          </a:prstGeom>
          <a:noFill/>
          <a:ln w="6350">
            <a:solidFill>
              <a:srgbClr val="1E3A5F"/>
            </a:solidFill>
            <a:prstDash val="solid"/>
          </a:ln>
        </p:spPr>
      </p:sp>
      <p:sp>
        <p:nvSpPr>
          <p:cNvPr id="14" name="Shape 12"/>
          <p:cNvSpPr/>
          <p:nvPr/>
        </p:nvSpPr>
        <p:spPr>
          <a:xfrm>
            <a:off x="6035040" y="0"/>
            <a:ext cx="0" cy="5143500"/>
          </a:xfrm>
          <a:prstGeom prst="line">
            <a:avLst/>
          </a:prstGeom>
          <a:noFill/>
          <a:ln w="6350">
            <a:solidFill>
              <a:srgbClr val="1E3A5F"/>
            </a:solidFill>
            <a:prstDash val="solid"/>
          </a:ln>
        </p:spPr>
      </p:sp>
      <p:sp>
        <p:nvSpPr>
          <p:cNvPr id="15" name="Shape 13"/>
          <p:cNvSpPr/>
          <p:nvPr/>
        </p:nvSpPr>
        <p:spPr>
          <a:xfrm>
            <a:off x="0" y="3566160"/>
            <a:ext cx="9144000" cy="0"/>
          </a:xfrm>
          <a:prstGeom prst="line">
            <a:avLst/>
          </a:prstGeom>
          <a:noFill/>
          <a:ln w="6350">
            <a:solidFill>
              <a:srgbClr val="1E3A5F"/>
            </a:solidFill>
            <a:prstDash val="solid"/>
          </a:ln>
        </p:spPr>
      </p:sp>
      <p:sp>
        <p:nvSpPr>
          <p:cNvPr id="16" name="Shape 14"/>
          <p:cNvSpPr/>
          <p:nvPr/>
        </p:nvSpPr>
        <p:spPr>
          <a:xfrm>
            <a:off x="7040880" y="0"/>
            <a:ext cx="0" cy="5143500"/>
          </a:xfrm>
          <a:prstGeom prst="line">
            <a:avLst/>
          </a:prstGeom>
          <a:noFill/>
          <a:ln w="6350">
            <a:solidFill>
              <a:srgbClr val="1E3A5F"/>
            </a:solidFill>
            <a:prstDash val="solid"/>
          </a:ln>
        </p:spPr>
      </p:sp>
      <p:sp>
        <p:nvSpPr>
          <p:cNvPr id="17" name="Shape 15"/>
          <p:cNvSpPr/>
          <p:nvPr/>
        </p:nvSpPr>
        <p:spPr>
          <a:xfrm>
            <a:off x="0" y="4160520"/>
            <a:ext cx="9144000" cy="0"/>
          </a:xfrm>
          <a:prstGeom prst="line">
            <a:avLst/>
          </a:prstGeom>
          <a:noFill/>
          <a:ln w="6350">
            <a:solidFill>
              <a:srgbClr val="1E3A5F"/>
            </a:solidFill>
            <a:prstDash val="solid"/>
          </a:ln>
        </p:spPr>
      </p:sp>
      <p:sp>
        <p:nvSpPr>
          <p:cNvPr id="18" name="Shape 16"/>
          <p:cNvSpPr/>
          <p:nvPr/>
        </p:nvSpPr>
        <p:spPr>
          <a:xfrm>
            <a:off x="8046720" y="0"/>
            <a:ext cx="0" cy="5143500"/>
          </a:xfrm>
          <a:prstGeom prst="line">
            <a:avLst/>
          </a:prstGeom>
          <a:noFill/>
          <a:ln w="6350">
            <a:solidFill>
              <a:srgbClr val="1E3A5F"/>
            </a:solidFill>
            <a:prstDash val="solid"/>
          </a:ln>
        </p:spPr>
      </p:sp>
      <p:sp>
        <p:nvSpPr>
          <p:cNvPr id="19" name="Shape 17"/>
          <p:cNvSpPr/>
          <p:nvPr/>
        </p:nvSpPr>
        <p:spPr>
          <a:xfrm>
            <a:off x="0" y="4754880"/>
            <a:ext cx="9144000" cy="0"/>
          </a:xfrm>
          <a:prstGeom prst="line">
            <a:avLst/>
          </a:prstGeom>
          <a:noFill/>
          <a:ln w="6350">
            <a:solidFill>
              <a:srgbClr val="1E3A5F"/>
            </a:solidFill>
            <a:prstDash val="solid"/>
          </a:ln>
        </p:spPr>
      </p:sp>
      <p:sp>
        <p:nvSpPr>
          <p:cNvPr id="20" name="Shape 18"/>
          <p:cNvSpPr/>
          <p:nvPr/>
        </p:nvSpPr>
        <p:spPr>
          <a:xfrm>
            <a:off x="9052560" y="0"/>
            <a:ext cx="0" cy="5143500"/>
          </a:xfrm>
          <a:prstGeom prst="line">
            <a:avLst/>
          </a:prstGeom>
          <a:noFill/>
          <a:ln w="6350">
            <a:solidFill>
              <a:srgbClr val="1E3A5F"/>
            </a:solidFill>
            <a:prstDash val="solid"/>
          </a:ln>
        </p:spPr>
      </p:sp>
      <p:sp>
        <p:nvSpPr>
          <p:cNvPr id="21" name="Shape 19"/>
          <p:cNvSpPr/>
          <p:nvPr/>
        </p:nvSpPr>
        <p:spPr>
          <a:xfrm>
            <a:off x="0" y="5349240"/>
            <a:ext cx="9144000" cy="0"/>
          </a:xfrm>
          <a:prstGeom prst="line">
            <a:avLst/>
          </a:prstGeom>
          <a:noFill/>
          <a:ln w="6350">
            <a:solidFill>
              <a:srgbClr val="1E3A5F"/>
            </a:solidFill>
            <a:prstDash val="solid"/>
          </a:ln>
        </p:spPr>
      </p:sp>
      <p:sp>
        <p:nvSpPr>
          <p:cNvPr id="22" name="Shape 20"/>
          <p:cNvSpPr/>
          <p:nvPr/>
        </p:nvSpPr>
        <p:spPr>
          <a:xfrm>
            <a:off x="2286000" y="457200"/>
            <a:ext cx="4572000" cy="4114800"/>
          </a:xfrm>
          <a:prstGeom prst="ellipse">
            <a:avLst/>
          </a:prstGeom>
          <a:solidFill>
            <a:srgbClr val="2563EB">
              <a:alpha val="12000"/>
            </a:srgbClr>
          </a:solidFill>
          <a:ln w="12700">
            <a:solidFill>
              <a:srgbClr val="2563EB">
                <a:alpha val="5000"/>
              </a:srgbClr>
            </a:solidFill>
            <a:prstDash val="solid"/>
          </a:ln>
        </p:spPr>
      </p:sp>
      <p:sp>
        <p:nvSpPr>
          <p:cNvPr id="23" name="Shape 21"/>
          <p:cNvSpPr/>
          <p:nvPr/>
        </p:nvSpPr>
        <p:spPr>
          <a:xfrm>
            <a:off x="3200400" y="548640"/>
            <a:ext cx="2743200" cy="365760"/>
          </a:xfrm>
          <a:prstGeom prst="rect">
            <a:avLst/>
          </a:prstGeom>
          <a:solidFill>
            <a:srgbClr val="1D4ED8"/>
          </a:solidFill>
          <a:ln w="12700">
            <a:solidFill>
              <a:srgbClr val="333333"/>
            </a:solidFill>
            <a:prstDash val="solid"/>
          </a:ln>
        </p:spPr>
      </p:sp>
      <p:sp>
        <p:nvSpPr>
          <p:cNvPr id="24" name="Text 22"/>
          <p:cNvSpPr/>
          <p:nvPr/>
        </p:nvSpPr>
        <p:spPr>
          <a:xfrm>
            <a:off x="3200400" y="548640"/>
            <a:ext cx="2743200" cy="365760"/>
          </a:xfrm>
          <a:prstGeom prst="rect">
            <a:avLst/>
          </a:prstGeom>
          <a:noFill/>
          <a:ln/>
        </p:spPr>
        <p:txBody>
          <a:bodyPr wrap="square" lIns="0" tIns="0" rIns="0" bIns="0" rtlCol="0" anchor="ctr"/>
          <a:lstStyle/>
          <a:p>
            <a:pPr algn="ctr" indent="0" marL="0">
              <a:buNone/>
            </a:pPr>
            <a:r>
              <a:rPr lang="en-US" sz="900" b="1" spc="200" kern="0" dirty="0">
                <a:solidFill>
                  <a:srgbClr val="BFDBFE"/>
                </a:solidFill>
              </a:rPr>
              <a:t>CRIPTOGRAFÍA POST-CUÁNTICA</a:t>
            </a:r>
            <a:endParaRPr lang="en-US" sz="900" dirty="0"/>
          </a:p>
        </p:txBody>
      </p:sp>
      <p:sp>
        <p:nvSpPr>
          <p:cNvPr id="25" name="Text 23"/>
          <p:cNvSpPr/>
          <p:nvPr/>
        </p:nvSpPr>
        <p:spPr>
          <a:xfrm>
            <a:off x="457200" y="1051560"/>
            <a:ext cx="8229600" cy="1463040"/>
          </a:xfrm>
          <a:prstGeom prst="rect">
            <a:avLst/>
          </a:prstGeom>
          <a:noFill/>
          <a:ln/>
        </p:spPr>
        <p:txBody>
          <a:bodyPr wrap="square" lIns="0" tIns="0" rIns="0" bIns="0" rtlCol="0" anchor="ctr"/>
          <a:lstStyle/>
          <a:p>
            <a:pPr algn="ctr" indent="0" marL="0">
              <a:buNone/>
            </a:pPr>
            <a:r>
              <a:rPr lang="en-US" sz="9600" b="1" dirty="0">
                <a:solidFill>
                  <a:srgbClr val="F8FAFC"/>
                </a:solidFill>
                <a:latin typeface="Arial Black" pitchFamily="34" charset="0"/>
                <a:ea typeface="Arial Black" pitchFamily="34" charset="-122"/>
                <a:cs typeface="Arial Black" pitchFamily="34" charset="-120"/>
              </a:rPr>
              <a:t>XMSS</a:t>
            </a:r>
            <a:endParaRPr lang="en-US" sz="9600" dirty="0"/>
          </a:p>
        </p:txBody>
      </p:sp>
      <p:sp>
        <p:nvSpPr>
          <p:cNvPr id="26" name="Text 24"/>
          <p:cNvSpPr/>
          <p:nvPr/>
        </p:nvSpPr>
        <p:spPr>
          <a:xfrm>
            <a:off x="457200" y="2606040"/>
            <a:ext cx="8229600" cy="457200"/>
          </a:xfrm>
          <a:prstGeom prst="rect">
            <a:avLst/>
          </a:prstGeom>
          <a:noFill/>
          <a:ln/>
        </p:spPr>
        <p:txBody>
          <a:bodyPr wrap="square" lIns="0" tIns="0" rIns="0" bIns="0" rtlCol="0" anchor="ctr"/>
          <a:lstStyle/>
          <a:p>
            <a:pPr algn="ctr" indent="0" marL="0">
              <a:buNone/>
            </a:pPr>
            <a:r>
              <a:rPr lang="en-US" sz="2000" dirty="0">
                <a:solidFill>
                  <a:srgbClr val="BFDBFE"/>
                </a:solidFill>
                <a:latin typeface="Calibri Light" pitchFamily="34" charset="0"/>
                <a:ea typeface="Calibri Light" pitchFamily="34" charset="-122"/>
                <a:cs typeface="Calibri Light" pitchFamily="34" charset="-120"/>
              </a:rPr>
              <a:t>eXtended Merkle Signature Scheme</a:t>
            </a:r>
            <a:endParaRPr lang="en-US" sz="2000" dirty="0"/>
          </a:p>
        </p:txBody>
      </p:sp>
      <p:sp>
        <p:nvSpPr>
          <p:cNvPr id="27" name="Shape 25"/>
          <p:cNvSpPr/>
          <p:nvPr/>
        </p:nvSpPr>
        <p:spPr>
          <a:xfrm>
            <a:off x="3200400" y="3200400"/>
            <a:ext cx="2743200" cy="0"/>
          </a:xfrm>
          <a:prstGeom prst="line">
            <a:avLst/>
          </a:prstGeom>
          <a:noFill/>
          <a:ln w="25400">
            <a:solidFill>
              <a:srgbClr val="F59E0B"/>
            </a:solidFill>
            <a:prstDash val="solid"/>
          </a:ln>
        </p:spPr>
      </p:sp>
      <p:sp>
        <p:nvSpPr>
          <p:cNvPr id="28" name="Text 26"/>
          <p:cNvSpPr/>
          <p:nvPr/>
        </p:nvSpPr>
        <p:spPr>
          <a:xfrm>
            <a:off x="457200" y="3337560"/>
            <a:ext cx="8229600" cy="365760"/>
          </a:xfrm>
          <a:prstGeom prst="rect">
            <a:avLst/>
          </a:prstGeom>
          <a:noFill/>
          <a:ln/>
        </p:spPr>
        <p:txBody>
          <a:bodyPr wrap="square" lIns="0" tIns="0" rIns="0" bIns="0"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Marco teórico y ejemplo práctico paso a paso</a:t>
            </a:r>
            <a:endParaRPr lang="en-US" sz="1400" dirty="0"/>
          </a:p>
        </p:txBody>
      </p:sp>
      <p:sp>
        <p:nvSpPr>
          <p:cNvPr id="29" name="Text 27"/>
          <p:cNvSpPr/>
          <p:nvPr/>
        </p:nvSpPr>
        <p:spPr>
          <a:xfrm>
            <a:off x="457200" y="4663440"/>
            <a:ext cx="8229600" cy="320040"/>
          </a:xfrm>
          <a:prstGeom prst="rect">
            <a:avLst/>
          </a:prstGeom>
          <a:noFill/>
          <a:ln/>
        </p:spPr>
        <p:txBody>
          <a:bodyPr wrap="square" lIns="0" tIns="0" rIns="0" bIns="0" rtlCol="0" anchor="ctr"/>
          <a:lstStyle/>
          <a:p>
            <a:pPr algn="ctr" indent="0" marL="0">
              <a:buNone/>
            </a:pPr>
            <a:r>
              <a:rPr lang="en-US" sz="1100" dirty="0">
                <a:solidFill>
                  <a:srgbClr val="64748B"/>
                </a:solidFill>
              </a:rPr>
              <a:t>Resistente a computación cuántica  ·  Basado en funciones de hash  ·  Estándar NIST 2022</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E3D"/>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F4444"/>
          </a:solidFill>
          <a:ln w="12700">
            <a:solidFill>
              <a:srgbClr val="333333"/>
            </a:solidFill>
            <a:prstDash val="solid"/>
          </a:ln>
        </p:spPr>
      </p:sp>
      <p:sp>
        <p:nvSpPr>
          <p:cNvPr id="3" name="Text 1"/>
          <p:cNvSpPr/>
          <p:nvPr/>
        </p:nvSpPr>
        <p:spPr>
          <a:xfrm>
            <a:off x="274320" y="182880"/>
            <a:ext cx="8595360" cy="548640"/>
          </a:xfrm>
          <a:prstGeom prst="rect">
            <a:avLst/>
          </a:prstGeom>
          <a:noFill/>
          <a:ln/>
        </p:spPr>
        <p:txBody>
          <a:bodyPr wrap="square" lIns="0" tIns="0" rIns="0" bIns="0" rtlCol="0" anchor="ctr"/>
          <a:lstStyle/>
          <a:p>
            <a:pPr indent="0" marL="0">
              <a:buNone/>
            </a:pPr>
            <a:r>
              <a:rPr lang="en-US" sz="2800" b="1" dirty="0">
                <a:solidFill>
                  <a:srgbClr val="F8FAFC"/>
                </a:solidFill>
                <a:latin typeface="Arial" pitchFamily="34" charset="0"/>
                <a:ea typeface="Arial" pitchFamily="34" charset="-122"/>
                <a:cs typeface="Arial" pitchFamily="34" charset="-120"/>
              </a:rPr>
              <a:t>¿Por qué ECDSA ya no es suficiente?</a:t>
            </a:r>
            <a:endParaRPr lang="en-US" sz="2800" dirty="0"/>
          </a:p>
        </p:txBody>
      </p:sp>
      <p:sp>
        <p:nvSpPr>
          <p:cNvPr id="4" name="Shape 2"/>
          <p:cNvSpPr/>
          <p:nvPr/>
        </p:nvSpPr>
        <p:spPr>
          <a:xfrm>
            <a:off x="274320" y="777240"/>
            <a:ext cx="8412480" cy="0"/>
          </a:xfrm>
          <a:prstGeom prst="line">
            <a:avLst/>
          </a:prstGeom>
          <a:noFill/>
          <a:ln w="12700">
            <a:solidFill>
              <a:srgbClr val="1E3A5F"/>
            </a:solidFill>
            <a:prstDash val="solid"/>
          </a:ln>
        </p:spPr>
      </p:sp>
      <p:sp>
        <p:nvSpPr>
          <p:cNvPr id="5" name="Shape 3"/>
          <p:cNvSpPr/>
          <p:nvPr/>
        </p:nvSpPr>
        <p:spPr>
          <a:xfrm>
            <a:off x="320040" y="914400"/>
            <a:ext cx="4114800" cy="411480"/>
          </a:xfrm>
          <a:prstGeom prst="rect">
            <a:avLst/>
          </a:prstGeom>
          <a:solidFill>
            <a:srgbClr val="3B82F6">
              <a:alpha val="80000"/>
            </a:srgbClr>
          </a:solidFill>
          <a:ln w="12700">
            <a:solidFill>
              <a:srgbClr val="333333"/>
            </a:solidFill>
            <a:prstDash val="solid"/>
          </a:ln>
        </p:spPr>
      </p:sp>
      <p:sp>
        <p:nvSpPr>
          <p:cNvPr id="6" name="Text 4"/>
          <p:cNvSpPr/>
          <p:nvPr/>
        </p:nvSpPr>
        <p:spPr>
          <a:xfrm>
            <a:off x="320040" y="914400"/>
            <a:ext cx="4114800" cy="411480"/>
          </a:xfrm>
          <a:prstGeom prst="rect">
            <a:avLst/>
          </a:prstGeom>
          <a:noFill/>
          <a:ln/>
        </p:spPr>
        <p:txBody>
          <a:bodyPr wrap="square" lIns="0" tIns="0" rIns="0" bIns="0" rtlCol="0" anchor="ctr"/>
          <a:lstStyle/>
          <a:p>
            <a:pPr algn="ctr" indent="0" marL="0">
              <a:buNone/>
            </a:pPr>
            <a:r>
              <a:rPr lang="en-US" sz="1500" b="1" dirty="0">
                <a:solidFill>
                  <a:srgbClr val="F8FAFC"/>
                </a:solidFill>
              </a:rPr>
              <a:t>ECDSA (hoy)</a:t>
            </a:r>
            <a:endParaRPr lang="en-US" sz="1500" dirty="0"/>
          </a:p>
        </p:txBody>
      </p:sp>
      <p:sp>
        <p:nvSpPr>
          <p:cNvPr id="7" name="Shape 5"/>
          <p:cNvSpPr/>
          <p:nvPr/>
        </p:nvSpPr>
        <p:spPr>
          <a:xfrm>
            <a:off x="320040" y="1417320"/>
            <a:ext cx="4114800" cy="868680"/>
          </a:xfrm>
          <a:prstGeom prst="rect">
            <a:avLst/>
          </a:prstGeom>
          <a:solidFill>
            <a:srgbClr val="0A1628"/>
          </a:solidFill>
          <a:ln w="12700">
            <a:solidFill>
              <a:srgbClr val="1E3A5F"/>
            </a:solidFill>
            <a:prstDash val="solid"/>
          </a:ln>
        </p:spPr>
      </p:sp>
      <p:sp>
        <p:nvSpPr>
          <p:cNvPr id="8" name="Shape 6"/>
          <p:cNvSpPr/>
          <p:nvPr/>
        </p:nvSpPr>
        <p:spPr>
          <a:xfrm>
            <a:off x="457200" y="1508760"/>
            <a:ext cx="201168" cy="201168"/>
          </a:xfrm>
          <a:prstGeom prst="ellipse">
            <a:avLst/>
          </a:prstGeom>
          <a:solidFill>
            <a:srgbClr val="3B82F6"/>
          </a:solidFill>
          <a:ln w="12700">
            <a:solidFill>
              <a:srgbClr val="333333"/>
            </a:solidFill>
            <a:prstDash val="solid"/>
          </a:ln>
        </p:spPr>
      </p:sp>
      <p:sp>
        <p:nvSpPr>
          <p:cNvPr id="9" name="Text 7"/>
          <p:cNvSpPr/>
          <p:nvPr/>
        </p:nvSpPr>
        <p:spPr>
          <a:xfrm>
            <a:off x="731520" y="1417320"/>
            <a:ext cx="3566160" cy="868680"/>
          </a:xfrm>
          <a:prstGeom prst="rect">
            <a:avLst/>
          </a:prstGeom>
          <a:noFill/>
          <a:ln/>
        </p:spPr>
        <p:txBody>
          <a:bodyPr wrap="square" lIns="0" tIns="0" rIns="0" bIns="0" rtlCol="0" anchor="ctr"/>
          <a:lstStyle/>
          <a:p>
            <a:pPr indent="0" marL="0">
              <a:buNone/>
            </a:pPr>
            <a:r>
              <a:rPr lang="en-US" sz="1200" dirty="0">
                <a:solidFill>
                  <a:srgbClr val="BFDBFE"/>
                </a:solidFill>
              </a:rPr>
              <a:t>Se basa en el problema del logaritmo discreto sobre curvas elípticas.</a:t>
            </a:r>
            <a:endParaRPr lang="en-US" sz="1200" dirty="0"/>
          </a:p>
        </p:txBody>
      </p:sp>
      <p:sp>
        <p:nvSpPr>
          <p:cNvPr id="10" name="Shape 8"/>
          <p:cNvSpPr/>
          <p:nvPr/>
        </p:nvSpPr>
        <p:spPr>
          <a:xfrm>
            <a:off x="320040" y="2423160"/>
            <a:ext cx="4114800" cy="868680"/>
          </a:xfrm>
          <a:prstGeom prst="rect">
            <a:avLst/>
          </a:prstGeom>
          <a:solidFill>
            <a:srgbClr val="0A1628"/>
          </a:solidFill>
          <a:ln w="12700">
            <a:solidFill>
              <a:srgbClr val="1E3A5F"/>
            </a:solidFill>
            <a:prstDash val="solid"/>
          </a:ln>
        </p:spPr>
      </p:sp>
      <p:sp>
        <p:nvSpPr>
          <p:cNvPr id="11" name="Shape 9"/>
          <p:cNvSpPr/>
          <p:nvPr/>
        </p:nvSpPr>
        <p:spPr>
          <a:xfrm>
            <a:off x="457200" y="2514600"/>
            <a:ext cx="201168" cy="201168"/>
          </a:xfrm>
          <a:prstGeom prst="ellipse">
            <a:avLst/>
          </a:prstGeom>
          <a:solidFill>
            <a:srgbClr val="3B82F6"/>
          </a:solidFill>
          <a:ln w="12700">
            <a:solidFill>
              <a:srgbClr val="333333"/>
            </a:solidFill>
            <a:prstDash val="solid"/>
          </a:ln>
        </p:spPr>
      </p:sp>
      <p:sp>
        <p:nvSpPr>
          <p:cNvPr id="12" name="Text 10"/>
          <p:cNvSpPr/>
          <p:nvPr/>
        </p:nvSpPr>
        <p:spPr>
          <a:xfrm>
            <a:off x="731520" y="2423160"/>
            <a:ext cx="3566160" cy="868680"/>
          </a:xfrm>
          <a:prstGeom prst="rect">
            <a:avLst/>
          </a:prstGeom>
          <a:noFill/>
          <a:ln/>
        </p:spPr>
        <p:txBody>
          <a:bodyPr wrap="square" lIns="0" tIns="0" rIns="0" bIns="0" rtlCol="0" anchor="ctr"/>
          <a:lstStyle/>
          <a:p>
            <a:pPr indent="0" marL="0">
              <a:buNone/>
            </a:pPr>
            <a:r>
              <a:rPr lang="en-US" sz="1200" dirty="0">
                <a:solidFill>
                  <a:srgbClr val="BFDBFE"/>
                </a:solidFill>
              </a:rPr>
              <a:t>Una computadora clásica necesita ~10³⁰⁰ operaciones para romperlo.</a:t>
            </a:r>
            <a:endParaRPr lang="en-US" sz="1200" dirty="0"/>
          </a:p>
        </p:txBody>
      </p:sp>
      <p:sp>
        <p:nvSpPr>
          <p:cNvPr id="13" name="Shape 11"/>
          <p:cNvSpPr/>
          <p:nvPr/>
        </p:nvSpPr>
        <p:spPr>
          <a:xfrm>
            <a:off x="320040" y="3429000"/>
            <a:ext cx="4114800" cy="868680"/>
          </a:xfrm>
          <a:prstGeom prst="rect">
            <a:avLst/>
          </a:prstGeom>
          <a:solidFill>
            <a:srgbClr val="0A1628"/>
          </a:solidFill>
          <a:ln w="12700">
            <a:solidFill>
              <a:srgbClr val="1E3A5F"/>
            </a:solidFill>
            <a:prstDash val="solid"/>
          </a:ln>
        </p:spPr>
      </p:sp>
      <p:sp>
        <p:nvSpPr>
          <p:cNvPr id="14" name="Shape 12"/>
          <p:cNvSpPr/>
          <p:nvPr/>
        </p:nvSpPr>
        <p:spPr>
          <a:xfrm>
            <a:off x="457200" y="3520440"/>
            <a:ext cx="201168" cy="201168"/>
          </a:xfrm>
          <a:prstGeom prst="ellipse">
            <a:avLst/>
          </a:prstGeom>
          <a:solidFill>
            <a:srgbClr val="3B82F6"/>
          </a:solidFill>
          <a:ln w="12700">
            <a:solidFill>
              <a:srgbClr val="333333"/>
            </a:solidFill>
            <a:prstDash val="solid"/>
          </a:ln>
        </p:spPr>
      </p:sp>
      <p:sp>
        <p:nvSpPr>
          <p:cNvPr id="15" name="Text 13"/>
          <p:cNvSpPr/>
          <p:nvPr/>
        </p:nvSpPr>
        <p:spPr>
          <a:xfrm>
            <a:off x="731520" y="3429000"/>
            <a:ext cx="3566160" cy="868680"/>
          </a:xfrm>
          <a:prstGeom prst="rect">
            <a:avLst/>
          </a:prstGeom>
          <a:noFill/>
          <a:ln/>
        </p:spPr>
        <p:txBody>
          <a:bodyPr wrap="square" lIns="0" tIns="0" rIns="0" bIns="0" rtlCol="0" anchor="ctr"/>
          <a:lstStyle/>
          <a:p>
            <a:pPr indent="0" marL="0">
              <a:buNone/>
            </a:pPr>
            <a:r>
              <a:rPr lang="en-US" sz="1200" dirty="0">
                <a:solidFill>
                  <a:srgbClr val="BFDBFE"/>
                </a:solidFill>
              </a:rPr>
              <a:t>Usado en Bitcoin, Ethereum, TLS, SSH, GPG y casi todo internet.</a:t>
            </a:r>
            <a:endParaRPr lang="en-US" sz="1200" dirty="0"/>
          </a:p>
        </p:txBody>
      </p:sp>
      <p:sp>
        <p:nvSpPr>
          <p:cNvPr id="16" name="Shape 14"/>
          <p:cNvSpPr/>
          <p:nvPr/>
        </p:nvSpPr>
        <p:spPr>
          <a:xfrm>
            <a:off x="4709160" y="914400"/>
            <a:ext cx="4114800" cy="411480"/>
          </a:xfrm>
          <a:prstGeom prst="rect">
            <a:avLst/>
          </a:prstGeom>
          <a:solidFill>
            <a:srgbClr val="EF4444">
              <a:alpha val="80000"/>
            </a:srgbClr>
          </a:solidFill>
          <a:ln w="12700">
            <a:solidFill>
              <a:srgbClr val="333333"/>
            </a:solidFill>
            <a:prstDash val="solid"/>
          </a:ln>
        </p:spPr>
      </p:sp>
      <p:sp>
        <p:nvSpPr>
          <p:cNvPr id="17" name="Text 15"/>
          <p:cNvSpPr/>
          <p:nvPr/>
        </p:nvSpPr>
        <p:spPr>
          <a:xfrm>
            <a:off x="4709160" y="914400"/>
            <a:ext cx="4114800" cy="411480"/>
          </a:xfrm>
          <a:prstGeom prst="rect">
            <a:avLst/>
          </a:prstGeom>
          <a:noFill/>
          <a:ln/>
        </p:spPr>
        <p:txBody>
          <a:bodyPr wrap="square" lIns="0" tIns="0" rIns="0" bIns="0" rtlCol="0" anchor="ctr"/>
          <a:lstStyle/>
          <a:p>
            <a:pPr algn="ctr" indent="0" marL="0">
              <a:buNone/>
            </a:pPr>
            <a:r>
              <a:rPr lang="en-US" sz="1500" b="1" dirty="0">
                <a:solidFill>
                  <a:srgbClr val="F8FAFC"/>
                </a:solidFill>
              </a:rPr>
              <a:t>Computadora cuántica</a:t>
            </a:r>
            <a:endParaRPr lang="en-US" sz="1500" dirty="0"/>
          </a:p>
        </p:txBody>
      </p:sp>
      <p:sp>
        <p:nvSpPr>
          <p:cNvPr id="18" name="Shape 16"/>
          <p:cNvSpPr/>
          <p:nvPr/>
        </p:nvSpPr>
        <p:spPr>
          <a:xfrm>
            <a:off x="4709160" y="1417320"/>
            <a:ext cx="4114800" cy="868680"/>
          </a:xfrm>
          <a:prstGeom prst="rect">
            <a:avLst/>
          </a:prstGeom>
          <a:solidFill>
            <a:srgbClr val="0A1628"/>
          </a:solidFill>
          <a:ln w="12700">
            <a:solidFill>
              <a:srgbClr val="1E3A5F"/>
            </a:solidFill>
            <a:prstDash val="solid"/>
          </a:ln>
        </p:spPr>
      </p:sp>
      <p:sp>
        <p:nvSpPr>
          <p:cNvPr id="19" name="Shape 17"/>
          <p:cNvSpPr/>
          <p:nvPr/>
        </p:nvSpPr>
        <p:spPr>
          <a:xfrm>
            <a:off x="4846320" y="1508760"/>
            <a:ext cx="201168" cy="201168"/>
          </a:xfrm>
          <a:prstGeom prst="ellipse">
            <a:avLst/>
          </a:prstGeom>
          <a:solidFill>
            <a:srgbClr val="EF4444"/>
          </a:solidFill>
          <a:ln w="12700">
            <a:solidFill>
              <a:srgbClr val="333333"/>
            </a:solidFill>
            <a:prstDash val="solid"/>
          </a:ln>
        </p:spPr>
      </p:sp>
      <p:sp>
        <p:nvSpPr>
          <p:cNvPr id="20" name="Text 18"/>
          <p:cNvSpPr/>
          <p:nvPr/>
        </p:nvSpPr>
        <p:spPr>
          <a:xfrm>
            <a:off x="5120640" y="1417320"/>
            <a:ext cx="3566160" cy="868680"/>
          </a:xfrm>
          <a:prstGeom prst="rect">
            <a:avLst/>
          </a:prstGeom>
          <a:noFill/>
          <a:ln/>
        </p:spPr>
        <p:txBody>
          <a:bodyPr wrap="square" lIns="0" tIns="0" rIns="0" bIns="0" rtlCol="0" anchor="ctr"/>
          <a:lstStyle/>
          <a:p>
            <a:pPr indent="0" marL="0">
              <a:buNone/>
            </a:pPr>
            <a:r>
              <a:rPr lang="en-US" sz="1200" dirty="0">
                <a:solidFill>
                  <a:srgbClr val="BFDBFE"/>
                </a:solidFill>
              </a:rPr>
              <a:t>El algoritmo de Shor resuelve el logaritmo discreto en tiempo polinómico.</a:t>
            </a:r>
            <a:endParaRPr lang="en-US" sz="1200" dirty="0"/>
          </a:p>
        </p:txBody>
      </p:sp>
      <p:sp>
        <p:nvSpPr>
          <p:cNvPr id="21" name="Shape 19"/>
          <p:cNvSpPr/>
          <p:nvPr/>
        </p:nvSpPr>
        <p:spPr>
          <a:xfrm>
            <a:off x="4709160" y="2423160"/>
            <a:ext cx="4114800" cy="868680"/>
          </a:xfrm>
          <a:prstGeom prst="rect">
            <a:avLst/>
          </a:prstGeom>
          <a:solidFill>
            <a:srgbClr val="0A1628"/>
          </a:solidFill>
          <a:ln w="12700">
            <a:solidFill>
              <a:srgbClr val="1E3A5F"/>
            </a:solidFill>
            <a:prstDash val="solid"/>
          </a:ln>
        </p:spPr>
      </p:sp>
      <p:sp>
        <p:nvSpPr>
          <p:cNvPr id="22" name="Shape 20"/>
          <p:cNvSpPr/>
          <p:nvPr/>
        </p:nvSpPr>
        <p:spPr>
          <a:xfrm>
            <a:off x="4846320" y="2514600"/>
            <a:ext cx="201168" cy="201168"/>
          </a:xfrm>
          <a:prstGeom prst="ellipse">
            <a:avLst/>
          </a:prstGeom>
          <a:solidFill>
            <a:srgbClr val="EF4444"/>
          </a:solidFill>
          <a:ln w="12700">
            <a:solidFill>
              <a:srgbClr val="333333"/>
            </a:solidFill>
            <a:prstDash val="solid"/>
          </a:ln>
        </p:spPr>
      </p:sp>
      <p:sp>
        <p:nvSpPr>
          <p:cNvPr id="23" name="Text 21"/>
          <p:cNvSpPr/>
          <p:nvPr/>
        </p:nvSpPr>
        <p:spPr>
          <a:xfrm>
            <a:off x="5120640" y="2423160"/>
            <a:ext cx="3566160" cy="868680"/>
          </a:xfrm>
          <a:prstGeom prst="rect">
            <a:avLst/>
          </a:prstGeom>
          <a:noFill/>
          <a:ln/>
        </p:spPr>
        <p:txBody>
          <a:bodyPr wrap="square" lIns="0" tIns="0" rIns="0" bIns="0" rtlCol="0" anchor="ctr"/>
          <a:lstStyle/>
          <a:p>
            <a:pPr indent="0" marL="0">
              <a:buNone/>
            </a:pPr>
            <a:r>
              <a:rPr lang="en-US" sz="1200" dirty="0">
                <a:solidFill>
                  <a:srgbClr val="BFDBFE"/>
                </a:solidFill>
              </a:rPr>
              <a:t>Una computadora cuántica de ~4.000 qubits lógicos rompería ECDSA.</a:t>
            </a:r>
            <a:endParaRPr lang="en-US" sz="1200" dirty="0"/>
          </a:p>
        </p:txBody>
      </p:sp>
      <p:sp>
        <p:nvSpPr>
          <p:cNvPr id="24" name="Shape 22"/>
          <p:cNvSpPr/>
          <p:nvPr/>
        </p:nvSpPr>
        <p:spPr>
          <a:xfrm>
            <a:off x="4709160" y="3429000"/>
            <a:ext cx="4114800" cy="868680"/>
          </a:xfrm>
          <a:prstGeom prst="rect">
            <a:avLst/>
          </a:prstGeom>
          <a:solidFill>
            <a:srgbClr val="0A1628"/>
          </a:solidFill>
          <a:ln w="12700">
            <a:solidFill>
              <a:srgbClr val="1E3A5F"/>
            </a:solidFill>
            <a:prstDash val="solid"/>
          </a:ln>
        </p:spPr>
      </p:sp>
      <p:sp>
        <p:nvSpPr>
          <p:cNvPr id="25" name="Shape 23"/>
          <p:cNvSpPr/>
          <p:nvPr/>
        </p:nvSpPr>
        <p:spPr>
          <a:xfrm>
            <a:off x="4846320" y="3520440"/>
            <a:ext cx="201168" cy="201168"/>
          </a:xfrm>
          <a:prstGeom prst="ellipse">
            <a:avLst/>
          </a:prstGeom>
          <a:solidFill>
            <a:srgbClr val="EF4444"/>
          </a:solidFill>
          <a:ln w="12700">
            <a:solidFill>
              <a:srgbClr val="333333"/>
            </a:solidFill>
            <a:prstDash val="solid"/>
          </a:ln>
        </p:spPr>
      </p:sp>
      <p:sp>
        <p:nvSpPr>
          <p:cNvPr id="26" name="Text 24"/>
          <p:cNvSpPr/>
          <p:nvPr/>
        </p:nvSpPr>
        <p:spPr>
          <a:xfrm>
            <a:off x="5120640" y="3429000"/>
            <a:ext cx="3566160" cy="868680"/>
          </a:xfrm>
          <a:prstGeom prst="rect">
            <a:avLst/>
          </a:prstGeom>
          <a:noFill/>
          <a:ln/>
        </p:spPr>
        <p:txBody>
          <a:bodyPr wrap="square" lIns="0" tIns="0" rIns="0" bIns="0" rtlCol="0" anchor="ctr"/>
          <a:lstStyle/>
          <a:p>
            <a:pPr indent="0" marL="0">
              <a:buNone/>
            </a:pPr>
            <a:r>
              <a:rPr lang="en-US" sz="1200" dirty="0">
                <a:solidFill>
                  <a:srgbClr val="BFDBFE"/>
                </a:solidFill>
              </a:rPr>
              <a:t>Google, IBM y China están avanzando rápido. El NIST ya se preocupó en 2016.</a:t>
            </a:r>
            <a:endParaRPr lang="en-US" sz="1200" dirty="0"/>
          </a:p>
        </p:txBody>
      </p:sp>
      <p:sp>
        <p:nvSpPr>
          <p:cNvPr id="27" name="Shape 25"/>
          <p:cNvSpPr/>
          <p:nvPr/>
        </p:nvSpPr>
        <p:spPr>
          <a:xfrm>
            <a:off x="4206240" y="2240280"/>
            <a:ext cx="640080" cy="640080"/>
          </a:xfrm>
          <a:prstGeom prst="ellipse">
            <a:avLst/>
          </a:prstGeom>
          <a:solidFill>
            <a:srgbClr val="F59E0B"/>
          </a:solidFill>
          <a:ln w="12700">
            <a:solidFill>
              <a:srgbClr val="333333"/>
            </a:solidFill>
            <a:prstDash val="solid"/>
          </a:ln>
        </p:spPr>
      </p:sp>
      <p:sp>
        <p:nvSpPr>
          <p:cNvPr id="28" name="Text 26"/>
          <p:cNvSpPr/>
          <p:nvPr/>
        </p:nvSpPr>
        <p:spPr>
          <a:xfrm>
            <a:off x="4206240" y="2240280"/>
            <a:ext cx="640080" cy="640080"/>
          </a:xfrm>
          <a:prstGeom prst="rect">
            <a:avLst/>
          </a:prstGeom>
          <a:noFill/>
          <a:ln/>
        </p:spPr>
        <p:txBody>
          <a:bodyPr wrap="square" lIns="0" tIns="0" rIns="0" bIns="0" rtlCol="0" anchor="ctr"/>
          <a:lstStyle/>
          <a:p>
            <a:pPr algn="ctr" indent="0" marL="0">
              <a:buNone/>
            </a:pPr>
            <a:r>
              <a:rPr lang="en-US" sz="1300" b="1" dirty="0">
                <a:solidFill>
                  <a:srgbClr val="080E1A"/>
                </a:solidFill>
              </a:rPr>
              <a:t>VS</a:t>
            </a:r>
            <a:endParaRPr lang="en-US" sz="1300" dirty="0"/>
          </a:p>
        </p:txBody>
      </p:sp>
      <p:sp>
        <p:nvSpPr>
          <p:cNvPr id="29" name="Shape 27"/>
          <p:cNvSpPr/>
          <p:nvPr/>
        </p:nvSpPr>
        <p:spPr>
          <a:xfrm>
            <a:off x="320040" y="4434840"/>
            <a:ext cx="8503920" cy="502920"/>
          </a:xfrm>
          <a:prstGeom prst="rect">
            <a:avLst/>
          </a:prstGeom>
          <a:solidFill>
            <a:srgbClr val="3B0A0A"/>
          </a:solidFill>
          <a:ln w="12700">
            <a:solidFill>
              <a:srgbClr val="EF4444"/>
            </a:solidFill>
            <a:prstDash val="solid"/>
          </a:ln>
        </p:spPr>
      </p:sp>
      <p:sp>
        <p:nvSpPr>
          <p:cNvPr id="30" name="Text 28"/>
          <p:cNvSpPr/>
          <p:nvPr/>
        </p:nvSpPr>
        <p:spPr>
          <a:xfrm>
            <a:off x="320040" y="4434840"/>
            <a:ext cx="8503920" cy="502920"/>
          </a:xfrm>
          <a:prstGeom prst="rect">
            <a:avLst/>
          </a:prstGeom>
          <a:noFill/>
          <a:ln/>
        </p:spPr>
        <p:txBody>
          <a:bodyPr wrap="square" lIns="101600" tIns="101600" rIns="101600" bIns="101600" rtlCol="0" anchor="ctr"/>
          <a:lstStyle/>
          <a:p>
            <a:pPr indent="0" marL="0">
              <a:buNone/>
            </a:pPr>
            <a:r>
              <a:rPr lang="en-US" sz="1200" dirty="0">
                <a:solidFill>
                  <a:srgbClr val="FDE68A"/>
                </a:solidFill>
              </a:rPr>
              <a:t>⚠  La solución: basar la seguridad en funciones de HASH, que los algoritmos cuánticos conocidos NO pueden romper eficientemente.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E3D"/>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3B82F6"/>
          </a:solidFill>
          <a:ln w="12700">
            <a:solidFill>
              <a:srgbClr val="333333"/>
            </a:solidFill>
            <a:prstDash val="solid"/>
          </a:ln>
        </p:spPr>
      </p:sp>
      <p:sp>
        <p:nvSpPr>
          <p:cNvPr id="3" name="Text 1"/>
          <p:cNvSpPr/>
          <p:nvPr/>
        </p:nvSpPr>
        <p:spPr>
          <a:xfrm>
            <a:off x="274320" y="182880"/>
            <a:ext cx="8595360" cy="548640"/>
          </a:xfrm>
          <a:prstGeom prst="rect">
            <a:avLst/>
          </a:prstGeom>
          <a:noFill/>
          <a:ln/>
        </p:spPr>
        <p:txBody>
          <a:bodyPr wrap="square" lIns="0" tIns="0" rIns="0" bIns="0" rtlCol="0" anchor="ctr"/>
          <a:lstStyle/>
          <a:p>
            <a:pPr indent="0" marL="0">
              <a:buNone/>
            </a:pPr>
            <a:r>
              <a:rPr lang="en-US" sz="2800" b="1" dirty="0">
                <a:solidFill>
                  <a:srgbClr val="F8FAFC"/>
                </a:solidFill>
                <a:latin typeface="Arial" pitchFamily="34" charset="0"/>
                <a:ea typeface="Arial" pitchFamily="34" charset="-122"/>
                <a:cs typeface="Arial" pitchFamily="34" charset="-120"/>
              </a:rPr>
              <a:t>XMSS — Los 3 pilares</a:t>
            </a:r>
            <a:endParaRPr lang="en-US" sz="2800" dirty="0"/>
          </a:p>
        </p:txBody>
      </p:sp>
      <p:sp>
        <p:nvSpPr>
          <p:cNvPr id="4" name="Shape 2"/>
          <p:cNvSpPr/>
          <p:nvPr/>
        </p:nvSpPr>
        <p:spPr>
          <a:xfrm>
            <a:off x="274320" y="777240"/>
            <a:ext cx="8412480" cy="0"/>
          </a:xfrm>
          <a:prstGeom prst="line">
            <a:avLst/>
          </a:prstGeom>
          <a:noFill/>
          <a:ln w="12700">
            <a:solidFill>
              <a:srgbClr val="1E3A5F"/>
            </a:solidFill>
            <a:prstDash val="solid"/>
          </a:ln>
        </p:spPr>
      </p:sp>
      <p:sp>
        <p:nvSpPr>
          <p:cNvPr id="5" name="Text 3"/>
          <p:cNvSpPr/>
          <p:nvPr/>
        </p:nvSpPr>
        <p:spPr>
          <a:xfrm>
            <a:off x="274320" y="822960"/>
            <a:ext cx="8412480" cy="365760"/>
          </a:xfrm>
          <a:prstGeom prst="rect">
            <a:avLst/>
          </a:prstGeom>
          <a:noFill/>
          <a:ln/>
        </p:spPr>
        <p:txBody>
          <a:bodyPr wrap="square" lIns="0" tIns="0" rIns="0" bIns="0" rtlCol="0" anchor="ctr"/>
          <a:lstStyle/>
          <a:p>
            <a:pPr indent="0" marL="0">
              <a:buNone/>
            </a:pPr>
            <a:r>
              <a:rPr lang="en-US" sz="1300" dirty="0">
                <a:solidFill>
                  <a:srgbClr val="BFDBFE"/>
                </a:solidFill>
              </a:rPr>
              <a:t>XMSS combina tres ideas para crear un esquema de firma resistente a cuántica:</a:t>
            </a:r>
            <a:endParaRPr lang="en-US" sz="1300" dirty="0"/>
          </a:p>
        </p:txBody>
      </p:sp>
      <p:sp>
        <p:nvSpPr>
          <p:cNvPr id="6" name="Shape 4"/>
          <p:cNvSpPr/>
          <p:nvPr/>
        </p:nvSpPr>
        <p:spPr>
          <a:xfrm>
            <a:off x="320040" y="1280160"/>
            <a:ext cx="2743200" cy="3474720"/>
          </a:xfrm>
          <a:prstGeom prst="rect">
            <a:avLst/>
          </a:prstGeom>
          <a:solidFill>
            <a:srgbClr val="080E1A"/>
          </a:solidFill>
          <a:ln w="19050">
            <a:solidFill>
              <a:srgbClr val="F59E0B"/>
            </a:solidFill>
            <a:prstDash val="solid"/>
          </a:ln>
          <a:effectLst>
            <a:outerShdw sx="100000" sy="100000" kx="0" ky="0" algn="bl" rotWithShape="0" blurRad="101600" dist="38100" dir="8100000">
              <a:srgbClr val="000000">
                <a:alpha val="30000"/>
              </a:srgbClr>
            </a:outerShdw>
          </a:effectLst>
        </p:spPr>
      </p:sp>
      <p:sp>
        <p:nvSpPr>
          <p:cNvPr id="7" name="Shape 5"/>
          <p:cNvSpPr/>
          <p:nvPr/>
        </p:nvSpPr>
        <p:spPr>
          <a:xfrm>
            <a:off x="320040" y="1280160"/>
            <a:ext cx="2743200" cy="640080"/>
          </a:xfrm>
          <a:prstGeom prst="rect">
            <a:avLst/>
          </a:prstGeom>
          <a:solidFill>
            <a:srgbClr val="F59E0B">
              <a:alpha val="75000"/>
            </a:srgbClr>
          </a:solidFill>
          <a:ln w="12700">
            <a:solidFill>
              <a:srgbClr val="333333"/>
            </a:solidFill>
            <a:prstDash val="solid"/>
          </a:ln>
        </p:spPr>
      </p:sp>
      <p:sp>
        <p:nvSpPr>
          <p:cNvPr id="8" name="Text 6"/>
          <p:cNvSpPr/>
          <p:nvPr/>
        </p:nvSpPr>
        <p:spPr>
          <a:xfrm>
            <a:off x="320040" y="1280160"/>
            <a:ext cx="2743200" cy="640080"/>
          </a:xfrm>
          <a:prstGeom prst="rect">
            <a:avLst/>
          </a:prstGeom>
          <a:noFill/>
          <a:ln/>
        </p:spPr>
        <p:txBody>
          <a:bodyPr wrap="square" lIns="0" tIns="0" rIns="0" bIns="0" rtlCol="0" anchor="ctr"/>
          <a:lstStyle/>
          <a:p>
            <a:pPr algn="ctr" indent="0" marL="0">
              <a:buNone/>
            </a:pPr>
            <a:r>
              <a:rPr lang="en-US" sz="2200" b="1" dirty="0">
                <a:solidFill>
                  <a:srgbClr val="F8FAFC"/>
                </a:solidFill>
                <a:latin typeface="Arial Black" pitchFamily="34" charset="0"/>
                <a:ea typeface="Arial Black" pitchFamily="34" charset="-122"/>
                <a:cs typeface="Arial Black" pitchFamily="34" charset="-120"/>
              </a:rPr>
              <a:t>01</a:t>
            </a:r>
            <a:endParaRPr lang="en-US" sz="2200" dirty="0"/>
          </a:p>
        </p:txBody>
      </p:sp>
      <p:sp>
        <p:nvSpPr>
          <p:cNvPr id="9" name="Text 7"/>
          <p:cNvSpPr/>
          <p:nvPr/>
        </p:nvSpPr>
        <p:spPr>
          <a:xfrm>
            <a:off x="320040" y="1965960"/>
            <a:ext cx="2743200" cy="914400"/>
          </a:xfrm>
          <a:prstGeom prst="rect">
            <a:avLst/>
          </a:prstGeom>
          <a:noFill/>
          <a:ln/>
        </p:spPr>
        <p:txBody>
          <a:bodyPr wrap="square" lIns="101600" tIns="101600" rIns="101600" bIns="101600" rtlCol="0" anchor="ctr"/>
          <a:lstStyle/>
          <a:p>
            <a:pPr algn="ctr" indent="0" marL="0">
              <a:buNone/>
            </a:pPr>
            <a:r>
              <a:rPr lang="en-US" sz="1500" b="1" dirty="0">
                <a:solidFill>
                  <a:srgbClr val="F59E0B"/>
                </a:solidFill>
              </a:rPr>
              <a:t>OTS — One Time</a:t>
            </a:r>
            <a:endParaRPr lang="en-US" sz="1500" dirty="0"/>
          </a:p>
          <a:p>
            <a:pPr algn="ctr" indent="0" marL="0">
              <a:buNone/>
            </a:pPr>
            <a:r>
              <a:rPr lang="en-US" sz="1500" b="1" dirty="0">
                <a:solidFill>
                  <a:srgbClr val="F59E0B"/>
                </a:solidFill>
              </a:rPr>
              <a:t>Signature (Winternitz)</a:t>
            </a:r>
            <a:endParaRPr lang="en-US" sz="1500" dirty="0"/>
          </a:p>
        </p:txBody>
      </p:sp>
      <p:sp>
        <p:nvSpPr>
          <p:cNvPr id="10" name="Shape 8"/>
          <p:cNvSpPr/>
          <p:nvPr/>
        </p:nvSpPr>
        <p:spPr>
          <a:xfrm>
            <a:off x="594360" y="2926080"/>
            <a:ext cx="2194560" cy="0"/>
          </a:xfrm>
          <a:prstGeom prst="line">
            <a:avLst/>
          </a:prstGeom>
          <a:noFill/>
          <a:ln w="12700">
            <a:solidFill>
              <a:srgbClr val="1E3A5F"/>
            </a:solidFill>
            <a:prstDash val="solid"/>
          </a:ln>
        </p:spPr>
      </p:sp>
      <p:sp>
        <p:nvSpPr>
          <p:cNvPr id="11" name="Text 9"/>
          <p:cNvSpPr/>
          <p:nvPr/>
        </p:nvSpPr>
        <p:spPr>
          <a:xfrm>
            <a:off x="320040" y="2971800"/>
            <a:ext cx="2743200" cy="1600200"/>
          </a:xfrm>
          <a:prstGeom prst="rect">
            <a:avLst/>
          </a:prstGeom>
          <a:noFill/>
          <a:ln/>
        </p:spPr>
        <p:txBody>
          <a:bodyPr wrap="square" lIns="127000" tIns="127000" rIns="127000" bIns="127000" rtlCol="0" anchor="t"/>
          <a:lstStyle/>
          <a:p>
            <a:pPr algn="ctr" indent="0" marL="0">
              <a:buNone/>
            </a:pPr>
            <a:r>
              <a:rPr lang="en-US" sz="1200" dirty="0">
                <a:solidFill>
                  <a:srgbClr val="BFDBFE"/>
                </a:solidFill>
              </a:rPr>
              <a:t>Una clave que firma UN SOLO mensaje. Si se reutiliza, la seguridad se rompe.</a:t>
            </a:r>
            <a:endParaRPr lang="en-US" sz="1200" dirty="0"/>
          </a:p>
        </p:txBody>
      </p:sp>
      <p:sp>
        <p:nvSpPr>
          <p:cNvPr id="12" name="Shape 10"/>
          <p:cNvSpPr/>
          <p:nvPr/>
        </p:nvSpPr>
        <p:spPr>
          <a:xfrm>
            <a:off x="3063240" y="3017520"/>
            <a:ext cx="182880" cy="0"/>
          </a:xfrm>
          <a:prstGeom prst="line">
            <a:avLst/>
          </a:prstGeom>
          <a:noFill/>
          <a:ln w="19050">
            <a:solidFill>
              <a:srgbClr val="64748B"/>
            </a:solidFill>
            <a:prstDash val="dash"/>
          </a:ln>
        </p:spPr>
      </p:sp>
      <p:sp>
        <p:nvSpPr>
          <p:cNvPr id="13" name="Shape 11"/>
          <p:cNvSpPr/>
          <p:nvPr/>
        </p:nvSpPr>
        <p:spPr>
          <a:xfrm>
            <a:off x="3246120" y="1280160"/>
            <a:ext cx="2743200" cy="3474720"/>
          </a:xfrm>
          <a:prstGeom prst="rect">
            <a:avLst/>
          </a:prstGeom>
          <a:solidFill>
            <a:srgbClr val="080E1A"/>
          </a:solidFill>
          <a:ln w="19050">
            <a:solidFill>
              <a:srgbClr val="10B981"/>
            </a:solidFill>
            <a:prstDash val="solid"/>
          </a:ln>
          <a:effectLst>
            <a:outerShdw sx="100000" sy="100000" kx="0" ky="0" algn="bl" rotWithShape="0" blurRad="101600" dist="38100" dir="8100000">
              <a:srgbClr val="000000">
                <a:alpha val="30000"/>
              </a:srgbClr>
            </a:outerShdw>
          </a:effectLst>
        </p:spPr>
      </p:sp>
      <p:sp>
        <p:nvSpPr>
          <p:cNvPr id="14" name="Shape 12"/>
          <p:cNvSpPr/>
          <p:nvPr/>
        </p:nvSpPr>
        <p:spPr>
          <a:xfrm>
            <a:off x="3246120" y="1280160"/>
            <a:ext cx="2743200" cy="640080"/>
          </a:xfrm>
          <a:prstGeom prst="rect">
            <a:avLst/>
          </a:prstGeom>
          <a:solidFill>
            <a:srgbClr val="10B981">
              <a:alpha val="75000"/>
            </a:srgbClr>
          </a:solidFill>
          <a:ln w="12700">
            <a:solidFill>
              <a:srgbClr val="333333"/>
            </a:solidFill>
            <a:prstDash val="solid"/>
          </a:ln>
        </p:spPr>
      </p:sp>
      <p:sp>
        <p:nvSpPr>
          <p:cNvPr id="15" name="Text 13"/>
          <p:cNvSpPr/>
          <p:nvPr/>
        </p:nvSpPr>
        <p:spPr>
          <a:xfrm>
            <a:off x="3246120" y="1280160"/>
            <a:ext cx="2743200" cy="640080"/>
          </a:xfrm>
          <a:prstGeom prst="rect">
            <a:avLst/>
          </a:prstGeom>
          <a:noFill/>
          <a:ln/>
        </p:spPr>
        <p:txBody>
          <a:bodyPr wrap="square" lIns="0" tIns="0" rIns="0" bIns="0" rtlCol="0" anchor="ctr"/>
          <a:lstStyle/>
          <a:p>
            <a:pPr algn="ctr" indent="0" marL="0">
              <a:buNone/>
            </a:pPr>
            <a:r>
              <a:rPr lang="en-US" sz="2200" b="1" dirty="0">
                <a:solidFill>
                  <a:srgbClr val="F8FAFC"/>
                </a:solidFill>
                <a:latin typeface="Arial Black" pitchFamily="34" charset="0"/>
                <a:ea typeface="Arial Black" pitchFamily="34" charset="-122"/>
                <a:cs typeface="Arial Black" pitchFamily="34" charset="-120"/>
              </a:rPr>
              <a:t>02</a:t>
            </a:r>
            <a:endParaRPr lang="en-US" sz="2200" dirty="0"/>
          </a:p>
        </p:txBody>
      </p:sp>
      <p:sp>
        <p:nvSpPr>
          <p:cNvPr id="16" name="Text 14"/>
          <p:cNvSpPr/>
          <p:nvPr/>
        </p:nvSpPr>
        <p:spPr>
          <a:xfrm>
            <a:off x="3246120" y="1965960"/>
            <a:ext cx="2743200" cy="914400"/>
          </a:xfrm>
          <a:prstGeom prst="rect">
            <a:avLst/>
          </a:prstGeom>
          <a:noFill/>
          <a:ln/>
        </p:spPr>
        <p:txBody>
          <a:bodyPr wrap="square" lIns="101600" tIns="101600" rIns="101600" bIns="101600" rtlCol="0" anchor="ctr"/>
          <a:lstStyle/>
          <a:p>
            <a:pPr algn="ctr" indent="0" marL="0">
              <a:buNone/>
            </a:pPr>
            <a:r>
              <a:rPr lang="en-US" sz="1500" b="1" dirty="0">
                <a:solidFill>
                  <a:srgbClr val="10B981"/>
                </a:solidFill>
              </a:rPr>
              <a:t>Árbol de</a:t>
            </a:r>
            <a:endParaRPr lang="en-US" sz="1500" dirty="0"/>
          </a:p>
          <a:p>
            <a:pPr algn="ctr" indent="0" marL="0">
              <a:buNone/>
            </a:pPr>
            <a:r>
              <a:rPr lang="en-US" sz="1500" b="1" dirty="0">
                <a:solidFill>
                  <a:srgbClr val="10B981"/>
                </a:solidFill>
              </a:rPr>
              <a:t>Merkle</a:t>
            </a:r>
            <a:endParaRPr lang="en-US" sz="1500" dirty="0"/>
          </a:p>
        </p:txBody>
      </p:sp>
      <p:sp>
        <p:nvSpPr>
          <p:cNvPr id="17" name="Shape 15"/>
          <p:cNvSpPr/>
          <p:nvPr/>
        </p:nvSpPr>
        <p:spPr>
          <a:xfrm>
            <a:off x="3520440" y="2926080"/>
            <a:ext cx="2194560" cy="0"/>
          </a:xfrm>
          <a:prstGeom prst="line">
            <a:avLst/>
          </a:prstGeom>
          <a:noFill/>
          <a:ln w="12700">
            <a:solidFill>
              <a:srgbClr val="1E3A5F"/>
            </a:solidFill>
            <a:prstDash val="solid"/>
          </a:ln>
        </p:spPr>
      </p:sp>
      <p:sp>
        <p:nvSpPr>
          <p:cNvPr id="18" name="Text 16"/>
          <p:cNvSpPr/>
          <p:nvPr/>
        </p:nvSpPr>
        <p:spPr>
          <a:xfrm>
            <a:off x="3246120" y="2971800"/>
            <a:ext cx="2743200" cy="1600200"/>
          </a:xfrm>
          <a:prstGeom prst="rect">
            <a:avLst/>
          </a:prstGeom>
          <a:noFill/>
          <a:ln/>
        </p:spPr>
        <p:txBody>
          <a:bodyPr wrap="square" lIns="127000" tIns="127000" rIns="127000" bIns="127000" rtlCol="0" anchor="t"/>
          <a:lstStyle/>
          <a:p>
            <a:pPr algn="ctr" indent="0" marL="0">
              <a:buNone/>
            </a:pPr>
            <a:r>
              <a:rPr lang="en-US" sz="1200" dirty="0">
                <a:solidFill>
                  <a:srgbClr val="BFDBFE"/>
                </a:solidFill>
              </a:rPr>
              <a:t>Organiza miles de claves OTS en una estructura de árbol con una única clave pública raíz.</a:t>
            </a:r>
            <a:endParaRPr lang="en-US" sz="1200" dirty="0"/>
          </a:p>
        </p:txBody>
      </p:sp>
      <p:sp>
        <p:nvSpPr>
          <p:cNvPr id="19" name="Shape 17"/>
          <p:cNvSpPr/>
          <p:nvPr/>
        </p:nvSpPr>
        <p:spPr>
          <a:xfrm>
            <a:off x="5989320" y="3017520"/>
            <a:ext cx="182880" cy="0"/>
          </a:xfrm>
          <a:prstGeom prst="line">
            <a:avLst/>
          </a:prstGeom>
          <a:noFill/>
          <a:ln w="19050">
            <a:solidFill>
              <a:srgbClr val="64748B"/>
            </a:solidFill>
            <a:prstDash val="dash"/>
          </a:ln>
        </p:spPr>
      </p:sp>
      <p:sp>
        <p:nvSpPr>
          <p:cNvPr id="20" name="Shape 18"/>
          <p:cNvSpPr/>
          <p:nvPr/>
        </p:nvSpPr>
        <p:spPr>
          <a:xfrm>
            <a:off x="6172200" y="1280160"/>
            <a:ext cx="2743200" cy="3474720"/>
          </a:xfrm>
          <a:prstGeom prst="rect">
            <a:avLst/>
          </a:prstGeom>
          <a:solidFill>
            <a:srgbClr val="080E1A"/>
          </a:solidFill>
          <a:ln w="19050">
            <a:solidFill>
              <a:srgbClr val="3B82F6"/>
            </a:solidFill>
            <a:prstDash val="solid"/>
          </a:ln>
          <a:effectLst>
            <a:outerShdw sx="100000" sy="100000" kx="0" ky="0" algn="bl" rotWithShape="0" blurRad="101600" dist="38100" dir="8100000">
              <a:srgbClr val="000000">
                <a:alpha val="30000"/>
              </a:srgbClr>
            </a:outerShdw>
          </a:effectLst>
        </p:spPr>
      </p:sp>
      <p:sp>
        <p:nvSpPr>
          <p:cNvPr id="21" name="Shape 19"/>
          <p:cNvSpPr/>
          <p:nvPr/>
        </p:nvSpPr>
        <p:spPr>
          <a:xfrm>
            <a:off x="6172200" y="1280160"/>
            <a:ext cx="2743200" cy="640080"/>
          </a:xfrm>
          <a:prstGeom prst="rect">
            <a:avLst/>
          </a:prstGeom>
          <a:solidFill>
            <a:srgbClr val="3B82F6">
              <a:alpha val="75000"/>
            </a:srgbClr>
          </a:solidFill>
          <a:ln w="12700">
            <a:solidFill>
              <a:srgbClr val="333333"/>
            </a:solidFill>
            <a:prstDash val="solid"/>
          </a:ln>
        </p:spPr>
      </p:sp>
      <p:sp>
        <p:nvSpPr>
          <p:cNvPr id="22" name="Text 20"/>
          <p:cNvSpPr/>
          <p:nvPr/>
        </p:nvSpPr>
        <p:spPr>
          <a:xfrm>
            <a:off x="6172200" y="1280160"/>
            <a:ext cx="2743200" cy="640080"/>
          </a:xfrm>
          <a:prstGeom prst="rect">
            <a:avLst/>
          </a:prstGeom>
          <a:noFill/>
          <a:ln/>
        </p:spPr>
        <p:txBody>
          <a:bodyPr wrap="square" lIns="0" tIns="0" rIns="0" bIns="0" rtlCol="0" anchor="ctr"/>
          <a:lstStyle/>
          <a:p>
            <a:pPr algn="ctr" indent="0" marL="0">
              <a:buNone/>
            </a:pPr>
            <a:r>
              <a:rPr lang="en-US" sz="2200" b="1" dirty="0">
                <a:solidFill>
                  <a:srgbClr val="F8FAFC"/>
                </a:solidFill>
                <a:latin typeface="Arial Black" pitchFamily="34" charset="0"/>
                <a:ea typeface="Arial Black" pitchFamily="34" charset="-122"/>
                <a:cs typeface="Arial Black" pitchFamily="34" charset="-120"/>
              </a:rPr>
              <a:t>03</a:t>
            </a:r>
            <a:endParaRPr lang="en-US" sz="2200" dirty="0"/>
          </a:p>
        </p:txBody>
      </p:sp>
      <p:sp>
        <p:nvSpPr>
          <p:cNvPr id="23" name="Text 21"/>
          <p:cNvSpPr/>
          <p:nvPr/>
        </p:nvSpPr>
        <p:spPr>
          <a:xfrm>
            <a:off x="6172200" y="1965960"/>
            <a:ext cx="2743200" cy="914400"/>
          </a:xfrm>
          <a:prstGeom prst="rect">
            <a:avLst/>
          </a:prstGeom>
          <a:noFill/>
          <a:ln/>
        </p:spPr>
        <p:txBody>
          <a:bodyPr wrap="square" lIns="101600" tIns="101600" rIns="101600" bIns="101600" rtlCol="0" anchor="ctr"/>
          <a:lstStyle/>
          <a:p>
            <a:pPr algn="ctr" indent="0" marL="0">
              <a:buNone/>
            </a:pPr>
            <a:r>
              <a:rPr lang="en-US" sz="1500" b="1" dirty="0">
                <a:solidFill>
                  <a:srgbClr val="3B82F6"/>
                </a:solidFill>
              </a:rPr>
              <a:t>Estado</a:t>
            </a:r>
            <a:endParaRPr lang="en-US" sz="1500" dirty="0"/>
          </a:p>
          <a:p>
            <a:pPr algn="ctr" indent="0" marL="0">
              <a:buNone/>
            </a:pPr>
            <a:r>
              <a:rPr lang="en-US" sz="1500" b="1" dirty="0">
                <a:solidFill>
                  <a:srgbClr val="3B82F6"/>
                </a:solidFill>
              </a:rPr>
              <a:t>(Stateful)</a:t>
            </a:r>
            <a:endParaRPr lang="en-US" sz="1500" dirty="0"/>
          </a:p>
        </p:txBody>
      </p:sp>
      <p:sp>
        <p:nvSpPr>
          <p:cNvPr id="24" name="Shape 22"/>
          <p:cNvSpPr/>
          <p:nvPr/>
        </p:nvSpPr>
        <p:spPr>
          <a:xfrm>
            <a:off x="6446520" y="2926080"/>
            <a:ext cx="2194560" cy="0"/>
          </a:xfrm>
          <a:prstGeom prst="line">
            <a:avLst/>
          </a:prstGeom>
          <a:noFill/>
          <a:ln w="12700">
            <a:solidFill>
              <a:srgbClr val="1E3A5F"/>
            </a:solidFill>
            <a:prstDash val="solid"/>
          </a:ln>
        </p:spPr>
      </p:sp>
      <p:sp>
        <p:nvSpPr>
          <p:cNvPr id="25" name="Text 23"/>
          <p:cNvSpPr/>
          <p:nvPr/>
        </p:nvSpPr>
        <p:spPr>
          <a:xfrm>
            <a:off x="6172200" y="2971800"/>
            <a:ext cx="2743200" cy="1600200"/>
          </a:xfrm>
          <a:prstGeom prst="rect">
            <a:avLst/>
          </a:prstGeom>
          <a:noFill/>
          <a:ln/>
        </p:spPr>
        <p:txBody>
          <a:bodyPr wrap="square" lIns="127000" tIns="127000" rIns="127000" bIns="127000" rtlCol="0" anchor="t"/>
          <a:lstStyle/>
          <a:p>
            <a:pPr algn="ctr" indent="0" marL="0">
              <a:buNone/>
            </a:pPr>
            <a:r>
              <a:rPr lang="en-US" sz="1200" dirty="0">
                <a:solidFill>
                  <a:srgbClr val="BFDBFE"/>
                </a:solidFill>
              </a:rPr>
              <a:t>XMSS lleva la cuenta de qué claves OTS ya usó. Nunca puede repetir un índice.</a:t>
            </a:r>
            <a:endParaRPr lang="en-US" sz="1200" dirty="0"/>
          </a:p>
        </p:txBody>
      </p:sp>
      <p:sp>
        <p:nvSpPr>
          <p:cNvPr id="26" name="Shape 24"/>
          <p:cNvSpPr/>
          <p:nvPr/>
        </p:nvSpPr>
        <p:spPr>
          <a:xfrm>
            <a:off x="320040" y="4572000"/>
            <a:ext cx="8503920" cy="548640"/>
          </a:xfrm>
          <a:prstGeom prst="rect">
            <a:avLst/>
          </a:prstGeom>
          <a:solidFill>
            <a:srgbClr val="0F2A1A"/>
          </a:solidFill>
          <a:ln w="12700">
            <a:solidFill>
              <a:srgbClr val="333333"/>
            </a:solidFill>
            <a:prstDash val="solid"/>
          </a:ln>
        </p:spPr>
      </p:sp>
      <p:sp>
        <p:nvSpPr>
          <p:cNvPr id="27" name="Text 25"/>
          <p:cNvSpPr/>
          <p:nvPr/>
        </p:nvSpPr>
        <p:spPr>
          <a:xfrm>
            <a:off x="320040" y="4572000"/>
            <a:ext cx="8503920" cy="548640"/>
          </a:xfrm>
          <a:prstGeom prst="rect">
            <a:avLst/>
          </a:prstGeom>
          <a:noFill/>
          <a:ln/>
        </p:spPr>
        <p:txBody>
          <a:bodyPr wrap="square" lIns="50800" tIns="50800" rIns="50800" bIns="50800" rtlCol="0" anchor="ctr"/>
          <a:lstStyle/>
          <a:p>
            <a:pPr indent="0" marL="0">
              <a:buNone/>
            </a:pPr>
            <a:r>
              <a:rPr lang="en-US" sz="900" dirty="0">
                <a:solidFill>
                  <a:srgbClr val="BFDBFE"/>
                </a:solidFill>
              </a:rPr>
              <a:t xml:space="preserve">Base matemática: las funciones de hash SHA-256 son resistentes al algoritmo de Grover (cuántica) con pérdida de solo 50% de bits de seguridad — manejable duplicando el tamaño.</a:t>
            </a:r>
          </a:p>
          <a:p>
            <a:pPr indent="0" marL="0">
              <a:buNone/>
            </a:pPr>
            <a:r>
              <a:rPr lang="en-US" sz="900" b="1" dirty="0">
                <a:solidFill>
                  <a:srgbClr val="3B82F6"/>
                </a:solidFill>
              </a:rPr>
              <a:t xml:space="preserve">Random Oracle Paradox: </a:t>
            </a:r>
            <a:r>
              <a:rPr lang="en-US" sz="850" dirty="0">
                <a:solidFill>
                  <a:srgbClr val="94A3B8"/>
                </a:solidFill>
              </a:rPr>
              <a:t>Para meter XMSS en un SNARK, la función hash debe ser circuito explícito, pero la prueba de seguridad la trata como random oracle. Drake et al. (2025) lo resuelven con SM-TCR, SM-PRE, SM-UD.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E3D"/>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F59E0B"/>
          </a:solidFill>
          <a:ln w="12700">
            <a:solidFill>
              <a:srgbClr val="333333"/>
            </a:solidFill>
            <a:prstDash val="solid"/>
          </a:ln>
        </p:spPr>
      </p:sp>
      <p:sp>
        <p:nvSpPr>
          <p:cNvPr id="3" name="Shape 1"/>
          <p:cNvSpPr/>
          <p:nvPr/>
        </p:nvSpPr>
        <p:spPr>
          <a:xfrm>
            <a:off x="0" y="0"/>
            <a:ext cx="9144000" cy="73152"/>
          </a:xfrm>
          <a:prstGeom prst="rect">
            <a:avLst/>
          </a:prstGeom>
          <a:solidFill>
            <a:srgbClr val="F59E0B"/>
          </a:solidFill>
          <a:ln w="12700">
            <a:solidFill>
              <a:srgbClr val="333333"/>
            </a:solidFill>
            <a:prstDash val="solid"/>
          </a:ln>
        </p:spPr>
      </p:sp>
      <p:sp>
        <p:nvSpPr>
          <p:cNvPr id="4" name="Text 2"/>
          <p:cNvSpPr/>
          <p:nvPr/>
        </p:nvSpPr>
        <p:spPr>
          <a:xfrm>
            <a:off x="274320" y="182880"/>
            <a:ext cx="8595360" cy="502920"/>
          </a:xfrm>
          <a:prstGeom prst="rect">
            <a:avLst/>
          </a:prstGeom>
          <a:noFill/>
          <a:ln/>
        </p:spPr>
        <p:txBody>
          <a:bodyPr wrap="square" lIns="0" tIns="0" rIns="0" bIns="0" rtlCol="0" anchor="ctr"/>
          <a:lstStyle/>
          <a:p>
            <a:pPr indent="0" marL="0">
              <a:buNone/>
            </a:pPr>
            <a:r>
              <a:rPr lang="en-US" sz="2400" b="1" dirty="0">
                <a:solidFill>
                  <a:srgbClr val="F8FAFC"/>
                </a:solidFill>
                <a:latin typeface="Arial" pitchFamily="34" charset="0"/>
                <a:ea typeface="Arial" pitchFamily="34" charset="-122"/>
                <a:cs typeface="Arial" pitchFamily="34" charset="-120"/>
              </a:rPr>
              <a:t>Pilar 01 — OTS: Winternitz One-Time Signature</a:t>
            </a:r>
            <a:endParaRPr lang="en-US" sz="2400" dirty="0"/>
          </a:p>
        </p:txBody>
      </p:sp>
      <p:sp>
        <p:nvSpPr>
          <p:cNvPr id="5" name="Shape 3"/>
          <p:cNvSpPr/>
          <p:nvPr/>
        </p:nvSpPr>
        <p:spPr>
          <a:xfrm>
            <a:off x="274320" y="731520"/>
            <a:ext cx="8412480" cy="0"/>
          </a:xfrm>
          <a:prstGeom prst="line">
            <a:avLst/>
          </a:prstGeom>
          <a:noFill/>
          <a:ln w="12700">
            <a:solidFill>
              <a:srgbClr val="1E3A5F"/>
            </a:solidFill>
            <a:prstDash val="solid"/>
          </a:ln>
        </p:spPr>
      </p:sp>
      <p:sp>
        <p:nvSpPr>
          <p:cNvPr id="6" name="Text 4"/>
          <p:cNvSpPr/>
          <p:nvPr/>
        </p:nvSpPr>
        <p:spPr>
          <a:xfrm>
            <a:off x="274320" y="822960"/>
            <a:ext cx="3931920" cy="320040"/>
          </a:xfrm>
          <a:prstGeom prst="rect">
            <a:avLst/>
          </a:prstGeom>
          <a:noFill/>
          <a:ln/>
        </p:spPr>
        <p:txBody>
          <a:bodyPr wrap="square" lIns="0" tIns="0" rIns="0" bIns="0" rtlCol="0" anchor="ctr"/>
          <a:lstStyle/>
          <a:p>
            <a:pPr indent="0" marL="0">
              <a:buNone/>
            </a:pPr>
            <a:r>
              <a:rPr lang="en-US" sz="1400" b="1" dirty="0">
                <a:solidFill>
                  <a:srgbClr val="FDE68A"/>
                </a:solidFill>
              </a:rPr>
              <a:t>¿Cómo funciona?</a:t>
            </a:r>
            <a:endParaRPr lang="en-US" sz="1400" dirty="0"/>
          </a:p>
        </p:txBody>
      </p:sp>
      <p:sp>
        <p:nvSpPr>
          <p:cNvPr id="7" name="Shape 5"/>
          <p:cNvSpPr/>
          <p:nvPr/>
        </p:nvSpPr>
        <p:spPr>
          <a:xfrm>
            <a:off x="274320" y="1188720"/>
            <a:ext cx="3931920" cy="566928"/>
          </a:xfrm>
          <a:prstGeom prst="rect">
            <a:avLst/>
          </a:prstGeom>
          <a:solidFill>
            <a:srgbClr val="080E1A"/>
          </a:solidFill>
          <a:ln w="12700">
            <a:solidFill>
              <a:srgbClr val="1E3A5F"/>
            </a:solidFill>
            <a:prstDash val="solid"/>
          </a:ln>
        </p:spPr>
      </p:sp>
      <p:sp>
        <p:nvSpPr>
          <p:cNvPr id="8" name="Shape 6"/>
          <p:cNvSpPr/>
          <p:nvPr/>
        </p:nvSpPr>
        <p:spPr>
          <a:xfrm>
            <a:off x="274320" y="1188720"/>
            <a:ext cx="1005840" cy="566928"/>
          </a:xfrm>
          <a:prstGeom prst="rect">
            <a:avLst/>
          </a:prstGeom>
          <a:solidFill>
            <a:srgbClr val="F59E0B">
              <a:alpha val="75000"/>
            </a:srgbClr>
          </a:solidFill>
          <a:ln w="12700">
            <a:solidFill>
              <a:srgbClr val="333333"/>
            </a:solidFill>
            <a:prstDash val="solid"/>
          </a:ln>
        </p:spPr>
      </p:sp>
      <p:sp>
        <p:nvSpPr>
          <p:cNvPr id="9" name="Text 7"/>
          <p:cNvSpPr/>
          <p:nvPr/>
        </p:nvSpPr>
        <p:spPr>
          <a:xfrm>
            <a:off x="274320" y="1188720"/>
            <a:ext cx="1005840" cy="566928"/>
          </a:xfrm>
          <a:prstGeom prst="rect">
            <a:avLst/>
          </a:prstGeom>
          <a:noFill/>
          <a:ln/>
        </p:spPr>
        <p:txBody>
          <a:bodyPr wrap="square" lIns="0" tIns="0" rIns="0" bIns="0" rtlCol="0" anchor="ctr"/>
          <a:lstStyle/>
          <a:p>
            <a:pPr algn="ctr" indent="0" marL="0">
              <a:buNone/>
            </a:pPr>
            <a:r>
              <a:rPr lang="en-US" sz="1100" b="1" dirty="0">
                <a:solidFill>
                  <a:srgbClr val="F8FAFC"/>
                </a:solidFill>
              </a:rPr>
              <a:t>Clave privada</a:t>
            </a:r>
            <a:endParaRPr lang="en-US" sz="1100" dirty="0"/>
          </a:p>
        </p:txBody>
      </p:sp>
      <p:sp>
        <p:nvSpPr>
          <p:cNvPr id="10" name="Text 8"/>
          <p:cNvSpPr/>
          <p:nvPr/>
        </p:nvSpPr>
        <p:spPr>
          <a:xfrm>
            <a:off x="1325880" y="1188720"/>
            <a:ext cx="2880360" cy="566928"/>
          </a:xfrm>
          <a:prstGeom prst="rect">
            <a:avLst/>
          </a:prstGeom>
          <a:noFill/>
          <a:ln/>
        </p:spPr>
        <p:txBody>
          <a:bodyPr wrap="square" lIns="76200" tIns="76200" rIns="76200" bIns="76200" rtlCol="0" anchor="ctr"/>
          <a:lstStyle/>
          <a:p>
            <a:pPr indent="0" marL="0">
              <a:buNone/>
            </a:pPr>
            <a:r>
              <a:rPr lang="en-US" sz="1100" dirty="0">
                <a:solidFill>
                  <a:srgbClr val="BFDBFE"/>
                </a:solidFill>
              </a:rPr>
              <a:t>Serie de valores aleatorios: sk₀, sk₁, … skₙ</a:t>
            </a:r>
            <a:endParaRPr lang="en-US" sz="1100" dirty="0"/>
          </a:p>
        </p:txBody>
      </p:sp>
      <p:sp>
        <p:nvSpPr>
          <p:cNvPr id="11" name="Shape 9"/>
          <p:cNvSpPr/>
          <p:nvPr/>
        </p:nvSpPr>
        <p:spPr>
          <a:xfrm>
            <a:off x="274320" y="1856232"/>
            <a:ext cx="3931920" cy="566928"/>
          </a:xfrm>
          <a:prstGeom prst="rect">
            <a:avLst/>
          </a:prstGeom>
          <a:solidFill>
            <a:srgbClr val="080E1A"/>
          </a:solidFill>
          <a:ln w="12700">
            <a:solidFill>
              <a:srgbClr val="1E3A5F"/>
            </a:solidFill>
            <a:prstDash val="solid"/>
          </a:ln>
        </p:spPr>
      </p:sp>
      <p:sp>
        <p:nvSpPr>
          <p:cNvPr id="12" name="Shape 10"/>
          <p:cNvSpPr/>
          <p:nvPr/>
        </p:nvSpPr>
        <p:spPr>
          <a:xfrm>
            <a:off x="274320" y="1856232"/>
            <a:ext cx="1005840" cy="566928"/>
          </a:xfrm>
          <a:prstGeom prst="rect">
            <a:avLst/>
          </a:prstGeom>
          <a:solidFill>
            <a:srgbClr val="F59E0B">
              <a:alpha val="75000"/>
            </a:srgbClr>
          </a:solidFill>
          <a:ln w="12700">
            <a:solidFill>
              <a:srgbClr val="333333"/>
            </a:solidFill>
            <a:prstDash val="solid"/>
          </a:ln>
        </p:spPr>
      </p:sp>
      <p:sp>
        <p:nvSpPr>
          <p:cNvPr id="13" name="Text 11"/>
          <p:cNvSpPr/>
          <p:nvPr/>
        </p:nvSpPr>
        <p:spPr>
          <a:xfrm>
            <a:off x="274320" y="1856232"/>
            <a:ext cx="1005840" cy="566928"/>
          </a:xfrm>
          <a:prstGeom prst="rect">
            <a:avLst/>
          </a:prstGeom>
          <a:noFill/>
          <a:ln/>
        </p:spPr>
        <p:txBody>
          <a:bodyPr wrap="square" lIns="0" tIns="0" rIns="0" bIns="0" rtlCol="0" anchor="ctr"/>
          <a:lstStyle/>
          <a:p>
            <a:pPr algn="ctr" indent="0" marL="0">
              <a:buNone/>
            </a:pPr>
            <a:r>
              <a:rPr lang="en-US" sz="1100" b="1" dirty="0">
                <a:solidFill>
                  <a:srgbClr val="F8FAFC"/>
                </a:solidFill>
              </a:rPr>
              <a:t>Clave pública</a:t>
            </a:r>
            <a:endParaRPr lang="en-US" sz="1100" dirty="0"/>
          </a:p>
        </p:txBody>
      </p:sp>
      <p:sp>
        <p:nvSpPr>
          <p:cNvPr id="14" name="Text 12"/>
          <p:cNvSpPr/>
          <p:nvPr/>
        </p:nvSpPr>
        <p:spPr>
          <a:xfrm>
            <a:off x="1325880" y="1856232"/>
            <a:ext cx="2880360" cy="566928"/>
          </a:xfrm>
          <a:prstGeom prst="rect">
            <a:avLst/>
          </a:prstGeom>
          <a:noFill/>
          <a:ln/>
        </p:spPr>
        <p:txBody>
          <a:bodyPr wrap="square" lIns="76200" tIns="76200" rIns="76200" bIns="76200" rtlCol="0" anchor="ctr"/>
          <a:lstStyle/>
          <a:p>
            <a:pPr indent="0" marL="0">
              <a:buNone/>
            </a:pPr>
            <a:r>
              <a:rPr lang="en-US" sz="1100" dirty="0">
                <a:solidFill>
                  <a:srgbClr val="BFDBFE"/>
                </a:solidFill>
              </a:rPr>
              <a:t>Hash de cada valor privado: pk_i = Hash(sk_i)</a:t>
            </a:r>
            <a:endParaRPr lang="en-US" sz="1100" dirty="0"/>
          </a:p>
        </p:txBody>
      </p:sp>
      <p:sp>
        <p:nvSpPr>
          <p:cNvPr id="15" name="Shape 13"/>
          <p:cNvSpPr/>
          <p:nvPr/>
        </p:nvSpPr>
        <p:spPr>
          <a:xfrm>
            <a:off x="274320" y="2523744"/>
            <a:ext cx="3931920" cy="566928"/>
          </a:xfrm>
          <a:prstGeom prst="rect">
            <a:avLst/>
          </a:prstGeom>
          <a:solidFill>
            <a:srgbClr val="080E1A"/>
          </a:solidFill>
          <a:ln w="12700">
            <a:solidFill>
              <a:srgbClr val="1E3A5F"/>
            </a:solidFill>
            <a:prstDash val="solid"/>
          </a:ln>
        </p:spPr>
      </p:sp>
      <p:sp>
        <p:nvSpPr>
          <p:cNvPr id="16" name="Shape 14"/>
          <p:cNvSpPr/>
          <p:nvPr/>
        </p:nvSpPr>
        <p:spPr>
          <a:xfrm>
            <a:off x="274320" y="2523744"/>
            <a:ext cx="1005840" cy="566928"/>
          </a:xfrm>
          <a:prstGeom prst="rect">
            <a:avLst/>
          </a:prstGeom>
          <a:solidFill>
            <a:srgbClr val="F59E0B">
              <a:alpha val="75000"/>
            </a:srgbClr>
          </a:solidFill>
          <a:ln w="12700">
            <a:solidFill>
              <a:srgbClr val="333333"/>
            </a:solidFill>
            <a:prstDash val="solid"/>
          </a:ln>
        </p:spPr>
      </p:sp>
      <p:sp>
        <p:nvSpPr>
          <p:cNvPr id="17" name="Text 15"/>
          <p:cNvSpPr/>
          <p:nvPr/>
        </p:nvSpPr>
        <p:spPr>
          <a:xfrm>
            <a:off x="274320" y="2523744"/>
            <a:ext cx="1005840" cy="566928"/>
          </a:xfrm>
          <a:prstGeom prst="rect">
            <a:avLst/>
          </a:prstGeom>
          <a:noFill/>
          <a:ln/>
        </p:spPr>
        <p:txBody>
          <a:bodyPr wrap="square" lIns="0" tIns="0" rIns="0" bIns="0" rtlCol="0" anchor="ctr"/>
          <a:lstStyle/>
          <a:p>
            <a:pPr algn="ctr" indent="0" marL="0">
              <a:buNone/>
            </a:pPr>
            <a:r>
              <a:rPr lang="en-US" sz="1100" b="1" dirty="0">
                <a:solidFill>
                  <a:srgbClr val="F8FAFC"/>
                </a:solidFill>
              </a:rPr>
              <a:t>Firmar</a:t>
            </a:r>
            <a:endParaRPr lang="en-US" sz="1100" dirty="0"/>
          </a:p>
        </p:txBody>
      </p:sp>
      <p:sp>
        <p:nvSpPr>
          <p:cNvPr id="18" name="Text 16"/>
          <p:cNvSpPr/>
          <p:nvPr/>
        </p:nvSpPr>
        <p:spPr>
          <a:xfrm>
            <a:off x="1325880" y="2523744"/>
            <a:ext cx="2880360" cy="566928"/>
          </a:xfrm>
          <a:prstGeom prst="rect">
            <a:avLst/>
          </a:prstGeom>
          <a:noFill/>
          <a:ln/>
        </p:spPr>
        <p:txBody>
          <a:bodyPr wrap="square" lIns="76200" tIns="76200" rIns="76200" bIns="76200" rtlCol="0" anchor="ctr"/>
          <a:lstStyle/>
          <a:p>
            <a:pPr indent="0" marL="0">
              <a:buNone/>
            </a:pPr>
            <a:r>
              <a:rPr lang="en-US" sz="1100" dirty="0">
                <a:solidFill>
                  <a:srgbClr val="BFDBFE"/>
                </a:solidFill>
              </a:rPr>
              <a:t>Para cada bit del mensaje, revelás sk_i (bit=1) o su hash (bit=0)</a:t>
            </a:r>
            <a:endParaRPr lang="en-US" sz="1100" dirty="0"/>
          </a:p>
        </p:txBody>
      </p:sp>
      <p:sp>
        <p:nvSpPr>
          <p:cNvPr id="19" name="Shape 17"/>
          <p:cNvSpPr/>
          <p:nvPr/>
        </p:nvSpPr>
        <p:spPr>
          <a:xfrm>
            <a:off x="274320" y="3191256"/>
            <a:ext cx="3931920" cy="566928"/>
          </a:xfrm>
          <a:prstGeom prst="rect">
            <a:avLst/>
          </a:prstGeom>
          <a:solidFill>
            <a:srgbClr val="080E1A"/>
          </a:solidFill>
          <a:ln w="12700">
            <a:solidFill>
              <a:srgbClr val="1E3A5F"/>
            </a:solidFill>
            <a:prstDash val="solid"/>
          </a:ln>
        </p:spPr>
      </p:sp>
      <p:sp>
        <p:nvSpPr>
          <p:cNvPr id="20" name="Shape 18"/>
          <p:cNvSpPr/>
          <p:nvPr/>
        </p:nvSpPr>
        <p:spPr>
          <a:xfrm>
            <a:off x="274320" y="3191256"/>
            <a:ext cx="1005840" cy="566928"/>
          </a:xfrm>
          <a:prstGeom prst="rect">
            <a:avLst/>
          </a:prstGeom>
          <a:solidFill>
            <a:srgbClr val="F59E0B">
              <a:alpha val="75000"/>
            </a:srgbClr>
          </a:solidFill>
          <a:ln w="12700">
            <a:solidFill>
              <a:srgbClr val="333333"/>
            </a:solidFill>
            <a:prstDash val="solid"/>
          </a:ln>
        </p:spPr>
      </p:sp>
      <p:sp>
        <p:nvSpPr>
          <p:cNvPr id="21" name="Text 19"/>
          <p:cNvSpPr/>
          <p:nvPr/>
        </p:nvSpPr>
        <p:spPr>
          <a:xfrm>
            <a:off x="274320" y="3191256"/>
            <a:ext cx="1005840" cy="566928"/>
          </a:xfrm>
          <a:prstGeom prst="rect">
            <a:avLst/>
          </a:prstGeom>
          <a:noFill/>
          <a:ln/>
        </p:spPr>
        <p:txBody>
          <a:bodyPr wrap="square" lIns="0" tIns="0" rIns="0" bIns="0" rtlCol="0" anchor="ctr"/>
          <a:lstStyle/>
          <a:p>
            <a:pPr algn="ctr" indent="0" marL="0">
              <a:buNone/>
            </a:pPr>
            <a:r>
              <a:rPr lang="en-US" sz="1100" b="1" dirty="0">
                <a:solidFill>
                  <a:srgbClr val="F8FAFC"/>
                </a:solidFill>
              </a:rPr>
              <a:t>Verificar</a:t>
            </a:r>
            <a:endParaRPr lang="en-US" sz="1100" dirty="0"/>
          </a:p>
        </p:txBody>
      </p:sp>
      <p:sp>
        <p:nvSpPr>
          <p:cNvPr id="22" name="Text 20"/>
          <p:cNvSpPr/>
          <p:nvPr/>
        </p:nvSpPr>
        <p:spPr>
          <a:xfrm>
            <a:off x="1325880" y="3191256"/>
            <a:ext cx="2880360" cy="566928"/>
          </a:xfrm>
          <a:prstGeom prst="rect">
            <a:avLst/>
          </a:prstGeom>
          <a:noFill/>
          <a:ln/>
        </p:spPr>
        <p:txBody>
          <a:bodyPr wrap="square" lIns="76200" tIns="76200" rIns="76200" bIns="76200" rtlCol="0" anchor="ctr"/>
          <a:lstStyle/>
          <a:p>
            <a:pPr indent="0" marL="0">
              <a:buNone/>
            </a:pPr>
            <a:r>
              <a:rPr lang="en-US" sz="1100" dirty="0">
                <a:solidFill>
                  <a:srgbClr val="BFDBFE"/>
                </a:solidFill>
              </a:rPr>
              <a:t>El verificador comprueba que los valores revelados hasheados baten con la clave pública</a:t>
            </a:r>
            <a:endParaRPr lang="en-US" sz="1100" dirty="0"/>
          </a:p>
        </p:txBody>
      </p:sp>
      <p:sp>
        <p:nvSpPr>
          <p:cNvPr id="23" name="Shape 21"/>
          <p:cNvSpPr/>
          <p:nvPr/>
        </p:nvSpPr>
        <p:spPr>
          <a:xfrm>
            <a:off x="274320" y="3858768"/>
            <a:ext cx="3931920" cy="566928"/>
          </a:xfrm>
          <a:prstGeom prst="rect">
            <a:avLst/>
          </a:prstGeom>
          <a:solidFill>
            <a:srgbClr val="3B0A0A"/>
          </a:solidFill>
          <a:ln w="12700">
            <a:solidFill>
              <a:srgbClr val="EF4444"/>
            </a:solidFill>
            <a:prstDash val="solid"/>
          </a:ln>
        </p:spPr>
      </p:sp>
      <p:sp>
        <p:nvSpPr>
          <p:cNvPr id="24" name="Shape 22"/>
          <p:cNvSpPr/>
          <p:nvPr/>
        </p:nvSpPr>
        <p:spPr>
          <a:xfrm>
            <a:off x="274320" y="3858768"/>
            <a:ext cx="1005840" cy="566928"/>
          </a:xfrm>
          <a:prstGeom prst="rect">
            <a:avLst/>
          </a:prstGeom>
          <a:solidFill>
            <a:srgbClr val="EF4444">
              <a:alpha val="70000"/>
            </a:srgbClr>
          </a:solidFill>
          <a:ln w="12700">
            <a:solidFill>
              <a:srgbClr val="333333"/>
            </a:solidFill>
            <a:prstDash val="solid"/>
          </a:ln>
        </p:spPr>
      </p:sp>
      <p:sp>
        <p:nvSpPr>
          <p:cNvPr id="25" name="Text 23"/>
          <p:cNvSpPr/>
          <p:nvPr/>
        </p:nvSpPr>
        <p:spPr>
          <a:xfrm>
            <a:off x="274320" y="3858768"/>
            <a:ext cx="1005840" cy="566928"/>
          </a:xfrm>
          <a:prstGeom prst="rect">
            <a:avLst/>
          </a:prstGeom>
          <a:noFill/>
          <a:ln/>
        </p:spPr>
        <p:txBody>
          <a:bodyPr wrap="square" lIns="0" tIns="0" rIns="0" bIns="0" rtlCol="0" anchor="ctr"/>
          <a:lstStyle/>
          <a:p>
            <a:pPr algn="ctr" indent="0" marL="0">
              <a:buNone/>
            </a:pPr>
            <a:r>
              <a:rPr lang="en-US" sz="1100" b="1" dirty="0">
                <a:solidFill>
                  <a:srgbClr val="F8FAFC"/>
                </a:solidFill>
              </a:rPr>
              <a:t>⚠ Solo UNA vez</a:t>
            </a:r>
            <a:endParaRPr lang="en-US" sz="1100" dirty="0"/>
          </a:p>
        </p:txBody>
      </p:sp>
      <p:sp>
        <p:nvSpPr>
          <p:cNvPr id="26" name="Text 24"/>
          <p:cNvSpPr/>
          <p:nvPr/>
        </p:nvSpPr>
        <p:spPr>
          <a:xfrm>
            <a:off x="1325880" y="3858768"/>
            <a:ext cx="2880360" cy="566928"/>
          </a:xfrm>
          <a:prstGeom prst="rect">
            <a:avLst/>
          </a:prstGeom>
          <a:noFill/>
          <a:ln/>
        </p:spPr>
        <p:txBody>
          <a:bodyPr wrap="square" lIns="76200" tIns="76200" rIns="76200" bIns="76200" rtlCol="0" anchor="ctr"/>
          <a:lstStyle/>
          <a:p>
            <a:pPr indent="0" marL="0">
              <a:buNone/>
            </a:pPr>
            <a:r>
              <a:rPr lang="en-US" sz="1100" dirty="0">
                <a:solidFill>
                  <a:srgbClr val="BFDBFE"/>
                </a:solidFill>
              </a:rPr>
              <a:t>Si firmás dos mensajes distintos, un atacante puede reconstruir la clave privada combinando ambas firmas</a:t>
            </a:r>
            <a:endParaRPr lang="en-US" sz="1100" dirty="0"/>
          </a:p>
        </p:txBody>
      </p:sp>
      <p:sp>
        <p:nvSpPr>
          <p:cNvPr id="27" name="Text 25"/>
          <p:cNvSpPr/>
          <p:nvPr/>
        </p:nvSpPr>
        <p:spPr>
          <a:xfrm>
            <a:off x="4480560" y="822960"/>
            <a:ext cx="4389120" cy="320040"/>
          </a:xfrm>
          <a:prstGeom prst="rect">
            <a:avLst/>
          </a:prstGeom>
          <a:noFill/>
          <a:ln/>
        </p:spPr>
        <p:txBody>
          <a:bodyPr wrap="square" lIns="0" tIns="0" rIns="0" bIns="0" rtlCol="0" anchor="ctr"/>
          <a:lstStyle/>
          <a:p>
            <a:pPr indent="0" marL="0">
              <a:buNone/>
            </a:pPr>
            <a:r>
              <a:rPr lang="en-US" sz="1400" b="1" dirty="0">
                <a:solidFill>
                  <a:srgbClr val="FDE68A"/>
                </a:solidFill>
              </a:rPr>
              <a:t>Diagrama simplificado</a:t>
            </a:r>
            <a:endParaRPr lang="en-US" sz="1400" dirty="0"/>
          </a:p>
        </p:txBody>
      </p:sp>
      <p:sp>
        <p:nvSpPr>
          <p:cNvPr id="28" name="Shape 26"/>
          <p:cNvSpPr/>
          <p:nvPr/>
        </p:nvSpPr>
        <p:spPr>
          <a:xfrm>
            <a:off x="4480560" y="1188720"/>
            <a:ext cx="4389120" cy="3566160"/>
          </a:xfrm>
          <a:prstGeom prst="rect">
            <a:avLst/>
          </a:prstGeom>
          <a:solidFill>
            <a:srgbClr val="080E1A"/>
          </a:solidFill>
          <a:ln w="12700">
            <a:solidFill>
              <a:srgbClr val="1E3A5F"/>
            </a:solidFill>
            <a:prstDash val="solid"/>
          </a:ln>
        </p:spPr>
      </p:sp>
      <p:sp>
        <p:nvSpPr>
          <p:cNvPr id="29" name="Shape 27"/>
          <p:cNvSpPr/>
          <p:nvPr/>
        </p:nvSpPr>
        <p:spPr>
          <a:xfrm>
            <a:off x="4617720" y="1417320"/>
            <a:ext cx="731520" cy="365760"/>
          </a:xfrm>
          <a:prstGeom prst="rect">
            <a:avLst/>
          </a:prstGeom>
          <a:solidFill>
            <a:srgbClr val="F59E0B">
              <a:alpha val="80000"/>
            </a:srgbClr>
          </a:solidFill>
          <a:ln w="12700">
            <a:solidFill>
              <a:srgbClr val="F59E0B"/>
            </a:solidFill>
            <a:prstDash val="solid"/>
          </a:ln>
        </p:spPr>
      </p:sp>
      <p:sp>
        <p:nvSpPr>
          <p:cNvPr id="30" name="Text 28"/>
          <p:cNvSpPr/>
          <p:nvPr/>
        </p:nvSpPr>
        <p:spPr>
          <a:xfrm>
            <a:off x="4617720" y="1417320"/>
            <a:ext cx="731520" cy="365760"/>
          </a:xfrm>
          <a:prstGeom prst="rect">
            <a:avLst/>
          </a:prstGeom>
          <a:noFill/>
          <a:ln/>
        </p:spPr>
        <p:txBody>
          <a:bodyPr wrap="square" lIns="0" tIns="0" rIns="0" bIns="0" rtlCol="0" anchor="ctr"/>
          <a:lstStyle/>
          <a:p>
            <a:pPr algn="ctr" indent="0" marL="0">
              <a:buNone/>
            </a:pPr>
            <a:r>
              <a:rPr lang="en-US" sz="1100" b="1" dirty="0">
                <a:solidFill>
                  <a:srgbClr val="F8FAFC"/>
                </a:solidFill>
              </a:rPr>
              <a:t>sk₀</a:t>
            </a:r>
            <a:endParaRPr lang="en-US" sz="1100" dirty="0"/>
          </a:p>
        </p:txBody>
      </p:sp>
      <p:sp>
        <p:nvSpPr>
          <p:cNvPr id="31" name="Text 29"/>
          <p:cNvSpPr/>
          <p:nvPr/>
        </p:nvSpPr>
        <p:spPr>
          <a:xfrm>
            <a:off x="5486400" y="1417320"/>
            <a:ext cx="640080" cy="365760"/>
          </a:xfrm>
          <a:prstGeom prst="rect">
            <a:avLst/>
          </a:prstGeom>
          <a:noFill/>
          <a:ln/>
        </p:spPr>
        <p:txBody>
          <a:bodyPr wrap="square" lIns="0" tIns="0" rIns="0" bIns="0" rtlCol="0" anchor="ctr"/>
          <a:lstStyle/>
          <a:p>
            <a:pPr algn="ctr" indent="0" marL="0">
              <a:buNone/>
            </a:pPr>
            <a:r>
              <a:rPr lang="en-US" sz="1000" dirty="0">
                <a:solidFill>
                  <a:srgbClr val="64748B"/>
                </a:solidFill>
              </a:rPr>
              <a:t>Hash</a:t>
            </a:r>
            <a:endParaRPr lang="en-US" sz="1000" dirty="0"/>
          </a:p>
        </p:txBody>
      </p:sp>
      <p:sp>
        <p:nvSpPr>
          <p:cNvPr id="32" name="Shape 30"/>
          <p:cNvSpPr/>
          <p:nvPr/>
        </p:nvSpPr>
        <p:spPr>
          <a:xfrm>
            <a:off x="5349240" y="1600200"/>
            <a:ext cx="640080" cy="0"/>
          </a:xfrm>
          <a:prstGeom prst="line">
            <a:avLst/>
          </a:prstGeom>
          <a:noFill/>
          <a:ln w="12700">
            <a:solidFill>
              <a:srgbClr val="64748B"/>
            </a:solidFill>
            <a:prstDash val="solid"/>
          </a:ln>
        </p:spPr>
      </p:sp>
      <p:sp>
        <p:nvSpPr>
          <p:cNvPr id="33" name="Shape 31"/>
          <p:cNvSpPr/>
          <p:nvPr/>
        </p:nvSpPr>
        <p:spPr>
          <a:xfrm>
            <a:off x="5989320" y="1508760"/>
            <a:ext cx="0" cy="182880"/>
          </a:xfrm>
          <a:prstGeom prst="line">
            <a:avLst/>
          </a:prstGeom>
          <a:noFill/>
          <a:ln w="12700">
            <a:solidFill>
              <a:srgbClr val="64748B"/>
            </a:solidFill>
            <a:prstDash val="solid"/>
          </a:ln>
        </p:spPr>
      </p:sp>
      <p:sp>
        <p:nvSpPr>
          <p:cNvPr id="34" name="Shape 32"/>
          <p:cNvSpPr/>
          <p:nvPr/>
        </p:nvSpPr>
        <p:spPr>
          <a:xfrm>
            <a:off x="6035040" y="1417320"/>
            <a:ext cx="731520" cy="365760"/>
          </a:xfrm>
          <a:prstGeom prst="rect">
            <a:avLst/>
          </a:prstGeom>
          <a:solidFill>
            <a:srgbClr val="10B981">
              <a:alpha val="80000"/>
            </a:srgbClr>
          </a:solidFill>
          <a:ln w="12700">
            <a:solidFill>
              <a:srgbClr val="10B981"/>
            </a:solidFill>
            <a:prstDash val="solid"/>
          </a:ln>
        </p:spPr>
      </p:sp>
      <p:sp>
        <p:nvSpPr>
          <p:cNvPr id="35" name="Text 33"/>
          <p:cNvSpPr/>
          <p:nvPr/>
        </p:nvSpPr>
        <p:spPr>
          <a:xfrm>
            <a:off x="6035040" y="1417320"/>
            <a:ext cx="731520" cy="365760"/>
          </a:xfrm>
          <a:prstGeom prst="rect">
            <a:avLst/>
          </a:prstGeom>
          <a:noFill/>
          <a:ln/>
        </p:spPr>
        <p:txBody>
          <a:bodyPr wrap="square" lIns="0" tIns="0" rIns="0" bIns="0" rtlCol="0" anchor="ctr"/>
          <a:lstStyle/>
          <a:p>
            <a:pPr algn="ctr" indent="0" marL="0">
              <a:buNone/>
            </a:pPr>
            <a:r>
              <a:rPr lang="en-US" sz="1100" b="1" dirty="0">
                <a:solidFill>
                  <a:srgbClr val="F8FAFC"/>
                </a:solidFill>
              </a:rPr>
              <a:t>pk₀</a:t>
            </a:r>
            <a:endParaRPr lang="en-US" sz="1100" dirty="0"/>
          </a:p>
        </p:txBody>
      </p:sp>
      <p:sp>
        <p:nvSpPr>
          <p:cNvPr id="36" name="Shape 34"/>
          <p:cNvSpPr/>
          <p:nvPr/>
        </p:nvSpPr>
        <p:spPr>
          <a:xfrm>
            <a:off x="4617720" y="2167128"/>
            <a:ext cx="731520" cy="365760"/>
          </a:xfrm>
          <a:prstGeom prst="rect">
            <a:avLst/>
          </a:prstGeom>
          <a:solidFill>
            <a:srgbClr val="F59E0B">
              <a:alpha val="80000"/>
            </a:srgbClr>
          </a:solidFill>
          <a:ln w="12700">
            <a:solidFill>
              <a:srgbClr val="F59E0B"/>
            </a:solidFill>
            <a:prstDash val="solid"/>
          </a:ln>
        </p:spPr>
      </p:sp>
      <p:sp>
        <p:nvSpPr>
          <p:cNvPr id="37" name="Text 35"/>
          <p:cNvSpPr/>
          <p:nvPr/>
        </p:nvSpPr>
        <p:spPr>
          <a:xfrm>
            <a:off x="4617720" y="2167128"/>
            <a:ext cx="731520" cy="365760"/>
          </a:xfrm>
          <a:prstGeom prst="rect">
            <a:avLst/>
          </a:prstGeom>
          <a:noFill/>
          <a:ln/>
        </p:spPr>
        <p:txBody>
          <a:bodyPr wrap="square" lIns="0" tIns="0" rIns="0" bIns="0" rtlCol="0" anchor="ctr"/>
          <a:lstStyle/>
          <a:p>
            <a:pPr algn="ctr" indent="0" marL="0">
              <a:buNone/>
            </a:pPr>
            <a:r>
              <a:rPr lang="en-US" sz="1100" b="1" dirty="0">
                <a:solidFill>
                  <a:srgbClr val="F8FAFC"/>
                </a:solidFill>
              </a:rPr>
              <a:t>sk₁</a:t>
            </a:r>
            <a:endParaRPr lang="en-US" sz="1100" dirty="0"/>
          </a:p>
        </p:txBody>
      </p:sp>
      <p:sp>
        <p:nvSpPr>
          <p:cNvPr id="38" name="Text 36"/>
          <p:cNvSpPr/>
          <p:nvPr/>
        </p:nvSpPr>
        <p:spPr>
          <a:xfrm>
            <a:off x="5486400" y="2167128"/>
            <a:ext cx="640080" cy="365760"/>
          </a:xfrm>
          <a:prstGeom prst="rect">
            <a:avLst/>
          </a:prstGeom>
          <a:noFill/>
          <a:ln/>
        </p:spPr>
        <p:txBody>
          <a:bodyPr wrap="square" lIns="0" tIns="0" rIns="0" bIns="0" rtlCol="0" anchor="ctr"/>
          <a:lstStyle/>
          <a:p>
            <a:pPr algn="ctr" indent="0" marL="0">
              <a:buNone/>
            </a:pPr>
            <a:r>
              <a:rPr lang="en-US" sz="1000" dirty="0">
                <a:solidFill>
                  <a:srgbClr val="64748B"/>
                </a:solidFill>
              </a:rPr>
              <a:t>Hash</a:t>
            </a:r>
            <a:endParaRPr lang="en-US" sz="1000" dirty="0"/>
          </a:p>
        </p:txBody>
      </p:sp>
      <p:sp>
        <p:nvSpPr>
          <p:cNvPr id="39" name="Shape 37"/>
          <p:cNvSpPr/>
          <p:nvPr/>
        </p:nvSpPr>
        <p:spPr>
          <a:xfrm>
            <a:off x="5349240" y="2350008"/>
            <a:ext cx="640080" cy="0"/>
          </a:xfrm>
          <a:prstGeom prst="line">
            <a:avLst/>
          </a:prstGeom>
          <a:noFill/>
          <a:ln w="12700">
            <a:solidFill>
              <a:srgbClr val="64748B"/>
            </a:solidFill>
            <a:prstDash val="solid"/>
          </a:ln>
        </p:spPr>
      </p:sp>
      <p:sp>
        <p:nvSpPr>
          <p:cNvPr id="40" name="Shape 38"/>
          <p:cNvSpPr/>
          <p:nvPr/>
        </p:nvSpPr>
        <p:spPr>
          <a:xfrm>
            <a:off x="5989320" y="2258568"/>
            <a:ext cx="0" cy="182880"/>
          </a:xfrm>
          <a:prstGeom prst="line">
            <a:avLst/>
          </a:prstGeom>
          <a:noFill/>
          <a:ln w="12700">
            <a:solidFill>
              <a:srgbClr val="64748B"/>
            </a:solidFill>
            <a:prstDash val="solid"/>
          </a:ln>
        </p:spPr>
      </p:sp>
      <p:sp>
        <p:nvSpPr>
          <p:cNvPr id="41" name="Shape 39"/>
          <p:cNvSpPr/>
          <p:nvPr/>
        </p:nvSpPr>
        <p:spPr>
          <a:xfrm>
            <a:off x="6035040" y="2167128"/>
            <a:ext cx="731520" cy="365760"/>
          </a:xfrm>
          <a:prstGeom prst="rect">
            <a:avLst/>
          </a:prstGeom>
          <a:solidFill>
            <a:srgbClr val="10B981">
              <a:alpha val="80000"/>
            </a:srgbClr>
          </a:solidFill>
          <a:ln w="12700">
            <a:solidFill>
              <a:srgbClr val="10B981"/>
            </a:solidFill>
            <a:prstDash val="solid"/>
          </a:ln>
        </p:spPr>
      </p:sp>
      <p:sp>
        <p:nvSpPr>
          <p:cNvPr id="42" name="Text 40"/>
          <p:cNvSpPr/>
          <p:nvPr/>
        </p:nvSpPr>
        <p:spPr>
          <a:xfrm>
            <a:off x="6035040" y="2167128"/>
            <a:ext cx="731520" cy="365760"/>
          </a:xfrm>
          <a:prstGeom prst="rect">
            <a:avLst/>
          </a:prstGeom>
          <a:noFill/>
          <a:ln/>
        </p:spPr>
        <p:txBody>
          <a:bodyPr wrap="square" lIns="0" tIns="0" rIns="0" bIns="0" rtlCol="0" anchor="ctr"/>
          <a:lstStyle/>
          <a:p>
            <a:pPr algn="ctr" indent="0" marL="0">
              <a:buNone/>
            </a:pPr>
            <a:r>
              <a:rPr lang="en-US" sz="1100" b="1" dirty="0">
                <a:solidFill>
                  <a:srgbClr val="F8FAFC"/>
                </a:solidFill>
              </a:rPr>
              <a:t>pk₁</a:t>
            </a:r>
            <a:endParaRPr lang="en-US" sz="1100" dirty="0"/>
          </a:p>
        </p:txBody>
      </p:sp>
      <p:sp>
        <p:nvSpPr>
          <p:cNvPr id="43" name="Shape 41"/>
          <p:cNvSpPr/>
          <p:nvPr/>
        </p:nvSpPr>
        <p:spPr>
          <a:xfrm>
            <a:off x="4617720" y="2916936"/>
            <a:ext cx="731520" cy="365760"/>
          </a:xfrm>
          <a:prstGeom prst="rect">
            <a:avLst/>
          </a:prstGeom>
          <a:solidFill>
            <a:srgbClr val="F59E0B">
              <a:alpha val="80000"/>
            </a:srgbClr>
          </a:solidFill>
          <a:ln w="12700">
            <a:solidFill>
              <a:srgbClr val="F59E0B"/>
            </a:solidFill>
            <a:prstDash val="solid"/>
          </a:ln>
        </p:spPr>
      </p:sp>
      <p:sp>
        <p:nvSpPr>
          <p:cNvPr id="44" name="Text 42"/>
          <p:cNvSpPr/>
          <p:nvPr/>
        </p:nvSpPr>
        <p:spPr>
          <a:xfrm>
            <a:off x="4617720" y="2916936"/>
            <a:ext cx="731520" cy="365760"/>
          </a:xfrm>
          <a:prstGeom prst="rect">
            <a:avLst/>
          </a:prstGeom>
          <a:noFill/>
          <a:ln/>
        </p:spPr>
        <p:txBody>
          <a:bodyPr wrap="square" lIns="0" tIns="0" rIns="0" bIns="0" rtlCol="0" anchor="ctr"/>
          <a:lstStyle/>
          <a:p>
            <a:pPr algn="ctr" indent="0" marL="0">
              <a:buNone/>
            </a:pPr>
            <a:r>
              <a:rPr lang="en-US" sz="1100" b="1" dirty="0">
                <a:solidFill>
                  <a:srgbClr val="F8FAFC"/>
                </a:solidFill>
              </a:rPr>
              <a:t>sk₂</a:t>
            </a:r>
            <a:endParaRPr lang="en-US" sz="1100" dirty="0"/>
          </a:p>
        </p:txBody>
      </p:sp>
      <p:sp>
        <p:nvSpPr>
          <p:cNvPr id="45" name="Text 43"/>
          <p:cNvSpPr/>
          <p:nvPr/>
        </p:nvSpPr>
        <p:spPr>
          <a:xfrm>
            <a:off x="5486400" y="2916936"/>
            <a:ext cx="640080" cy="365760"/>
          </a:xfrm>
          <a:prstGeom prst="rect">
            <a:avLst/>
          </a:prstGeom>
          <a:noFill/>
          <a:ln/>
        </p:spPr>
        <p:txBody>
          <a:bodyPr wrap="square" lIns="0" tIns="0" rIns="0" bIns="0" rtlCol="0" anchor="ctr"/>
          <a:lstStyle/>
          <a:p>
            <a:pPr algn="ctr" indent="0" marL="0">
              <a:buNone/>
            </a:pPr>
            <a:r>
              <a:rPr lang="en-US" sz="1000" dirty="0">
                <a:solidFill>
                  <a:srgbClr val="64748B"/>
                </a:solidFill>
              </a:rPr>
              <a:t>Hash</a:t>
            </a:r>
            <a:endParaRPr lang="en-US" sz="1000" dirty="0"/>
          </a:p>
        </p:txBody>
      </p:sp>
      <p:sp>
        <p:nvSpPr>
          <p:cNvPr id="46" name="Shape 44"/>
          <p:cNvSpPr/>
          <p:nvPr/>
        </p:nvSpPr>
        <p:spPr>
          <a:xfrm>
            <a:off x="5349240" y="3099816"/>
            <a:ext cx="640080" cy="0"/>
          </a:xfrm>
          <a:prstGeom prst="line">
            <a:avLst/>
          </a:prstGeom>
          <a:noFill/>
          <a:ln w="12700">
            <a:solidFill>
              <a:srgbClr val="64748B"/>
            </a:solidFill>
            <a:prstDash val="solid"/>
          </a:ln>
        </p:spPr>
      </p:sp>
      <p:sp>
        <p:nvSpPr>
          <p:cNvPr id="47" name="Shape 45"/>
          <p:cNvSpPr/>
          <p:nvPr/>
        </p:nvSpPr>
        <p:spPr>
          <a:xfrm>
            <a:off x="5989320" y="3008376"/>
            <a:ext cx="0" cy="182880"/>
          </a:xfrm>
          <a:prstGeom prst="line">
            <a:avLst/>
          </a:prstGeom>
          <a:noFill/>
          <a:ln w="12700">
            <a:solidFill>
              <a:srgbClr val="64748B"/>
            </a:solidFill>
            <a:prstDash val="solid"/>
          </a:ln>
        </p:spPr>
      </p:sp>
      <p:sp>
        <p:nvSpPr>
          <p:cNvPr id="48" name="Shape 46"/>
          <p:cNvSpPr/>
          <p:nvPr/>
        </p:nvSpPr>
        <p:spPr>
          <a:xfrm>
            <a:off x="6035040" y="2916936"/>
            <a:ext cx="731520" cy="365760"/>
          </a:xfrm>
          <a:prstGeom prst="rect">
            <a:avLst/>
          </a:prstGeom>
          <a:solidFill>
            <a:srgbClr val="10B981">
              <a:alpha val="80000"/>
            </a:srgbClr>
          </a:solidFill>
          <a:ln w="12700">
            <a:solidFill>
              <a:srgbClr val="10B981"/>
            </a:solidFill>
            <a:prstDash val="solid"/>
          </a:ln>
        </p:spPr>
      </p:sp>
      <p:sp>
        <p:nvSpPr>
          <p:cNvPr id="49" name="Text 47"/>
          <p:cNvSpPr/>
          <p:nvPr/>
        </p:nvSpPr>
        <p:spPr>
          <a:xfrm>
            <a:off x="6035040" y="2916936"/>
            <a:ext cx="731520" cy="365760"/>
          </a:xfrm>
          <a:prstGeom prst="rect">
            <a:avLst/>
          </a:prstGeom>
          <a:noFill/>
          <a:ln/>
        </p:spPr>
        <p:txBody>
          <a:bodyPr wrap="square" lIns="0" tIns="0" rIns="0" bIns="0" rtlCol="0" anchor="ctr"/>
          <a:lstStyle/>
          <a:p>
            <a:pPr algn="ctr" indent="0" marL="0">
              <a:buNone/>
            </a:pPr>
            <a:r>
              <a:rPr lang="en-US" sz="1100" b="1" dirty="0">
                <a:solidFill>
                  <a:srgbClr val="F8FAFC"/>
                </a:solidFill>
              </a:rPr>
              <a:t>pk₂</a:t>
            </a:r>
            <a:endParaRPr lang="en-US" sz="1100" dirty="0"/>
          </a:p>
        </p:txBody>
      </p:sp>
      <p:sp>
        <p:nvSpPr>
          <p:cNvPr id="50" name="Shape 48"/>
          <p:cNvSpPr/>
          <p:nvPr/>
        </p:nvSpPr>
        <p:spPr>
          <a:xfrm>
            <a:off x="4617720" y="3666744"/>
            <a:ext cx="731520" cy="365760"/>
          </a:xfrm>
          <a:prstGeom prst="rect">
            <a:avLst/>
          </a:prstGeom>
          <a:solidFill>
            <a:srgbClr val="F59E0B">
              <a:alpha val="80000"/>
            </a:srgbClr>
          </a:solidFill>
          <a:ln w="12700">
            <a:solidFill>
              <a:srgbClr val="F59E0B"/>
            </a:solidFill>
            <a:prstDash val="solid"/>
          </a:ln>
        </p:spPr>
      </p:sp>
      <p:sp>
        <p:nvSpPr>
          <p:cNvPr id="51" name="Text 49"/>
          <p:cNvSpPr/>
          <p:nvPr/>
        </p:nvSpPr>
        <p:spPr>
          <a:xfrm>
            <a:off x="4617720" y="3666744"/>
            <a:ext cx="731520" cy="365760"/>
          </a:xfrm>
          <a:prstGeom prst="rect">
            <a:avLst/>
          </a:prstGeom>
          <a:noFill/>
          <a:ln/>
        </p:spPr>
        <p:txBody>
          <a:bodyPr wrap="square" lIns="0" tIns="0" rIns="0" bIns="0" rtlCol="0" anchor="ctr"/>
          <a:lstStyle/>
          <a:p>
            <a:pPr algn="ctr" indent="0" marL="0">
              <a:buNone/>
            </a:pPr>
            <a:r>
              <a:rPr lang="en-US" sz="1100" b="1" dirty="0">
                <a:solidFill>
                  <a:srgbClr val="F8FAFC"/>
                </a:solidFill>
              </a:rPr>
              <a:t>sk₃</a:t>
            </a:r>
            <a:endParaRPr lang="en-US" sz="1100" dirty="0"/>
          </a:p>
        </p:txBody>
      </p:sp>
      <p:sp>
        <p:nvSpPr>
          <p:cNvPr id="52" name="Text 50"/>
          <p:cNvSpPr/>
          <p:nvPr/>
        </p:nvSpPr>
        <p:spPr>
          <a:xfrm>
            <a:off x="5486400" y="3666744"/>
            <a:ext cx="640080" cy="365760"/>
          </a:xfrm>
          <a:prstGeom prst="rect">
            <a:avLst/>
          </a:prstGeom>
          <a:noFill/>
          <a:ln/>
        </p:spPr>
        <p:txBody>
          <a:bodyPr wrap="square" lIns="0" tIns="0" rIns="0" bIns="0" rtlCol="0" anchor="ctr"/>
          <a:lstStyle/>
          <a:p>
            <a:pPr algn="ctr" indent="0" marL="0">
              <a:buNone/>
            </a:pPr>
            <a:r>
              <a:rPr lang="en-US" sz="1000" dirty="0">
                <a:solidFill>
                  <a:srgbClr val="64748B"/>
                </a:solidFill>
              </a:rPr>
              <a:t>Hash</a:t>
            </a:r>
            <a:endParaRPr lang="en-US" sz="1000" dirty="0"/>
          </a:p>
        </p:txBody>
      </p:sp>
      <p:sp>
        <p:nvSpPr>
          <p:cNvPr id="53" name="Shape 51"/>
          <p:cNvSpPr/>
          <p:nvPr/>
        </p:nvSpPr>
        <p:spPr>
          <a:xfrm>
            <a:off x="5349240" y="3849624"/>
            <a:ext cx="640080" cy="0"/>
          </a:xfrm>
          <a:prstGeom prst="line">
            <a:avLst/>
          </a:prstGeom>
          <a:noFill/>
          <a:ln w="12700">
            <a:solidFill>
              <a:srgbClr val="64748B"/>
            </a:solidFill>
            <a:prstDash val="solid"/>
          </a:ln>
        </p:spPr>
      </p:sp>
      <p:sp>
        <p:nvSpPr>
          <p:cNvPr id="54" name="Shape 52"/>
          <p:cNvSpPr/>
          <p:nvPr/>
        </p:nvSpPr>
        <p:spPr>
          <a:xfrm>
            <a:off x="5989320" y="3758184"/>
            <a:ext cx="0" cy="182880"/>
          </a:xfrm>
          <a:prstGeom prst="line">
            <a:avLst/>
          </a:prstGeom>
          <a:noFill/>
          <a:ln w="12700">
            <a:solidFill>
              <a:srgbClr val="64748B"/>
            </a:solidFill>
            <a:prstDash val="solid"/>
          </a:ln>
        </p:spPr>
      </p:sp>
      <p:sp>
        <p:nvSpPr>
          <p:cNvPr id="55" name="Shape 53"/>
          <p:cNvSpPr/>
          <p:nvPr/>
        </p:nvSpPr>
        <p:spPr>
          <a:xfrm>
            <a:off x="6035040" y="3666744"/>
            <a:ext cx="731520" cy="365760"/>
          </a:xfrm>
          <a:prstGeom prst="rect">
            <a:avLst/>
          </a:prstGeom>
          <a:solidFill>
            <a:srgbClr val="10B981">
              <a:alpha val="80000"/>
            </a:srgbClr>
          </a:solidFill>
          <a:ln w="12700">
            <a:solidFill>
              <a:srgbClr val="10B981"/>
            </a:solidFill>
            <a:prstDash val="solid"/>
          </a:ln>
        </p:spPr>
      </p:sp>
      <p:sp>
        <p:nvSpPr>
          <p:cNvPr id="56" name="Text 54"/>
          <p:cNvSpPr/>
          <p:nvPr/>
        </p:nvSpPr>
        <p:spPr>
          <a:xfrm>
            <a:off x="6035040" y="3666744"/>
            <a:ext cx="731520" cy="365760"/>
          </a:xfrm>
          <a:prstGeom prst="rect">
            <a:avLst/>
          </a:prstGeom>
          <a:noFill/>
          <a:ln/>
        </p:spPr>
        <p:txBody>
          <a:bodyPr wrap="square" lIns="0" tIns="0" rIns="0" bIns="0" rtlCol="0" anchor="ctr"/>
          <a:lstStyle/>
          <a:p>
            <a:pPr algn="ctr" indent="0" marL="0">
              <a:buNone/>
            </a:pPr>
            <a:r>
              <a:rPr lang="en-US" sz="1100" b="1" dirty="0">
                <a:solidFill>
                  <a:srgbClr val="F8FAFC"/>
                </a:solidFill>
              </a:rPr>
              <a:t>pk₃</a:t>
            </a:r>
            <a:endParaRPr lang="en-US" sz="1100" dirty="0"/>
          </a:p>
        </p:txBody>
      </p:sp>
      <p:sp>
        <p:nvSpPr>
          <p:cNvPr id="57" name="Text 55"/>
          <p:cNvSpPr/>
          <p:nvPr/>
        </p:nvSpPr>
        <p:spPr>
          <a:xfrm>
            <a:off x="4617720" y="4480560"/>
            <a:ext cx="731520" cy="201168"/>
          </a:xfrm>
          <a:prstGeom prst="rect">
            <a:avLst/>
          </a:prstGeom>
          <a:noFill/>
          <a:ln/>
        </p:spPr>
        <p:txBody>
          <a:bodyPr wrap="square" lIns="0" tIns="0" rIns="0" bIns="0" rtlCol="0" anchor="ctr"/>
          <a:lstStyle/>
          <a:p>
            <a:pPr algn="ctr" indent="0" marL="0">
              <a:buNone/>
            </a:pPr>
            <a:r>
              <a:rPr lang="en-US" sz="850" dirty="0">
                <a:solidFill>
                  <a:srgbClr val="64748B"/>
                </a:solidFill>
              </a:rPr>
              <a:t>Clave privada</a:t>
            </a:r>
            <a:endParaRPr lang="en-US" sz="850" dirty="0"/>
          </a:p>
          <a:p>
            <a:pPr algn="ctr" indent="0" marL="0">
              <a:buNone/>
            </a:pPr>
            <a:r>
              <a:rPr lang="en-US" sz="850" dirty="0">
                <a:solidFill>
                  <a:srgbClr val="64748B"/>
                </a:solidFill>
              </a:rPr>
              <a:t>(secreta)</a:t>
            </a:r>
            <a:endParaRPr lang="en-US" sz="850" dirty="0"/>
          </a:p>
        </p:txBody>
      </p:sp>
      <p:sp>
        <p:nvSpPr>
          <p:cNvPr id="58" name="Text 56"/>
          <p:cNvSpPr/>
          <p:nvPr/>
        </p:nvSpPr>
        <p:spPr>
          <a:xfrm>
            <a:off x="6035040" y="4480560"/>
            <a:ext cx="731520" cy="201168"/>
          </a:xfrm>
          <a:prstGeom prst="rect">
            <a:avLst/>
          </a:prstGeom>
          <a:noFill/>
          <a:ln/>
        </p:spPr>
        <p:txBody>
          <a:bodyPr wrap="square" lIns="0" tIns="0" rIns="0" bIns="0" rtlCol="0" anchor="ctr"/>
          <a:lstStyle/>
          <a:p>
            <a:pPr algn="ctr" indent="0" marL="0">
              <a:buNone/>
            </a:pPr>
            <a:r>
              <a:rPr lang="en-US" sz="850" dirty="0">
                <a:solidFill>
                  <a:srgbClr val="64748B"/>
                </a:solidFill>
              </a:rPr>
              <a:t>Clave pública</a:t>
            </a:r>
            <a:endParaRPr lang="en-US" sz="850" dirty="0"/>
          </a:p>
          <a:p>
            <a:pPr algn="ctr" indent="0" marL="0">
              <a:buNone/>
            </a:pPr>
            <a:r>
              <a:rPr lang="en-US" sz="850" dirty="0">
                <a:solidFill>
                  <a:srgbClr val="64748B"/>
                </a:solidFill>
              </a:rPr>
              <a:t>(publicada)</a:t>
            </a:r>
            <a:endParaRPr lang="en-US" sz="850" dirty="0"/>
          </a:p>
        </p:txBody>
      </p:sp>
      <p:sp>
        <p:nvSpPr>
          <p:cNvPr id="90" name="TSWBox"/>
          <p:cNvSpPr/>
          <p:nvPr/>
        </p:nvSpPr>
        <p:spPr>
          <a:xfrm>
            <a:off x="365760" y="4572000"/>
            <a:ext cx="8412480" cy="502920"/>
          </a:xfrm>
          <a:prstGeom prst="rect">
            <a:avLst/>
          </a:prstGeom>
          <a:solidFill>
            <a:srgbClr val="F5A623">
              <a:alpha val="12000"/>
            </a:srgbClr>
          </a:solidFill>
          <a:ln w="12700">
            <a:solidFill>
              <a:srgbClr val="F5A623">
                <a:alpha val="50000"/>
              </a:srgbClr>
            </a:solidFill>
            <a:prstDash val="solid"/>
          </a:ln>
        </p:spPr>
      </p:sp>
      <p:sp>
        <p:nvSpPr>
          <p:cNvPr id="91" name="TSWText"/>
          <p:cNvSpPr/>
          <p:nvPr/>
        </p:nvSpPr>
        <p:spPr>
          <a:xfrm>
            <a:off x="502920" y="4572000"/>
            <a:ext cx="8138160" cy="502920"/>
          </a:xfrm>
          <a:prstGeom prst="rect">
            <a:avLst/>
          </a:prstGeom>
          <a:noFill/>
          <a:ln/>
        </p:spPr>
        <p:txBody>
          <a:bodyPr wrap="square" lIns="91440" tIns="45720" rIns="91440" bIns="45720" rtlCol="0" anchor="ctr"/>
          <a:lstStyle/>
          <a:p>
            <a:pPr indent="0" marL="0">
              <a:buNone/>
            </a:pPr>
            <a:r>
              <a:rPr lang="en-US" sz="1000" b="1" dirty="0">
                <a:solidFill>
                  <a:srgbClr val="F5A623"/>
                </a:solidFill>
              </a:rPr>
              <a:t>Evolución: Target Sum Winternitz (TSW)</a:t>
            </a:r>
          </a:p>
          <a:p>
            <a:pPr indent="0" marL="0">
              <a:buNone/>
            </a:pPr>
            <a:r>
              <a:rPr lang="en-US" sz="900" dirty="0">
                <a:solidFill>
                  <a:srgbClr val="BFDBFE"/>
                </a:solidFill>
              </a:rPr>
              <a:t>TSW exige que la suma de dígitos sea exactamente T (target fijo). Elimina el checksum, hace la verificación determinista y produce un circuito SNARK de tamaño fijo — clave para la agregación eficiente en Ethereum post-cuántico.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E3D"/>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0B981"/>
          </a:solidFill>
          <a:ln w="12700">
            <a:solidFill>
              <a:srgbClr val="333333"/>
            </a:solidFill>
            <a:prstDash val="solid"/>
          </a:ln>
        </p:spPr>
      </p:sp>
      <p:sp>
        <p:nvSpPr>
          <p:cNvPr id="3" name="Text 1"/>
          <p:cNvSpPr/>
          <p:nvPr/>
        </p:nvSpPr>
        <p:spPr>
          <a:xfrm>
            <a:off x="274320" y="182880"/>
            <a:ext cx="8595360" cy="502920"/>
          </a:xfrm>
          <a:prstGeom prst="rect">
            <a:avLst/>
          </a:prstGeom>
          <a:noFill/>
          <a:ln/>
        </p:spPr>
        <p:txBody>
          <a:bodyPr wrap="square" lIns="0" tIns="0" rIns="0" bIns="0" rtlCol="0" anchor="ctr"/>
          <a:lstStyle/>
          <a:p>
            <a:pPr indent="0" marL="0">
              <a:buNone/>
            </a:pPr>
            <a:r>
              <a:rPr lang="en-US" sz="2400" b="1" dirty="0">
                <a:solidFill>
                  <a:srgbClr val="F8FAFC"/>
                </a:solidFill>
                <a:latin typeface="Arial" pitchFamily="34" charset="0"/>
                <a:ea typeface="Arial" pitchFamily="34" charset="-122"/>
                <a:cs typeface="Arial" pitchFamily="34" charset="-120"/>
              </a:rPr>
              <a:t>Pilar 02 — Árbol de Merkle</a:t>
            </a:r>
            <a:endParaRPr lang="en-US" sz="2400" dirty="0"/>
          </a:p>
        </p:txBody>
      </p:sp>
      <p:sp>
        <p:nvSpPr>
          <p:cNvPr id="4" name="Shape 2"/>
          <p:cNvSpPr/>
          <p:nvPr/>
        </p:nvSpPr>
        <p:spPr>
          <a:xfrm>
            <a:off x="274320" y="731520"/>
            <a:ext cx="8412480" cy="0"/>
          </a:xfrm>
          <a:prstGeom prst="line">
            <a:avLst/>
          </a:prstGeom>
          <a:noFill/>
          <a:ln w="12700">
            <a:solidFill>
              <a:srgbClr val="1E3A5F"/>
            </a:solidFill>
            <a:prstDash val="solid"/>
          </a:ln>
        </p:spPr>
      </p:sp>
      <p:sp>
        <p:nvSpPr>
          <p:cNvPr id="5" name="Text 3"/>
          <p:cNvSpPr/>
          <p:nvPr/>
        </p:nvSpPr>
        <p:spPr>
          <a:xfrm>
            <a:off x="274320" y="804672"/>
            <a:ext cx="8412480" cy="320040"/>
          </a:xfrm>
          <a:prstGeom prst="rect">
            <a:avLst/>
          </a:prstGeom>
          <a:noFill/>
          <a:ln/>
        </p:spPr>
        <p:txBody>
          <a:bodyPr wrap="square" lIns="0" tIns="0" rIns="0" bIns="0" rtlCol="0" anchor="ctr"/>
          <a:lstStyle/>
          <a:p>
            <a:pPr indent="0" marL="0">
              <a:buNone/>
            </a:pPr>
            <a:r>
              <a:rPr lang="en-US" sz="1250" dirty="0">
                <a:solidFill>
                  <a:srgbClr val="BFDBFE"/>
                </a:solidFill>
              </a:rPr>
              <a:t>Tenemos miles de claves OTS de un solo uso. El árbol de Merkle las organiza bajo UNA SOLA clave pública raíz.</a:t>
            </a:r>
            <a:endParaRPr lang="en-US" sz="1250" dirty="0"/>
          </a:p>
        </p:txBody>
      </p:sp>
      <p:sp>
        <p:nvSpPr>
          <p:cNvPr id="6" name="Shape 4"/>
          <p:cNvSpPr/>
          <p:nvPr/>
        </p:nvSpPr>
        <p:spPr>
          <a:xfrm>
            <a:off x="3657600" y="1234440"/>
            <a:ext cx="1645920" cy="457200"/>
          </a:xfrm>
          <a:prstGeom prst="rect">
            <a:avLst/>
          </a:prstGeom>
          <a:solidFill>
            <a:srgbClr val="10B981">
              <a:alpha val="85000"/>
            </a:srgbClr>
          </a:solidFill>
          <a:ln w="25400">
            <a:solidFill>
              <a:srgbClr val="10B981"/>
            </a:solidFill>
            <a:prstDash val="solid"/>
          </a:ln>
          <a:effectLst>
            <a:outerShdw sx="100000" sy="100000" kx="0" ky="0" algn="bl" rotWithShape="0" blurRad="101600" dist="38100" dir="8100000">
              <a:srgbClr val="000000">
                <a:alpha val="30000"/>
              </a:srgbClr>
            </a:outerShdw>
          </a:effectLst>
        </p:spPr>
      </p:sp>
      <p:sp>
        <p:nvSpPr>
          <p:cNvPr id="7" name="Text 5"/>
          <p:cNvSpPr/>
          <p:nvPr/>
        </p:nvSpPr>
        <p:spPr>
          <a:xfrm>
            <a:off x="3657600" y="1234440"/>
            <a:ext cx="1645920" cy="457200"/>
          </a:xfrm>
          <a:prstGeom prst="rect">
            <a:avLst/>
          </a:prstGeom>
          <a:noFill/>
          <a:ln/>
        </p:spPr>
        <p:txBody>
          <a:bodyPr wrap="square" lIns="0" tIns="0" rIns="0" bIns="0" rtlCol="0" anchor="ctr"/>
          <a:lstStyle/>
          <a:p>
            <a:pPr algn="ctr" indent="0" marL="0">
              <a:buNone/>
            </a:pPr>
            <a:r>
              <a:rPr lang="en-US" sz="1000" b="1" dirty="0">
                <a:solidFill>
                  <a:srgbClr val="F8FAFC"/>
                </a:solidFill>
              </a:rPr>
              <a:t>Raíz (Clave Pública)</a:t>
            </a:r>
            <a:endParaRPr lang="en-US" sz="1000" dirty="0"/>
          </a:p>
        </p:txBody>
      </p:sp>
      <p:sp>
        <p:nvSpPr>
          <p:cNvPr id="8" name="Shape 6"/>
          <p:cNvSpPr/>
          <p:nvPr/>
        </p:nvSpPr>
        <p:spPr>
          <a:xfrm>
            <a:off x="2011680" y="2103120"/>
            <a:ext cx="1554480" cy="411480"/>
          </a:xfrm>
          <a:prstGeom prst="rect">
            <a:avLst/>
          </a:prstGeom>
          <a:solidFill>
            <a:srgbClr val="0A3A2A"/>
          </a:solidFill>
          <a:ln w="12700">
            <a:solidFill>
              <a:srgbClr val="10B981"/>
            </a:solidFill>
            <a:prstDash val="solid"/>
          </a:ln>
        </p:spPr>
      </p:sp>
      <p:sp>
        <p:nvSpPr>
          <p:cNvPr id="9" name="Text 7"/>
          <p:cNvSpPr/>
          <p:nvPr/>
        </p:nvSpPr>
        <p:spPr>
          <a:xfrm>
            <a:off x="2011680" y="2103120"/>
            <a:ext cx="1554480" cy="411480"/>
          </a:xfrm>
          <a:prstGeom prst="rect">
            <a:avLst/>
          </a:prstGeom>
          <a:noFill/>
          <a:ln/>
        </p:spPr>
        <p:txBody>
          <a:bodyPr wrap="square" lIns="25400" tIns="25400" rIns="25400" bIns="25400" rtlCol="0" anchor="ctr"/>
          <a:lstStyle/>
          <a:p>
            <a:pPr algn="ctr" indent="0" marL="0">
              <a:buNone/>
            </a:pPr>
            <a:r>
              <a:rPr lang="en-US" sz="900" dirty="0">
                <a:solidFill>
                  <a:srgbClr val="BFDBFE"/>
                </a:solidFill>
              </a:rPr>
              <a:t>Nodo[1,0]</a:t>
            </a:r>
            <a:endParaRPr lang="en-US" sz="900" dirty="0"/>
          </a:p>
          <a:p>
            <a:pPr algn="ctr" indent="0" marL="0">
              <a:buNone/>
            </a:pPr>
            <a:r>
              <a:rPr lang="en-US" sz="900" dirty="0">
                <a:solidFill>
                  <a:srgbClr val="BFDBFE"/>
                </a:solidFill>
              </a:rPr>
              <a:t>Hash(Hoja0 + Hoja1)</a:t>
            </a:r>
            <a:endParaRPr lang="en-US" sz="900" dirty="0"/>
          </a:p>
        </p:txBody>
      </p:sp>
      <p:sp>
        <p:nvSpPr>
          <p:cNvPr id="10" name="Shape 8"/>
          <p:cNvSpPr/>
          <p:nvPr/>
        </p:nvSpPr>
        <p:spPr>
          <a:xfrm>
            <a:off x="5394960" y="2103120"/>
            <a:ext cx="1554480" cy="411480"/>
          </a:xfrm>
          <a:prstGeom prst="rect">
            <a:avLst/>
          </a:prstGeom>
          <a:solidFill>
            <a:srgbClr val="0A3A2A"/>
          </a:solidFill>
          <a:ln w="12700">
            <a:solidFill>
              <a:srgbClr val="10B981"/>
            </a:solidFill>
            <a:prstDash val="solid"/>
          </a:ln>
        </p:spPr>
      </p:sp>
      <p:sp>
        <p:nvSpPr>
          <p:cNvPr id="11" name="Text 9"/>
          <p:cNvSpPr/>
          <p:nvPr/>
        </p:nvSpPr>
        <p:spPr>
          <a:xfrm>
            <a:off x="5394960" y="2103120"/>
            <a:ext cx="1554480" cy="411480"/>
          </a:xfrm>
          <a:prstGeom prst="rect">
            <a:avLst/>
          </a:prstGeom>
          <a:noFill/>
          <a:ln/>
        </p:spPr>
        <p:txBody>
          <a:bodyPr wrap="square" lIns="25400" tIns="25400" rIns="25400" bIns="25400" rtlCol="0" anchor="ctr"/>
          <a:lstStyle/>
          <a:p>
            <a:pPr algn="ctr" indent="0" marL="0">
              <a:buNone/>
            </a:pPr>
            <a:r>
              <a:rPr lang="en-US" sz="900" dirty="0">
                <a:solidFill>
                  <a:srgbClr val="BFDBFE"/>
                </a:solidFill>
              </a:rPr>
              <a:t>Nodo[1,1]</a:t>
            </a:r>
            <a:endParaRPr lang="en-US" sz="900" dirty="0"/>
          </a:p>
          <a:p>
            <a:pPr algn="ctr" indent="0" marL="0">
              <a:buNone/>
            </a:pPr>
            <a:r>
              <a:rPr lang="en-US" sz="900" dirty="0">
                <a:solidFill>
                  <a:srgbClr val="BFDBFE"/>
                </a:solidFill>
              </a:rPr>
              <a:t>Hash(Hoja2 + Hoja3)</a:t>
            </a:r>
            <a:endParaRPr lang="en-US" sz="900" dirty="0"/>
          </a:p>
        </p:txBody>
      </p:sp>
      <p:sp>
        <p:nvSpPr>
          <p:cNvPr id="12" name="Shape 10"/>
          <p:cNvSpPr/>
          <p:nvPr/>
        </p:nvSpPr>
        <p:spPr>
          <a:xfrm>
            <a:off x="4480560" y="1691640"/>
            <a:ext cx="0" cy="411480"/>
          </a:xfrm>
          <a:prstGeom prst="line">
            <a:avLst/>
          </a:prstGeom>
          <a:noFill/>
          <a:ln w="19050">
            <a:solidFill>
              <a:srgbClr val="64748B"/>
            </a:solidFill>
            <a:prstDash val="solid"/>
          </a:ln>
        </p:spPr>
      </p:sp>
      <p:sp>
        <p:nvSpPr>
          <p:cNvPr id="13" name="Shape 11"/>
          <p:cNvSpPr/>
          <p:nvPr/>
        </p:nvSpPr>
        <p:spPr>
          <a:xfrm>
            <a:off x="2788920" y="2103120"/>
            <a:ext cx="1691640" cy="-411480"/>
          </a:xfrm>
          <a:prstGeom prst="line">
            <a:avLst/>
          </a:prstGeom>
          <a:noFill/>
          <a:ln w="19050">
            <a:solidFill>
              <a:srgbClr val="64748B"/>
            </a:solidFill>
            <a:prstDash val="solid"/>
          </a:ln>
        </p:spPr>
      </p:sp>
      <p:sp>
        <p:nvSpPr>
          <p:cNvPr id="14" name="Shape 12"/>
          <p:cNvSpPr/>
          <p:nvPr/>
        </p:nvSpPr>
        <p:spPr>
          <a:xfrm>
            <a:off x="4480560" y="1691640"/>
            <a:ext cx="1691640" cy="411480"/>
          </a:xfrm>
          <a:prstGeom prst="line">
            <a:avLst/>
          </a:prstGeom>
          <a:noFill/>
          <a:ln w="19050">
            <a:solidFill>
              <a:srgbClr val="64748B"/>
            </a:solidFill>
            <a:prstDash val="solid"/>
          </a:ln>
        </p:spPr>
      </p:sp>
      <p:sp>
        <p:nvSpPr>
          <p:cNvPr id="15" name="Shape 13"/>
          <p:cNvSpPr/>
          <p:nvPr/>
        </p:nvSpPr>
        <p:spPr>
          <a:xfrm>
            <a:off x="914400" y="3108960"/>
            <a:ext cx="1463040" cy="457200"/>
          </a:xfrm>
          <a:prstGeom prst="rect">
            <a:avLst/>
          </a:prstGeom>
          <a:solidFill>
            <a:srgbClr val="F59E0B">
              <a:alpha val="75000"/>
            </a:srgbClr>
          </a:solidFill>
          <a:ln w="12700">
            <a:solidFill>
              <a:srgbClr val="F59E0B"/>
            </a:solidFill>
            <a:prstDash val="solid"/>
          </a:ln>
        </p:spPr>
      </p:sp>
      <p:sp>
        <p:nvSpPr>
          <p:cNvPr id="16" name="Text 14"/>
          <p:cNvSpPr/>
          <p:nvPr/>
        </p:nvSpPr>
        <p:spPr>
          <a:xfrm>
            <a:off x="914400" y="3108960"/>
            <a:ext cx="1463040" cy="457200"/>
          </a:xfrm>
          <a:prstGeom prst="rect">
            <a:avLst/>
          </a:prstGeom>
          <a:noFill/>
          <a:ln/>
        </p:spPr>
        <p:txBody>
          <a:bodyPr wrap="square" lIns="25400" tIns="25400" rIns="25400" bIns="25400" rtlCol="0" anchor="ctr"/>
          <a:lstStyle/>
          <a:p>
            <a:pPr algn="ctr" indent="0" marL="0">
              <a:buNone/>
            </a:pPr>
            <a:r>
              <a:rPr lang="en-US" sz="950" dirty="0">
                <a:solidFill>
                  <a:srgbClr val="F8FAFC"/>
                </a:solidFill>
              </a:rPr>
              <a:t>Hoja 0</a:t>
            </a:r>
            <a:endParaRPr lang="en-US" sz="950" dirty="0"/>
          </a:p>
          <a:p>
            <a:pPr algn="ctr" indent="0" marL="0">
              <a:buNone/>
            </a:pPr>
            <a:r>
              <a:rPr lang="en-US" sz="950" dirty="0">
                <a:solidFill>
                  <a:srgbClr val="F8FAFC"/>
                </a:solidFill>
              </a:rPr>
              <a:t>Hash(pk_OTS₀)</a:t>
            </a:r>
            <a:endParaRPr lang="en-US" sz="950" dirty="0"/>
          </a:p>
        </p:txBody>
      </p:sp>
      <p:sp>
        <p:nvSpPr>
          <p:cNvPr id="17" name="Shape 15"/>
          <p:cNvSpPr/>
          <p:nvPr/>
        </p:nvSpPr>
        <p:spPr>
          <a:xfrm>
            <a:off x="2834640" y="3108960"/>
            <a:ext cx="1463040" cy="457200"/>
          </a:xfrm>
          <a:prstGeom prst="rect">
            <a:avLst/>
          </a:prstGeom>
          <a:solidFill>
            <a:srgbClr val="F59E0B">
              <a:alpha val="75000"/>
            </a:srgbClr>
          </a:solidFill>
          <a:ln w="12700">
            <a:solidFill>
              <a:srgbClr val="F59E0B"/>
            </a:solidFill>
            <a:prstDash val="solid"/>
          </a:ln>
        </p:spPr>
      </p:sp>
      <p:sp>
        <p:nvSpPr>
          <p:cNvPr id="18" name="Text 16"/>
          <p:cNvSpPr/>
          <p:nvPr/>
        </p:nvSpPr>
        <p:spPr>
          <a:xfrm>
            <a:off x="2834640" y="3108960"/>
            <a:ext cx="1463040" cy="457200"/>
          </a:xfrm>
          <a:prstGeom prst="rect">
            <a:avLst/>
          </a:prstGeom>
          <a:noFill/>
          <a:ln/>
        </p:spPr>
        <p:txBody>
          <a:bodyPr wrap="square" lIns="25400" tIns="25400" rIns="25400" bIns="25400" rtlCol="0" anchor="ctr"/>
          <a:lstStyle/>
          <a:p>
            <a:pPr algn="ctr" indent="0" marL="0">
              <a:buNone/>
            </a:pPr>
            <a:r>
              <a:rPr lang="en-US" sz="950" dirty="0">
                <a:solidFill>
                  <a:srgbClr val="F8FAFC"/>
                </a:solidFill>
              </a:rPr>
              <a:t>Hoja 1</a:t>
            </a:r>
            <a:endParaRPr lang="en-US" sz="950" dirty="0"/>
          </a:p>
          <a:p>
            <a:pPr algn="ctr" indent="0" marL="0">
              <a:buNone/>
            </a:pPr>
            <a:r>
              <a:rPr lang="en-US" sz="950" dirty="0">
                <a:solidFill>
                  <a:srgbClr val="F8FAFC"/>
                </a:solidFill>
              </a:rPr>
              <a:t>Hash(pk_OTS₁)</a:t>
            </a:r>
            <a:endParaRPr lang="en-US" sz="950" dirty="0"/>
          </a:p>
        </p:txBody>
      </p:sp>
      <p:sp>
        <p:nvSpPr>
          <p:cNvPr id="19" name="Shape 17"/>
          <p:cNvSpPr/>
          <p:nvPr/>
        </p:nvSpPr>
        <p:spPr>
          <a:xfrm>
            <a:off x="4754880" y="3108960"/>
            <a:ext cx="1463040" cy="457200"/>
          </a:xfrm>
          <a:prstGeom prst="rect">
            <a:avLst/>
          </a:prstGeom>
          <a:solidFill>
            <a:srgbClr val="F59E0B">
              <a:alpha val="75000"/>
            </a:srgbClr>
          </a:solidFill>
          <a:ln w="12700">
            <a:solidFill>
              <a:srgbClr val="F59E0B"/>
            </a:solidFill>
            <a:prstDash val="solid"/>
          </a:ln>
        </p:spPr>
      </p:sp>
      <p:sp>
        <p:nvSpPr>
          <p:cNvPr id="20" name="Text 18"/>
          <p:cNvSpPr/>
          <p:nvPr/>
        </p:nvSpPr>
        <p:spPr>
          <a:xfrm>
            <a:off x="4754880" y="3108960"/>
            <a:ext cx="1463040" cy="457200"/>
          </a:xfrm>
          <a:prstGeom prst="rect">
            <a:avLst/>
          </a:prstGeom>
          <a:noFill/>
          <a:ln/>
        </p:spPr>
        <p:txBody>
          <a:bodyPr wrap="square" lIns="25400" tIns="25400" rIns="25400" bIns="25400" rtlCol="0" anchor="ctr"/>
          <a:lstStyle/>
          <a:p>
            <a:pPr algn="ctr" indent="0" marL="0">
              <a:buNone/>
            </a:pPr>
            <a:r>
              <a:rPr lang="en-US" sz="950" dirty="0">
                <a:solidFill>
                  <a:srgbClr val="F8FAFC"/>
                </a:solidFill>
              </a:rPr>
              <a:t>Hoja 2</a:t>
            </a:r>
            <a:endParaRPr lang="en-US" sz="950" dirty="0"/>
          </a:p>
          <a:p>
            <a:pPr algn="ctr" indent="0" marL="0">
              <a:buNone/>
            </a:pPr>
            <a:r>
              <a:rPr lang="en-US" sz="950" dirty="0">
                <a:solidFill>
                  <a:srgbClr val="F8FAFC"/>
                </a:solidFill>
              </a:rPr>
              <a:t>Hash(pk_OTS₂)</a:t>
            </a:r>
            <a:endParaRPr lang="en-US" sz="950" dirty="0"/>
          </a:p>
        </p:txBody>
      </p:sp>
      <p:sp>
        <p:nvSpPr>
          <p:cNvPr id="21" name="Shape 19"/>
          <p:cNvSpPr/>
          <p:nvPr/>
        </p:nvSpPr>
        <p:spPr>
          <a:xfrm>
            <a:off x="6675120" y="3108960"/>
            <a:ext cx="1463040" cy="457200"/>
          </a:xfrm>
          <a:prstGeom prst="rect">
            <a:avLst/>
          </a:prstGeom>
          <a:solidFill>
            <a:srgbClr val="F59E0B">
              <a:alpha val="75000"/>
            </a:srgbClr>
          </a:solidFill>
          <a:ln w="12700">
            <a:solidFill>
              <a:srgbClr val="F59E0B"/>
            </a:solidFill>
            <a:prstDash val="solid"/>
          </a:ln>
        </p:spPr>
      </p:sp>
      <p:sp>
        <p:nvSpPr>
          <p:cNvPr id="22" name="Text 20"/>
          <p:cNvSpPr/>
          <p:nvPr/>
        </p:nvSpPr>
        <p:spPr>
          <a:xfrm>
            <a:off x="6675120" y="3108960"/>
            <a:ext cx="1463040" cy="457200"/>
          </a:xfrm>
          <a:prstGeom prst="rect">
            <a:avLst/>
          </a:prstGeom>
          <a:noFill/>
          <a:ln/>
        </p:spPr>
        <p:txBody>
          <a:bodyPr wrap="square" lIns="25400" tIns="25400" rIns="25400" bIns="25400" rtlCol="0" anchor="ctr"/>
          <a:lstStyle/>
          <a:p>
            <a:pPr algn="ctr" indent="0" marL="0">
              <a:buNone/>
            </a:pPr>
            <a:r>
              <a:rPr lang="en-US" sz="950" dirty="0">
                <a:solidFill>
                  <a:srgbClr val="F8FAFC"/>
                </a:solidFill>
              </a:rPr>
              <a:t>Hoja 3</a:t>
            </a:r>
            <a:endParaRPr lang="en-US" sz="950" dirty="0"/>
          </a:p>
          <a:p>
            <a:pPr algn="ctr" indent="0" marL="0">
              <a:buNone/>
            </a:pPr>
            <a:r>
              <a:rPr lang="en-US" sz="950" dirty="0">
                <a:solidFill>
                  <a:srgbClr val="F8FAFC"/>
                </a:solidFill>
              </a:rPr>
              <a:t>Hash(pk_OTS₃)</a:t>
            </a:r>
            <a:endParaRPr lang="en-US" sz="950" dirty="0"/>
          </a:p>
        </p:txBody>
      </p:sp>
      <p:sp>
        <p:nvSpPr>
          <p:cNvPr id="23" name="Shape 21"/>
          <p:cNvSpPr/>
          <p:nvPr/>
        </p:nvSpPr>
        <p:spPr>
          <a:xfrm>
            <a:off x="2788920" y="2514600"/>
            <a:ext cx="0" cy="594360"/>
          </a:xfrm>
          <a:prstGeom prst="line">
            <a:avLst/>
          </a:prstGeom>
          <a:noFill/>
          <a:ln w="12700">
            <a:solidFill>
              <a:srgbClr val="64748B"/>
            </a:solidFill>
            <a:prstDash val="solid"/>
          </a:ln>
        </p:spPr>
      </p:sp>
      <p:sp>
        <p:nvSpPr>
          <p:cNvPr id="24" name="Shape 22"/>
          <p:cNvSpPr/>
          <p:nvPr/>
        </p:nvSpPr>
        <p:spPr>
          <a:xfrm>
            <a:off x="1645920" y="3108960"/>
            <a:ext cx="1143000" cy="-594360"/>
          </a:xfrm>
          <a:prstGeom prst="line">
            <a:avLst/>
          </a:prstGeom>
          <a:noFill/>
          <a:ln w="12700">
            <a:solidFill>
              <a:srgbClr val="64748B"/>
            </a:solidFill>
            <a:prstDash val="solid"/>
          </a:ln>
        </p:spPr>
      </p:sp>
      <p:sp>
        <p:nvSpPr>
          <p:cNvPr id="25" name="Shape 23"/>
          <p:cNvSpPr/>
          <p:nvPr/>
        </p:nvSpPr>
        <p:spPr>
          <a:xfrm>
            <a:off x="2788920" y="2514600"/>
            <a:ext cx="777240" cy="594360"/>
          </a:xfrm>
          <a:prstGeom prst="line">
            <a:avLst/>
          </a:prstGeom>
          <a:noFill/>
          <a:ln w="12700">
            <a:solidFill>
              <a:srgbClr val="64748B"/>
            </a:solidFill>
            <a:prstDash val="solid"/>
          </a:ln>
        </p:spPr>
      </p:sp>
      <p:sp>
        <p:nvSpPr>
          <p:cNvPr id="26" name="Shape 24"/>
          <p:cNvSpPr/>
          <p:nvPr/>
        </p:nvSpPr>
        <p:spPr>
          <a:xfrm>
            <a:off x="6172200" y="2514600"/>
            <a:ext cx="0" cy="594360"/>
          </a:xfrm>
          <a:prstGeom prst="line">
            <a:avLst/>
          </a:prstGeom>
          <a:noFill/>
          <a:ln w="12700">
            <a:solidFill>
              <a:srgbClr val="64748B"/>
            </a:solidFill>
            <a:prstDash val="solid"/>
          </a:ln>
        </p:spPr>
      </p:sp>
      <p:sp>
        <p:nvSpPr>
          <p:cNvPr id="27" name="Shape 25"/>
          <p:cNvSpPr/>
          <p:nvPr/>
        </p:nvSpPr>
        <p:spPr>
          <a:xfrm>
            <a:off x="5486400" y="3108960"/>
            <a:ext cx="685800" cy="-594360"/>
          </a:xfrm>
          <a:prstGeom prst="line">
            <a:avLst/>
          </a:prstGeom>
          <a:noFill/>
          <a:ln w="12700">
            <a:solidFill>
              <a:srgbClr val="64748B"/>
            </a:solidFill>
            <a:prstDash val="solid"/>
          </a:ln>
        </p:spPr>
      </p:sp>
      <p:sp>
        <p:nvSpPr>
          <p:cNvPr id="28" name="Shape 26"/>
          <p:cNvSpPr/>
          <p:nvPr/>
        </p:nvSpPr>
        <p:spPr>
          <a:xfrm>
            <a:off x="6172200" y="2514600"/>
            <a:ext cx="1234440" cy="594360"/>
          </a:xfrm>
          <a:prstGeom prst="line">
            <a:avLst/>
          </a:prstGeom>
          <a:noFill/>
          <a:ln w="12700">
            <a:solidFill>
              <a:srgbClr val="64748B"/>
            </a:solidFill>
            <a:prstDash val="solid"/>
          </a:ln>
        </p:spPr>
      </p:sp>
      <p:sp>
        <p:nvSpPr>
          <p:cNvPr id="29" name="Shape 27"/>
          <p:cNvSpPr/>
          <p:nvPr/>
        </p:nvSpPr>
        <p:spPr>
          <a:xfrm>
            <a:off x="1005840" y="3840480"/>
            <a:ext cx="1280160" cy="411480"/>
          </a:xfrm>
          <a:prstGeom prst="rect">
            <a:avLst/>
          </a:prstGeom>
          <a:solidFill>
            <a:srgbClr val="0A1628"/>
          </a:solidFill>
          <a:ln w="12700">
            <a:solidFill>
              <a:srgbClr val="3B82F6"/>
            </a:solidFill>
            <a:prstDash val="solid"/>
          </a:ln>
        </p:spPr>
      </p:sp>
      <p:sp>
        <p:nvSpPr>
          <p:cNvPr id="30" name="Text 28"/>
          <p:cNvSpPr/>
          <p:nvPr/>
        </p:nvSpPr>
        <p:spPr>
          <a:xfrm>
            <a:off x="1005840" y="3840480"/>
            <a:ext cx="1280160" cy="411480"/>
          </a:xfrm>
          <a:prstGeom prst="rect">
            <a:avLst/>
          </a:prstGeom>
          <a:noFill/>
          <a:ln/>
        </p:spPr>
        <p:txBody>
          <a:bodyPr wrap="square" lIns="25400" tIns="25400" rIns="25400" bIns="25400" rtlCol="0" anchor="ctr"/>
          <a:lstStyle/>
          <a:p>
            <a:pPr algn="ctr" indent="0" marL="0">
              <a:buNone/>
            </a:pPr>
            <a:r>
              <a:rPr lang="en-US" sz="900" dirty="0">
                <a:solidFill>
                  <a:srgbClr val="BFDBFE"/>
                </a:solidFill>
              </a:rPr>
              <a:t>OTS₀</a:t>
            </a:r>
            <a:endParaRPr lang="en-US" sz="900" dirty="0"/>
          </a:p>
          <a:p>
            <a:pPr algn="ctr" indent="0" marL="0">
              <a:buNone/>
            </a:pPr>
            <a:r>
              <a:rPr lang="en-US" sz="900" dirty="0">
                <a:solidFill>
                  <a:srgbClr val="BFDBFE"/>
                </a:solidFill>
              </a:rPr>
              <a:t>(sk, pk)</a:t>
            </a:r>
            <a:endParaRPr lang="en-US" sz="900" dirty="0"/>
          </a:p>
        </p:txBody>
      </p:sp>
      <p:sp>
        <p:nvSpPr>
          <p:cNvPr id="31" name="Shape 29"/>
          <p:cNvSpPr/>
          <p:nvPr/>
        </p:nvSpPr>
        <p:spPr>
          <a:xfrm>
            <a:off x="1645920" y="3566160"/>
            <a:ext cx="0" cy="274320"/>
          </a:xfrm>
          <a:prstGeom prst="line">
            <a:avLst/>
          </a:prstGeom>
          <a:noFill/>
          <a:ln w="12700">
            <a:solidFill>
              <a:srgbClr val="64748B"/>
            </a:solidFill>
            <a:prstDash val="solid"/>
          </a:ln>
        </p:spPr>
      </p:sp>
      <p:sp>
        <p:nvSpPr>
          <p:cNvPr id="32" name="Shape 30"/>
          <p:cNvSpPr/>
          <p:nvPr/>
        </p:nvSpPr>
        <p:spPr>
          <a:xfrm>
            <a:off x="2926080" y="3840480"/>
            <a:ext cx="1280160" cy="411480"/>
          </a:xfrm>
          <a:prstGeom prst="rect">
            <a:avLst/>
          </a:prstGeom>
          <a:solidFill>
            <a:srgbClr val="0A1628"/>
          </a:solidFill>
          <a:ln w="12700">
            <a:solidFill>
              <a:srgbClr val="3B82F6"/>
            </a:solidFill>
            <a:prstDash val="solid"/>
          </a:ln>
        </p:spPr>
      </p:sp>
      <p:sp>
        <p:nvSpPr>
          <p:cNvPr id="33" name="Text 31"/>
          <p:cNvSpPr/>
          <p:nvPr/>
        </p:nvSpPr>
        <p:spPr>
          <a:xfrm>
            <a:off x="2926080" y="3840480"/>
            <a:ext cx="1280160" cy="411480"/>
          </a:xfrm>
          <a:prstGeom prst="rect">
            <a:avLst/>
          </a:prstGeom>
          <a:noFill/>
          <a:ln/>
        </p:spPr>
        <p:txBody>
          <a:bodyPr wrap="square" lIns="25400" tIns="25400" rIns="25400" bIns="25400" rtlCol="0" anchor="ctr"/>
          <a:lstStyle/>
          <a:p>
            <a:pPr algn="ctr" indent="0" marL="0">
              <a:buNone/>
            </a:pPr>
            <a:r>
              <a:rPr lang="en-US" sz="900" dirty="0">
                <a:solidFill>
                  <a:srgbClr val="BFDBFE"/>
                </a:solidFill>
              </a:rPr>
              <a:t>OTS₁</a:t>
            </a:r>
            <a:endParaRPr lang="en-US" sz="900" dirty="0"/>
          </a:p>
          <a:p>
            <a:pPr algn="ctr" indent="0" marL="0">
              <a:buNone/>
            </a:pPr>
            <a:r>
              <a:rPr lang="en-US" sz="900" dirty="0">
                <a:solidFill>
                  <a:srgbClr val="BFDBFE"/>
                </a:solidFill>
              </a:rPr>
              <a:t>(sk, pk)</a:t>
            </a:r>
            <a:endParaRPr lang="en-US" sz="900" dirty="0"/>
          </a:p>
        </p:txBody>
      </p:sp>
      <p:sp>
        <p:nvSpPr>
          <p:cNvPr id="34" name="Shape 32"/>
          <p:cNvSpPr/>
          <p:nvPr/>
        </p:nvSpPr>
        <p:spPr>
          <a:xfrm>
            <a:off x="3566160" y="3566160"/>
            <a:ext cx="0" cy="274320"/>
          </a:xfrm>
          <a:prstGeom prst="line">
            <a:avLst/>
          </a:prstGeom>
          <a:noFill/>
          <a:ln w="12700">
            <a:solidFill>
              <a:srgbClr val="64748B"/>
            </a:solidFill>
            <a:prstDash val="solid"/>
          </a:ln>
        </p:spPr>
      </p:sp>
      <p:sp>
        <p:nvSpPr>
          <p:cNvPr id="35" name="Shape 33"/>
          <p:cNvSpPr/>
          <p:nvPr/>
        </p:nvSpPr>
        <p:spPr>
          <a:xfrm>
            <a:off x="4846320" y="3840480"/>
            <a:ext cx="1280160" cy="411480"/>
          </a:xfrm>
          <a:prstGeom prst="rect">
            <a:avLst/>
          </a:prstGeom>
          <a:solidFill>
            <a:srgbClr val="0A1628"/>
          </a:solidFill>
          <a:ln w="12700">
            <a:solidFill>
              <a:srgbClr val="3B82F6"/>
            </a:solidFill>
            <a:prstDash val="solid"/>
          </a:ln>
        </p:spPr>
      </p:sp>
      <p:sp>
        <p:nvSpPr>
          <p:cNvPr id="36" name="Text 34"/>
          <p:cNvSpPr/>
          <p:nvPr/>
        </p:nvSpPr>
        <p:spPr>
          <a:xfrm>
            <a:off x="4846320" y="3840480"/>
            <a:ext cx="1280160" cy="411480"/>
          </a:xfrm>
          <a:prstGeom prst="rect">
            <a:avLst/>
          </a:prstGeom>
          <a:noFill/>
          <a:ln/>
        </p:spPr>
        <p:txBody>
          <a:bodyPr wrap="square" lIns="25400" tIns="25400" rIns="25400" bIns="25400" rtlCol="0" anchor="ctr"/>
          <a:lstStyle/>
          <a:p>
            <a:pPr algn="ctr" indent="0" marL="0">
              <a:buNone/>
            </a:pPr>
            <a:r>
              <a:rPr lang="en-US" sz="900" dirty="0">
                <a:solidFill>
                  <a:srgbClr val="BFDBFE"/>
                </a:solidFill>
              </a:rPr>
              <a:t>OTS₂</a:t>
            </a:r>
            <a:endParaRPr lang="en-US" sz="900" dirty="0"/>
          </a:p>
          <a:p>
            <a:pPr algn="ctr" indent="0" marL="0">
              <a:buNone/>
            </a:pPr>
            <a:r>
              <a:rPr lang="en-US" sz="900" dirty="0">
                <a:solidFill>
                  <a:srgbClr val="BFDBFE"/>
                </a:solidFill>
              </a:rPr>
              <a:t>(sk, pk)</a:t>
            </a:r>
            <a:endParaRPr lang="en-US" sz="900" dirty="0"/>
          </a:p>
        </p:txBody>
      </p:sp>
      <p:sp>
        <p:nvSpPr>
          <p:cNvPr id="37" name="Shape 35"/>
          <p:cNvSpPr/>
          <p:nvPr/>
        </p:nvSpPr>
        <p:spPr>
          <a:xfrm>
            <a:off x="5486400" y="3566160"/>
            <a:ext cx="0" cy="274320"/>
          </a:xfrm>
          <a:prstGeom prst="line">
            <a:avLst/>
          </a:prstGeom>
          <a:noFill/>
          <a:ln w="12700">
            <a:solidFill>
              <a:srgbClr val="64748B"/>
            </a:solidFill>
            <a:prstDash val="solid"/>
          </a:ln>
        </p:spPr>
      </p:sp>
      <p:sp>
        <p:nvSpPr>
          <p:cNvPr id="38" name="Shape 36"/>
          <p:cNvSpPr/>
          <p:nvPr/>
        </p:nvSpPr>
        <p:spPr>
          <a:xfrm>
            <a:off x="6766560" y="3840480"/>
            <a:ext cx="1280160" cy="411480"/>
          </a:xfrm>
          <a:prstGeom prst="rect">
            <a:avLst/>
          </a:prstGeom>
          <a:solidFill>
            <a:srgbClr val="0A1628"/>
          </a:solidFill>
          <a:ln w="12700">
            <a:solidFill>
              <a:srgbClr val="3B82F6"/>
            </a:solidFill>
            <a:prstDash val="solid"/>
          </a:ln>
        </p:spPr>
      </p:sp>
      <p:sp>
        <p:nvSpPr>
          <p:cNvPr id="39" name="Text 37"/>
          <p:cNvSpPr/>
          <p:nvPr/>
        </p:nvSpPr>
        <p:spPr>
          <a:xfrm>
            <a:off x="6766560" y="3840480"/>
            <a:ext cx="1280160" cy="411480"/>
          </a:xfrm>
          <a:prstGeom prst="rect">
            <a:avLst/>
          </a:prstGeom>
          <a:noFill/>
          <a:ln/>
        </p:spPr>
        <p:txBody>
          <a:bodyPr wrap="square" lIns="25400" tIns="25400" rIns="25400" bIns="25400" rtlCol="0" anchor="ctr"/>
          <a:lstStyle/>
          <a:p>
            <a:pPr algn="ctr" indent="0" marL="0">
              <a:buNone/>
            </a:pPr>
            <a:r>
              <a:rPr lang="en-US" sz="900" dirty="0">
                <a:solidFill>
                  <a:srgbClr val="BFDBFE"/>
                </a:solidFill>
              </a:rPr>
              <a:t>OTS₃</a:t>
            </a:r>
            <a:endParaRPr lang="en-US" sz="900" dirty="0"/>
          </a:p>
          <a:p>
            <a:pPr algn="ctr" indent="0" marL="0">
              <a:buNone/>
            </a:pPr>
            <a:r>
              <a:rPr lang="en-US" sz="900" dirty="0">
                <a:solidFill>
                  <a:srgbClr val="BFDBFE"/>
                </a:solidFill>
              </a:rPr>
              <a:t>(sk, pk)</a:t>
            </a:r>
            <a:endParaRPr lang="en-US" sz="900" dirty="0"/>
          </a:p>
        </p:txBody>
      </p:sp>
      <p:sp>
        <p:nvSpPr>
          <p:cNvPr id="40" name="Shape 38"/>
          <p:cNvSpPr/>
          <p:nvPr/>
        </p:nvSpPr>
        <p:spPr>
          <a:xfrm>
            <a:off x="7406640" y="3566160"/>
            <a:ext cx="0" cy="274320"/>
          </a:xfrm>
          <a:prstGeom prst="line">
            <a:avLst/>
          </a:prstGeom>
          <a:noFill/>
          <a:ln w="12700">
            <a:solidFill>
              <a:srgbClr val="64748B"/>
            </a:solidFill>
            <a:prstDash val="solid"/>
          </a:ln>
        </p:spPr>
      </p:sp>
      <p:sp>
        <p:nvSpPr>
          <p:cNvPr id="41" name="Shape 39"/>
          <p:cNvSpPr/>
          <p:nvPr/>
        </p:nvSpPr>
        <p:spPr>
          <a:xfrm>
            <a:off x="274320" y="4480560"/>
            <a:ext cx="8595360" cy="457200"/>
          </a:xfrm>
          <a:prstGeom prst="rect">
            <a:avLst/>
          </a:prstGeom>
          <a:solidFill>
            <a:srgbClr val="0A1628"/>
          </a:solidFill>
          <a:ln w="12700">
            <a:solidFill>
              <a:srgbClr val="1E3A5F"/>
            </a:solidFill>
            <a:prstDash val="solid"/>
          </a:ln>
        </p:spPr>
      </p:sp>
      <p:sp>
        <p:nvSpPr>
          <p:cNvPr id="42" name="Text 40"/>
          <p:cNvSpPr/>
          <p:nvPr/>
        </p:nvSpPr>
        <p:spPr>
          <a:xfrm>
            <a:off x="274320" y="4480560"/>
            <a:ext cx="8595360" cy="457200"/>
          </a:xfrm>
          <a:prstGeom prst="rect">
            <a:avLst/>
          </a:prstGeom>
          <a:noFill/>
          <a:ln/>
        </p:spPr>
        <p:txBody>
          <a:bodyPr wrap="square" lIns="76200" tIns="76200" rIns="76200" bIns="76200" rtlCol="0" anchor="ctr"/>
          <a:lstStyle/>
          <a:p>
            <a:pPr indent="0" marL="0">
              <a:buNone/>
            </a:pPr>
            <a:r>
              <a:rPr lang="en-US" sz="1100" dirty="0">
                <a:solidFill>
                  <a:srgbClr val="BFDBFE"/>
                </a:solidFill>
              </a:rPr>
              <a:t>La Raíz del árbol = Clave Pública XMSS. Para probar validez de una firma se revela el 'camino de autenticación' desde la hoja hasta la raíz (unos pocos hashes, no todo el árbol).</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E3D"/>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3B82F6"/>
          </a:solidFill>
          <a:ln w="12700">
            <a:solidFill>
              <a:srgbClr val="333333"/>
            </a:solidFill>
            <a:prstDash val="solid"/>
          </a:ln>
        </p:spPr>
      </p:sp>
      <p:sp>
        <p:nvSpPr>
          <p:cNvPr id="3" name="Text 1"/>
          <p:cNvSpPr/>
          <p:nvPr/>
        </p:nvSpPr>
        <p:spPr>
          <a:xfrm>
            <a:off x="274320" y="182880"/>
            <a:ext cx="8595360" cy="502920"/>
          </a:xfrm>
          <a:prstGeom prst="rect">
            <a:avLst/>
          </a:prstGeom>
          <a:noFill/>
          <a:ln/>
        </p:spPr>
        <p:txBody>
          <a:bodyPr wrap="square" lIns="0" tIns="0" rIns="0" bIns="0" rtlCol="0" anchor="ctr"/>
          <a:lstStyle/>
          <a:p>
            <a:pPr indent="0" marL="0">
              <a:buNone/>
            </a:pPr>
            <a:r>
              <a:rPr lang="en-US" sz="2400" b="1" dirty="0">
                <a:solidFill>
                  <a:srgbClr val="F8FAFC"/>
                </a:solidFill>
                <a:latin typeface="Arial" pitchFamily="34" charset="0"/>
                <a:ea typeface="Arial" pitchFamily="34" charset="-122"/>
                <a:cs typeface="Arial" pitchFamily="34" charset="-120"/>
              </a:rPr>
              <a:t>Pilar 03 — Estado (Stateful)</a:t>
            </a:r>
            <a:endParaRPr lang="en-US" sz="2400" dirty="0"/>
          </a:p>
        </p:txBody>
      </p:sp>
      <p:sp>
        <p:nvSpPr>
          <p:cNvPr id="4" name="Shape 2"/>
          <p:cNvSpPr/>
          <p:nvPr/>
        </p:nvSpPr>
        <p:spPr>
          <a:xfrm>
            <a:off x="274320" y="731520"/>
            <a:ext cx="8412480" cy="0"/>
          </a:xfrm>
          <a:prstGeom prst="line">
            <a:avLst/>
          </a:prstGeom>
          <a:noFill/>
          <a:ln w="12700">
            <a:solidFill>
              <a:srgbClr val="1E3A5F"/>
            </a:solidFill>
            <a:prstDash val="solid"/>
          </a:ln>
        </p:spPr>
      </p:sp>
      <p:sp>
        <p:nvSpPr>
          <p:cNvPr id="5" name="Text 3"/>
          <p:cNvSpPr/>
          <p:nvPr/>
        </p:nvSpPr>
        <p:spPr>
          <a:xfrm>
            <a:off x="274320" y="804672"/>
            <a:ext cx="8412480" cy="320040"/>
          </a:xfrm>
          <a:prstGeom prst="rect">
            <a:avLst/>
          </a:prstGeom>
          <a:noFill/>
          <a:ln/>
        </p:spPr>
        <p:txBody>
          <a:bodyPr wrap="square" lIns="0" tIns="0" rIns="0" bIns="0" rtlCol="0" anchor="ctr"/>
          <a:lstStyle/>
          <a:p>
            <a:pPr indent="0" marL="0">
              <a:buNone/>
            </a:pPr>
            <a:r>
              <a:rPr lang="en-US" sz="1250" dirty="0">
                <a:solidFill>
                  <a:srgbClr val="BFDBFE"/>
                </a:solidFill>
              </a:rPr>
              <a:t>XMSS es stateful: debe recordar qué índice OTS usó para nunca repetirlo. Esto lo diferencia de ECDSA (que es stateless).</a:t>
            </a:r>
            <a:endParaRPr lang="en-US" sz="1250" dirty="0"/>
          </a:p>
        </p:txBody>
      </p:sp>
      <p:sp>
        <p:nvSpPr>
          <p:cNvPr id="6" name="Text 4"/>
          <p:cNvSpPr/>
          <p:nvPr/>
        </p:nvSpPr>
        <p:spPr>
          <a:xfrm>
            <a:off x="274320" y="1234440"/>
            <a:ext cx="3931920" cy="320040"/>
          </a:xfrm>
          <a:prstGeom prst="rect">
            <a:avLst/>
          </a:prstGeom>
          <a:noFill/>
          <a:ln/>
        </p:spPr>
        <p:txBody>
          <a:bodyPr wrap="square" lIns="0" tIns="0" rIns="0" bIns="0" rtlCol="0" anchor="ctr"/>
          <a:lstStyle/>
          <a:p>
            <a:pPr indent="0" marL="0">
              <a:buNone/>
            </a:pPr>
            <a:r>
              <a:rPr lang="en-US" sz="1400" b="1" dirty="0">
                <a:solidFill>
                  <a:srgbClr val="BFDBFE"/>
                </a:solidFill>
              </a:rPr>
              <a:t>El índice como contador</a:t>
            </a:r>
            <a:endParaRPr lang="en-US" sz="1400" dirty="0"/>
          </a:p>
        </p:txBody>
      </p:sp>
      <p:sp>
        <p:nvSpPr>
          <p:cNvPr id="7" name="Shape 5"/>
          <p:cNvSpPr/>
          <p:nvPr/>
        </p:nvSpPr>
        <p:spPr>
          <a:xfrm>
            <a:off x="274320" y="1645920"/>
            <a:ext cx="3931920" cy="566928"/>
          </a:xfrm>
          <a:prstGeom prst="rect">
            <a:avLst/>
          </a:prstGeom>
          <a:solidFill>
            <a:srgbClr val="080E1A"/>
          </a:solidFill>
          <a:ln w="12700">
            <a:solidFill>
              <a:srgbClr val="10B981"/>
            </a:solidFill>
            <a:prstDash val="solid"/>
          </a:ln>
        </p:spPr>
      </p:sp>
      <p:sp>
        <p:nvSpPr>
          <p:cNvPr id="8" name="Shape 6"/>
          <p:cNvSpPr/>
          <p:nvPr/>
        </p:nvSpPr>
        <p:spPr>
          <a:xfrm>
            <a:off x="411480" y="1783080"/>
            <a:ext cx="292608" cy="292608"/>
          </a:xfrm>
          <a:prstGeom prst="ellipse">
            <a:avLst/>
          </a:prstGeom>
          <a:solidFill>
            <a:srgbClr val="10B981">
              <a:alpha val="80000"/>
            </a:srgbClr>
          </a:solidFill>
          <a:ln w="12700">
            <a:solidFill>
              <a:srgbClr val="333333"/>
            </a:solidFill>
            <a:prstDash val="solid"/>
          </a:ln>
        </p:spPr>
      </p:sp>
      <p:sp>
        <p:nvSpPr>
          <p:cNvPr id="9" name="Text 7"/>
          <p:cNvSpPr/>
          <p:nvPr/>
        </p:nvSpPr>
        <p:spPr>
          <a:xfrm>
            <a:off x="411480" y="1783080"/>
            <a:ext cx="292608" cy="292608"/>
          </a:xfrm>
          <a:prstGeom prst="rect">
            <a:avLst/>
          </a:prstGeom>
          <a:noFill/>
          <a:ln/>
        </p:spPr>
        <p:txBody>
          <a:bodyPr wrap="square" lIns="0" tIns="0" rIns="0" bIns="0" rtlCol="0" anchor="ctr"/>
          <a:lstStyle/>
          <a:p>
            <a:pPr algn="ctr" indent="0" marL="0">
              <a:buNone/>
            </a:pPr>
            <a:r>
              <a:rPr lang="en-US" sz="1200" b="1" dirty="0">
                <a:solidFill>
                  <a:srgbClr val="F8FAFC"/>
                </a:solidFill>
              </a:rPr>
              <a:t>0</a:t>
            </a:r>
            <a:endParaRPr lang="en-US" sz="1200" dirty="0"/>
          </a:p>
        </p:txBody>
      </p:sp>
      <p:sp>
        <p:nvSpPr>
          <p:cNvPr id="10" name="Text 8"/>
          <p:cNvSpPr/>
          <p:nvPr/>
        </p:nvSpPr>
        <p:spPr>
          <a:xfrm>
            <a:off x="777240" y="1645920"/>
            <a:ext cx="2926080" cy="566928"/>
          </a:xfrm>
          <a:prstGeom prst="rect">
            <a:avLst/>
          </a:prstGeom>
          <a:noFill/>
          <a:ln/>
        </p:spPr>
        <p:txBody>
          <a:bodyPr wrap="square" lIns="0" tIns="0" rIns="0" bIns="0" rtlCol="0" anchor="ctr"/>
          <a:lstStyle/>
          <a:p>
            <a:pPr indent="0" marL="0">
              <a:buNone/>
            </a:pPr>
            <a:r>
              <a:rPr lang="en-US" sz="1200" dirty="0">
                <a:solidFill>
                  <a:srgbClr val="BFDBFE"/>
                </a:solidFill>
              </a:rPr>
              <a:t>idx = 0 → Usar OTS₀</a:t>
            </a:r>
            <a:endParaRPr lang="en-US" sz="1200" dirty="0"/>
          </a:p>
        </p:txBody>
      </p:sp>
      <p:sp>
        <p:nvSpPr>
          <p:cNvPr id="11" name="Shape 9"/>
          <p:cNvSpPr/>
          <p:nvPr/>
        </p:nvSpPr>
        <p:spPr>
          <a:xfrm>
            <a:off x="274320" y="2304288"/>
            <a:ext cx="3931920" cy="566928"/>
          </a:xfrm>
          <a:prstGeom prst="rect">
            <a:avLst/>
          </a:prstGeom>
          <a:solidFill>
            <a:srgbClr val="080E1A"/>
          </a:solidFill>
          <a:ln w="12700">
            <a:solidFill>
              <a:srgbClr val="10B981"/>
            </a:solidFill>
            <a:prstDash val="solid"/>
          </a:ln>
        </p:spPr>
      </p:sp>
      <p:sp>
        <p:nvSpPr>
          <p:cNvPr id="12" name="Shape 10"/>
          <p:cNvSpPr/>
          <p:nvPr/>
        </p:nvSpPr>
        <p:spPr>
          <a:xfrm>
            <a:off x="411480" y="2441448"/>
            <a:ext cx="292608" cy="292608"/>
          </a:xfrm>
          <a:prstGeom prst="ellipse">
            <a:avLst/>
          </a:prstGeom>
          <a:solidFill>
            <a:srgbClr val="10B981">
              <a:alpha val="80000"/>
            </a:srgbClr>
          </a:solidFill>
          <a:ln w="12700">
            <a:solidFill>
              <a:srgbClr val="333333"/>
            </a:solidFill>
            <a:prstDash val="solid"/>
          </a:ln>
        </p:spPr>
      </p:sp>
      <p:sp>
        <p:nvSpPr>
          <p:cNvPr id="13" name="Text 11"/>
          <p:cNvSpPr/>
          <p:nvPr/>
        </p:nvSpPr>
        <p:spPr>
          <a:xfrm>
            <a:off x="411480" y="2441448"/>
            <a:ext cx="292608" cy="292608"/>
          </a:xfrm>
          <a:prstGeom prst="rect">
            <a:avLst/>
          </a:prstGeom>
          <a:noFill/>
          <a:ln/>
        </p:spPr>
        <p:txBody>
          <a:bodyPr wrap="square" lIns="0" tIns="0" rIns="0" bIns="0" rtlCol="0" anchor="ctr"/>
          <a:lstStyle/>
          <a:p>
            <a:pPr algn="ctr" indent="0" marL="0">
              <a:buNone/>
            </a:pPr>
            <a:r>
              <a:rPr lang="en-US" sz="1200" b="1" dirty="0">
                <a:solidFill>
                  <a:srgbClr val="F8FAFC"/>
                </a:solidFill>
              </a:rPr>
              <a:t>1</a:t>
            </a:r>
            <a:endParaRPr lang="en-US" sz="1200" dirty="0"/>
          </a:p>
        </p:txBody>
      </p:sp>
      <p:sp>
        <p:nvSpPr>
          <p:cNvPr id="14" name="Text 12"/>
          <p:cNvSpPr/>
          <p:nvPr/>
        </p:nvSpPr>
        <p:spPr>
          <a:xfrm>
            <a:off x="777240" y="2304288"/>
            <a:ext cx="2926080" cy="566928"/>
          </a:xfrm>
          <a:prstGeom prst="rect">
            <a:avLst/>
          </a:prstGeom>
          <a:noFill/>
          <a:ln/>
        </p:spPr>
        <p:txBody>
          <a:bodyPr wrap="square" lIns="0" tIns="0" rIns="0" bIns="0" rtlCol="0" anchor="ctr"/>
          <a:lstStyle/>
          <a:p>
            <a:pPr indent="0" marL="0">
              <a:buNone/>
            </a:pPr>
            <a:r>
              <a:rPr lang="en-US" sz="1200" dirty="0">
                <a:solidFill>
                  <a:srgbClr val="BFDBFE"/>
                </a:solidFill>
              </a:rPr>
              <a:t>idx = 1 → Usar OTS₁</a:t>
            </a:r>
            <a:endParaRPr lang="en-US" sz="1200" dirty="0"/>
          </a:p>
        </p:txBody>
      </p:sp>
      <p:sp>
        <p:nvSpPr>
          <p:cNvPr id="15" name="Shape 13"/>
          <p:cNvSpPr/>
          <p:nvPr/>
        </p:nvSpPr>
        <p:spPr>
          <a:xfrm>
            <a:off x="274320" y="2962656"/>
            <a:ext cx="3931920" cy="566928"/>
          </a:xfrm>
          <a:prstGeom prst="rect">
            <a:avLst/>
          </a:prstGeom>
          <a:solidFill>
            <a:srgbClr val="1A2E0A"/>
          </a:solidFill>
          <a:ln w="25400">
            <a:solidFill>
              <a:srgbClr val="F59E0B"/>
            </a:solidFill>
            <a:prstDash val="solid"/>
          </a:ln>
        </p:spPr>
      </p:sp>
      <p:sp>
        <p:nvSpPr>
          <p:cNvPr id="16" name="Shape 14"/>
          <p:cNvSpPr/>
          <p:nvPr/>
        </p:nvSpPr>
        <p:spPr>
          <a:xfrm>
            <a:off x="411480" y="3099816"/>
            <a:ext cx="292608" cy="292608"/>
          </a:xfrm>
          <a:prstGeom prst="ellipse">
            <a:avLst/>
          </a:prstGeom>
          <a:solidFill>
            <a:srgbClr val="F59E0B">
              <a:alpha val="80000"/>
            </a:srgbClr>
          </a:solidFill>
          <a:ln w="12700">
            <a:solidFill>
              <a:srgbClr val="333333"/>
            </a:solidFill>
            <a:prstDash val="solid"/>
          </a:ln>
        </p:spPr>
      </p:sp>
      <p:sp>
        <p:nvSpPr>
          <p:cNvPr id="17" name="Text 15"/>
          <p:cNvSpPr/>
          <p:nvPr/>
        </p:nvSpPr>
        <p:spPr>
          <a:xfrm>
            <a:off x="411480" y="3099816"/>
            <a:ext cx="292608" cy="292608"/>
          </a:xfrm>
          <a:prstGeom prst="rect">
            <a:avLst/>
          </a:prstGeom>
          <a:noFill/>
          <a:ln/>
        </p:spPr>
        <p:txBody>
          <a:bodyPr wrap="square" lIns="0" tIns="0" rIns="0" bIns="0" rtlCol="0" anchor="ctr"/>
          <a:lstStyle/>
          <a:p>
            <a:pPr algn="ctr" indent="0" marL="0">
              <a:buNone/>
            </a:pPr>
            <a:r>
              <a:rPr lang="en-US" sz="1200" b="1" dirty="0">
                <a:solidFill>
                  <a:srgbClr val="F8FAFC"/>
                </a:solidFill>
              </a:rPr>
              <a:t>2</a:t>
            </a:r>
            <a:endParaRPr lang="en-US" sz="1200" dirty="0"/>
          </a:p>
        </p:txBody>
      </p:sp>
      <p:sp>
        <p:nvSpPr>
          <p:cNvPr id="18" name="Text 16"/>
          <p:cNvSpPr/>
          <p:nvPr/>
        </p:nvSpPr>
        <p:spPr>
          <a:xfrm>
            <a:off x="777240" y="2962656"/>
            <a:ext cx="2926080" cy="566928"/>
          </a:xfrm>
          <a:prstGeom prst="rect">
            <a:avLst/>
          </a:prstGeom>
          <a:noFill/>
          <a:ln/>
        </p:spPr>
        <p:txBody>
          <a:bodyPr wrap="square" lIns="0" tIns="0" rIns="0" bIns="0" rtlCol="0" anchor="ctr"/>
          <a:lstStyle/>
          <a:p>
            <a:pPr indent="0" marL="0">
              <a:buNone/>
            </a:pPr>
            <a:r>
              <a:rPr lang="en-US" sz="1200" dirty="0">
                <a:solidFill>
                  <a:srgbClr val="BFDBFE"/>
                </a:solidFill>
              </a:rPr>
              <a:t>idx = 2 → Usar OTS₂</a:t>
            </a:r>
            <a:endParaRPr lang="en-US" sz="1200" dirty="0"/>
          </a:p>
        </p:txBody>
      </p:sp>
      <p:sp>
        <p:nvSpPr>
          <p:cNvPr id="19" name="Text 17"/>
          <p:cNvSpPr/>
          <p:nvPr/>
        </p:nvSpPr>
        <p:spPr>
          <a:xfrm>
            <a:off x="3383280" y="2962656"/>
            <a:ext cx="777240" cy="566928"/>
          </a:xfrm>
          <a:prstGeom prst="rect">
            <a:avLst/>
          </a:prstGeom>
          <a:noFill/>
          <a:ln/>
        </p:spPr>
        <p:txBody>
          <a:bodyPr wrap="square" lIns="0" tIns="0" rIns="0" bIns="0" rtlCol="0" anchor="ctr"/>
          <a:lstStyle/>
          <a:p>
            <a:pPr algn="ctr" indent="0" marL="0">
              <a:buNone/>
            </a:pPr>
            <a:r>
              <a:rPr lang="en-US" sz="1100" b="1" dirty="0">
                <a:solidFill>
                  <a:srgbClr val="F59E0B"/>
                </a:solidFill>
              </a:rPr>
              <a:t>← ahora</a:t>
            </a:r>
            <a:endParaRPr lang="en-US" sz="1100" dirty="0"/>
          </a:p>
        </p:txBody>
      </p:sp>
      <p:sp>
        <p:nvSpPr>
          <p:cNvPr id="20" name="Shape 18"/>
          <p:cNvSpPr/>
          <p:nvPr/>
        </p:nvSpPr>
        <p:spPr>
          <a:xfrm>
            <a:off x="274320" y="3621024"/>
            <a:ext cx="3931920" cy="566928"/>
          </a:xfrm>
          <a:prstGeom prst="rect">
            <a:avLst/>
          </a:prstGeom>
          <a:solidFill>
            <a:srgbClr val="080E1A"/>
          </a:solidFill>
          <a:ln w="12700">
            <a:solidFill>
              <a:srgbClr val="64748B"/>
            </a:solidFill>
            <a:prstDash val="solid"/>
          </a:ln>
        </p:spPr>
      </p:sp>
      <p:sp>
        <p:nvSpPr>
          <p:cNvPr id="21" name="Shape 19"/>
          <p:cNvSpPr/>
          <p:nvPr/>
        </p:nvSpPr>
        <p:spPr>
          <a:xfrm>
            <a:off x="411480" y="3758184"/>
            <a:ext cx="292608" cy="292608"/>
          </a:xfrm>
          <a:prstGeom prst="ellipse">
            <a:avLst/>
          </a:prstGeom>
          <a:solidFill>
            <a:srgbClr val="64748B">
              <a:alpha val="40000"/>
            </a:srgbClr>
          </a:solidFill>
          <a:ln w="12700">
            <a:solidFill>
              <a:srgbClr val="333333"/>
            </a:solidFill>
            <a:prstDash val="solid"/>
          </a:ln>
        </p:spPr>
      </p:sp>
      <p:sp>
        <p:nvSpPr>
          <p:cNvPr id="22" name="Text 20"/>
          <p:cNvSpPr/>
          <p:nvPr/>
        </p:nvSpPr>
        <p:spPr>
          <a:xfrm>
            <a:off x="411480" y="3758184"/>
            <a:ext cx="292608" cy="292608"/>
          </a:xfrm>
          <a:prstGeom prst="rect">
            <a:avLst/>
          </a:prstGeom>
          <a:noFill/>
          <a:ln/>
        </p:spPr>
        <p:txBody>
          <a:bodyPr wrap="square" lIns="0" tIns="0" rIns="0" bIns="0" rtlCol="0" anchor="ctr"/>
          <a:lstStyle/>
          <a:p>
            <a:pPr algn="ctr" indent="0" marL="0">
              <a:buNone/>
            </a:pPr>
            <a:r>
              <a:rPr lang="en-US" sz="1200" b="1" dirty="0">
                <a:solidFill>
                  <a:srgbClr val="F8FAFC"/>
                </a:solidFill>
              </a:rPr>
              <a:t>3</a:t>
            </a:r>
            <a:endParaRPr lang="en-US" sz="1200" dirty="0"/>
          </a:p>
        </p:txBody>
      </p:sp>
      <p:sp>
        <p:nvSpPr>
          <p:cNvPr id="23" name="Text 21"/>
          <p:cNvSpPr/>
          <p:nvPr/>
        </p:nvSpPr>
        <p:spPr>
          <a:xfrm>
            <a:off x="777240" y="3621024"/>
            <a:ext cx="2926080" cy="566928"/>
          </a:xfrm>
          <a:prstGeom prst="rect">
            <a:avLst/>
          </a:prstGeom>
          <a:noFill/>
          <a:ln/>
        </p:spPr>
        <p:txBody>
          <a:bodyPr wrap="square" lIns="0" tIns="0" rIns="0" bIns="0" rtlCol="0" anchor="ctr"/>
          <a:lstStyle/>
          <a:p>
            <a:pPr indent="0" marL="0">
              <a:buNone/>
            </a:pPr>
            <a:r>
              <a:rPr lang="en-US" sz="1200" dirty="0">
                <a:solidFill>
                  <a:srgbClr val="64748B"/>
                </a:solidFill>
              </a:rPr>
              <a:t>idx = 3 → Usar OTS₃</a:t>
            </a:r>
            <a:endParaRPr lang="en-US" sz="1200" dirty="0"/>
          </a:p>
        </p:txBody>
      </p:sp>
      <p:sp>
        <p:nvSpPr>
          <p:cNvPr id="24" name="Text 22"/>
          <p:cNvSpPr/>
          <p:nvPr/>
        </p:nvSpPr>
        <p:spPr>
          <a:xfrm>
            <a:off x="4480560" y="1234440"/>
            <a:ext cx="4297680" cy="320040"/>
          </a:xfrm>
          <a:prstGeom prst="rect">
            <a:avLst/>
          </a:prstGeom>
          <a:noFill/>
          <a:ln/>
        </p:spPr>
        <p:txBody>
          <a:bodyPr wrap="square" lIns="0" tIns="0" rIns="0" bIns="0" rtlCol="0" anchor="ctr"/>
          <a:lstStyle/>
          <a:p>
            <a:pPr indent="0" marL="0">
              <a:buNone/>
            </a:pPr>
            <a:r>
              <a:rPr lang="en-US" sz="1400" b="1" dirty="0">
                <a:solidFill>
                  <a:srgbClr val="BFDBFE"/>
                </a:solidFill>
              </a:rPr>
              <a:t>Riesgos del estado</a:t>
            </a:r>
            <a:endParaRPr lang="en-US" sz="1400" dirty="0"/>
          </a:p>
        </p:txBody>
      </p:sp>
      <p:sp>
        <p:nvSpPr>
          <p:cNvPr id="25" name="Shape 23"/>
          <p:cNvSpPr/>
          <p:nvPr/>
        </p:nvSpPr>
        <p:spPr>
          <a:xfrm>
            <a:off x="4480560" y="1645920"/>
            <a:ext cx="4297680" cy="658368"/>
          </a:xfrm>
          <a:prstGeom prst="rect">
            <a:avLst/>
          </a:prstGeom>
          <a:solidFill>
            <a:srgbClr val="080E1A"/>
          </a:solidFill>
          <a:ln w="12700">
            <a:solidFill>
              <a:srgbClr val="EF4444"/>
            </a:solidFill>
            <a:prstDash val="solid"/>
          </a:ln>
        </p:spPr>
      </p:sp>
      <p:sp>
        <p:nvSpPr>
          <p:cNvPr id="26" name="Text 24"/>
          <p:cNvSpPr/>
          <p:nvPr/>
        </p:nvSpPr>
        <p:spPr>
          <a:xfrm>
            <a:off x="4526280" y="1645920"/>
            <a:ext cx="502920" cy="658368"/>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7" name="Text 25"/>
          <p:cNvSpPr/>
          <p:nvPr/>
        </p:nvSpPr>
        <p:spPr>
          <a:xfrm>
            <a:off x="5029200" y="1682496"/>
            <a:ext cx="3566160" cy="274320"/>
          </a:xfrm>
          <a:prstGeom prst="rect">
            <a:avLst/>
          </a:prstGeom>
          <a:noFill/>
          <a:ln/>
        </p:spPr>
        <p:txBody>
          <a:bodyPr wrap="square" lIns="0" tIns="0" rIns="0" bIns="0" rtlCol="0" anchor="ctr"/>
          <a:lstStyle/>
          <a:p>
            <a:pPr indent="0" marL="0">
              <a:buNone/>
            </a:pPr>
            <a:r>
              <a:rPr lang="en-US" sz="1200" b="1" dirty="0">
                <a:solidFill>
                  <a:srgbClr val="EF4444"/>
                </a:solidFill>
              </a:rPr>
              <a:t>Pérdida del estado</a:t>
            </a:r>
            <a:endParaRPr lang="en-US" sz="1200" dirty="0"/>
          </a:p>
        </p:txBody>
      </p:sp>
      <p:sp>
        <p:nvSpPr>
          <p:cNvPr id="28" name="Text 26"/>
          <p:cNvSpPr/>
          <p:nvPr/>
        </p:nvSpPr>
        <p:spPr>
          <a:xfrm>
            <a:off x="5029200" y="1956816"/>
            <a:ext cx="3566160" cy="310896"/>
          </a:xfrm>
          <a:prstGeom prst="rect">
            <a:avLst/>
          </a:prstGeom>
          <a:noFill/>
          <a:ln/>
        </p:spPr>
        <p:txBody>
          <a:bodyPr wrap="square" lIns="0" tIns="0" rIns="0" bIns="0" rtlCol="0" anchor="ctr"/>
          <a:lstStyle/>
          <a:p>
            <a:pPr indent="0" marL="0">
              <a:buNone/>
            </a:pPr>
            <a:r>
              <a:rPr lang="en-US" sz="1050" dirty="0">
                <a:solidFill>
                  <a:srgbClr val="64748B"/>
                </a:solidFill>
              </a:rPr>
              <a:t>Si se pierde qué índice se usó, no se puede continuar firmando de forma segura.</a:t>
            </a:r>
            <a:endParaRPr lang="en-US" sz="1050" dirty="0"/>
          </a:p>
        </p:txBody>
      </p:sp>
      <p:sp>
        <p:nvSpPr>
          <p:cNvPr id="29" name="Shape 27"/>
          <p:cNvSpPr/>
          <p:nvPr/>
        </p:nvSpPr>
        <p:spPr>
          <a:xfrm>
            <a:off x="4480560" y="2414016"/>
            <a:ext cx="4297680" cy="658368"/>
          </a:xfrm>
          <a:prstGeom prst="rect">
            <a:avLst/>
          </a:prstGeom>
          <a:solidFill>
            <a:srgbClr val="080E1A"/>
          </a:solidFill>
          <a:ln w="12700">
            <a:solidFill>
              <a:srgbClr val="EF4444"/>
            </a:solidFill>
            <a:prstDash val="solid"/>
          </a:ln>
        </p:spPr>
      </p:sp>
      <p:sp>
        <p:nvSpPr>
          <p:cNvPr id="30" name="Text 28"/>
          <p:cNvSpPr/>
          <p:nvPr/>
        </p:nvSpPr>
        <p:spPr>
          <a:xfrm>
            <a:off x="4526280" y="2414016"/>
            <a:ext cx="502920" cy="658368"/>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1" name="Text 29"/>
          <p:cNvSpPr/>
          <p:nvPr/>
        </p:nvSpPr>
        <p:spPr>
          <a:xfrm>
            <a:off x="5029200" y="2450592"/>
            <a:ext cx="3566160" cy="274320"/>
          </a:xfrm>
          <a:prstGeom prst="rect">
            <a:avLst/>
          </a:prstGeom>
          <a:noFill/>
          <a:ln/>
        </p:spPr>
        <p:txBody>
          <a:bodyPr wrap="square" lIns="0" tIns="0" rIns="0" bIns="0" rtlCol="0" anchor="ctr"/>
          <a:lstStyle/>
          <a:p>
            <a:pPr indent="0" marL="0">
              <a:buNone/>
            </a:pPr>
            <a:r>
              <a:rPr lang="en-US" sz="1200" b="1" dirty="0">
                <a:solidFill>
                  <a:srgbClr val="EF4444"/>
                </a:solidFill>
              </a:rPr>
              <a:t>Backup y restore</a:t>
            </a:r>
            <a:endParaRPr lang="en-US" sz="1200" dirty="0"/>
          </a:p>
        </p:txBody>
      </p:sp>
      <p:sp>
        <p:nvSpPr>
          <p:cNvPr id="32" name="Text 30"/>
          <p:cNvSpPr/>
          <p:nvPr/>
        </p:nvSpPr>
        <p:spPr>
          <a:xfrm>
            <a:off x="5029200" y="2724912"/>
            <a:ext cx="3566160" cy="310896"/>
          </a:xfrm>
          <a:prstGeom prst="rect">
            <a:avLst/>
          </a:prstGeom>
          <a:noFill/>
          <a:ln/>
        </p:spPr>
        <p:txBody>
          <a:bodyPr wrap="square" lIns="0" tIns="0" rIns="0" bIns="0" rtlCol="0" anchor="ctr"/>
          <a:lstStyle/>
          <a:p>
            <a:pPr indent="0" marL="0">
              <a:buNone/>
            </a:pPr>
            <a:r>
              <a:rPr lang="en-US" sz="1050" dirty="0">
                <a:solidFill>
                  <a:srgbClr val="64748B"/>
                </a:solidFill>
              </a:rPr>
              <a:t>Restaurar un backup antiguo puede hacer que se reutilice un índice — error crítico.</a:t>
            </a:r>
            <a:endParaRPr lang="en-US" sz="1050" dirty="0"/>
          </a:p>
        </p:txBody>
      </p:sp>
      <p:sp>
        <p:nvSpPr>
          <p:cNvPr id="33" name="Shape 31"/>
          <p:cNvSpPr/>
          <p:nvPr/>
        </p:nvSpPr>
        <p:spPr>
          <a:xfrm>
            <a:off x="4480560" y="3182112"/>
            <a:ext cx="4297680" cy="658368"/>
          </a:xfrm>
          <a:prstGeom prst="rect">
            <a:avLst/>
          </a:prstGeom>
          <a:solidFill>
            <a:srgbClr val="080E1A"/>
          </a:solidFill>
          <a:ln w="12700">
            <a:solidFill>
              <a:srgbClr val="F59E0B"/>
            </a:solidFill>
            <a:prstDash val="solid"/>
          </a:ln>
        </p:spPr>
      </p:sp>
      <p:sp>
        <p:nvSpPr>
          <p:cNvPr id="34" name="Text 32"/>
          <p:cNvSpPr/>
          <p:nvPr/>
        </p:nvSpPr>
        <p:spPr>
          <a:xfrm>
            <a:off x="4526280" y="3182112"/>
            <a:ext cx="502920" cy="658368"/>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5" name="Text 33"/>
          <p:cNvSpPr/>
          <p:nvPr/>
        </p:nvSpPr>
        <p:spPr>
          <a:xfrm>
            <a:off x="5029200" y="3218688"/>
            <a:ext cx="3566160" cy="274320"/>
          </a:xfrm>
          <a:prstGeom prst="rect">
            <a:avLst/>
          </a:prstGeom>
          <a:noFill/>
          <a:ln/>
        </p:spPr>
        <p:txBody>
          <a:bodyPr wrap="square" lIns="0" tIns="0" rIns="0" bIns="0" rtlCol="0" anchor="ctr"/>
          <a:lstStyle/>
          <a:p>
            <a:pPr indent="0" marL="0">
              <a:buNone/>
            </a:pPr>
            <a:r>
              <a:rPr lang="en-US" sz="1200" b="1" dirty="0">
                <a:solidFill>
                  <a:srgbClr val="F59E0B"/>
                </a:solidFill>
              </a:rPr>
              <a:t>Límite de firmas</a:t>
            </a:r>
            <a:endParaRPr lang="en-US" sz="1200" dirty="0"/>
          </a:p>
        </p:txBody>
      </p:sp>
      <p:sp>
        <p:nvSpPr>
          <p:cNvPr id="36" name="Text 34"/>
          <p:cNvSpPr/>
          <p:nvPr/>
        </p:nvSpPr>
        <p:spPr>
          <a:xfrm>
            <a:off x="5029200" y="3493008"/>
            <a:ext cx="3566160" cy="310896"/>
          </a:xfrm>
          <a:prstGeom prst="rect">
            <a:avLst/>
          </a:prstGeom>
          <a:noFill/>
          <a:ln/>
        </p:spPr>
        <p:txBody>
          <a:bodyPr wrap="square" lIns="0" tIns="0" rIns="0" bIns="0" rtlCol="0" anchor="ctr"/>
          <a:lstStyle/>
          <a:p>
            <a:pPr indent="0" marL="0">
              <a:buNone/>
            </a:pPr>
            <a:r>
              <a:rPr lang="en-US" sz="1050" dirty="0">
                <a:solidFill>
                  <a:srgbClr val="64748B"/>
                </a:solidFill>
              </a:rPr>
              <a:t>Un árbol de altura h=20 permite 2²⁰ ≈ 1 millón de firmas. Luego hay que generar nueva clave.</a:t>
            </a:r>
            <a:endParaRPr lang="en-US" sz="1050" dirty="0"/>
          </a:p>
        </p:txBody>
      </p:sp>
      <p:sp>
        <p:nvSpPr>
          <p:cNvPr id="37" name="Shape 35"/>
          <p:cNvSpPr/>
          <p:nvPr/>
        </p:nvSpPr>
        <p:spPr>
          <a:xfrm>
            <a:off x="4480560" y="3950208"/>
            <a:ext cx="4297680" cy="658368"/>
          </a:xfrm>
          <a:prstGeom prst="rect">
            <a:avLst/>
          </a:prstGeom>
          <a:solidFill>
            <a:srgbClr val="080E1A"/>
          </a:solidFill>
          <a:ln w="12700">
            <a:solidFill>
              <a:srgbClr val="10B981"/>
            </a:solidFill>
            <a:prstDash val="solid"/>
          </a:ln>
        </p:spPr>
      </p:sp>
      <p:sp>
        <p:nvSpPr>
          <p:cNvPr id="38" name="Text 36"/>
          <p:cNvSpPr/>
          <p:nvPr/>
        </p:nvSpPr>
        <p:spPr>
          <a:xfrm>
            <a:off x="4526280" y="3950208"/>
            <a:ext cx="502920" cy="658368"/>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9" name="Text 37"/>
          <p:cNvSpPr/>
          <p:nvPr/>
        </p:nvSpPr>
        <p:spPr>
          <a:xfrm>
            <a:off x="5029200" y="3986784"/>
            <a:ext cx="3566160" cy="274320"/>
          </a:xfrm>
          <a:prstGeom prst="rect">
            <a:avLst/>
          </a:prstGeom>
          <a:noFill/>
          <a:ln/>
        </p:spPr>
        <p:txBody>
          <a:bodyPr wrap="square" lIns="0" tIns="0" rIns="0" bIns="0" rtlCol="0" anchor="ctr"/>
          <a:lstStyle/>
          <a:p>
            <a:pPr indent="0" marL="0">
              <a:buNone/>
            </a:pPr>
            <a:r>
              <a:rPr lang="en-US" sz="1200" b="1" dirty="0">
                <a:solidFill>
                  <a:srgbClr val="10B981"/>
                </a:solidFill>
              </a:rPr>
              <a:t>Uso ideal</a:t>
            </a:r>
            <a:endParaRPr lang="en-US" sz="1200" dirty="0"/>
          </a:p>
        </p:txBody>
      </p:sp>
      <p:sp>
        <p:nvSpPr>
          <p:cNvPr id="40" name="Text 38"/>
          <p:cNvSpPr/>
          <p:nvPr/>
        </p:nvSpPr>
        <p:spPr>
          <a:xfrm>
            <a:off x="5029200" y="4261104"/>
            <a:ext cx="3566160" cy="310896"/>
          </a:xfrm>
          <a:prstGeom prst="rect">
            <a:avLst/>
          </a:prstGeom>
          <a:noFill/>
          <a:ln/>
        </p:spPr>
        <p:txBody>
          <a:bodyPr wrap="square" lIns="0" tIns="0" rIns="0" bIns="0" rtlCol="0" anchor="ctr"/>
          <a:lstStyle/>
          <a:p>
            <a:pPr indent="0" marL="0">
              <a:buNone/>
            </a:pPr>
            <a:r>
              <a:rPr lang="en-US" sz="1050" dirty="0">
                <a:solidFill>
                  <a:srgbClr val="64748B"/>
                </a:solidFill>
              </a:rPr>
              <a:t>Dispositivos con pocas firmas y almacenamiento confiable: HSMs, firmware, PKI.</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E1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D4ED8"/>
          </a:solidFill>
          <a:ln w="12700">
            <a:solidFill>
              <a:srgbClr val="333333"/>
            </a:solidFill>
            <a:prstDash val="solid"/>
          </a:ln>
        </p:spPr>
      </p:sp>
      <p:sp>
        <p:nvSpPr>
          <p:cNvPr id="3" name="Text 1"/>
          <p:cNvSpPr/>
          <p:nvPr/>
        </p:nvSpPr>
        <p:spPr>
          <a:xfrm>
            <a:off x="365760" y="45720"/>
            <a:ext cx="8412480" cy="365760"/>
          </a:xfrm>
          <a:prstGeom prst="rect">
            <a:avLst/>
          </a:prstGeom>
          <a:noFill/>
          <a:ln/>
        </p:spPr>
        <p:txBody>
          <a:bodyPr wrap="square" lIns="0" tIns="0" rIns="0" bIns="0" rtlCol="0" anchor="ctr"/>
          <a:lstStyle/>
          <a:p>
            <a:pPr indent="0" marL="0">
              <a:buNone/>
            </a:pPr>
            <a:r>
              <a:rPr lang="en-US" sz="1300" b="1" spc="400" kern="0" dirty="0">
                <a:solidFill>
                  <a:srgbClr val="FDE68A"/>
                </a:solidFill>
              </a:rPr>
              <a:t>EJEMPLO PRÁCTICO</a:t>
            </a:r>
            <a:endParaRPr lang="en-US" sz="1300" dirty="0"/>
          </a:p>
        </p:txBody>
      </p:sp>
      <p:sp>
        <p:nvSpPr>
          <p:cNvPr id="4" name="Text 2"/>
          <p:cNvSpPr/>
          <p:nvPr/>
        </p:nvSpPr>
        <p:spPr>
          <a:xfrm>
            <a:off x="365760" y="411480"/>
            <a:ext cx="8412480" cy="502920"/>
          </a:xfrm>
          <a:prstGeom prst="rect">
            <a:avLst/>
          </a:prstGeom>
          <a:noFill/>
          <a:ln/>
        </p:spPr>
        <p:txBody>
          <a:bodyPr wrap="square" lIns="0" tIns="0" rIns="0" bIns="0" rtlCol="0" anchor="ctr"/>
          <a:lstStyle/>
          <a:p>
            <a:pPr indent="0" marL="0">
              <a:buNone/>
            </a:pPr>
            <a:r>
              <a:rPr lang="en-US" sz="2800" b="1" dirty="0">
                <a:solidFill>
                  <a:srgbClr val="F8FAFC"/>
                </a:solidFill>
                <a:latin typeface="Arial" pitchFamily="34" charset="0"/>
                <a:ea typeface="Arial" pitchFamily="34" charset="-122"/>
                <a:cs typeface="Arial" pitchFamily="34" charset="-120"/>
              </a:rPr>
              <a:t>Construyendo XMSS con h=2 (4 hojas)</a:t>
            </a:r>
            <a:endParaRPr lang="en-US" sz="2800" dirty="0"/>
          </a:p>
        </p:txBody>
      </p:sp>
      <p:sp>
        <p:nvSpPr>
          <p:cNvPr id="5" name="Text 3"/>
          <p:cNvSpPr/>
          <p:nvPr/>
        </p:nvSpPr>
        <p:spPr>
          <a:xfrm>
            <a:off x="365760" y="1097280"/>
            <a:ext cx="8412480" cy="502920"/>
          </a:xfrm>
          <a:prstGeom prst="rect">
            <a:avLst/>
          </a:prstGeom>
          <a:noFill/>
          <a:ln/>
        </p:spPr>
        <p:txBody>
          <a:bodyPr wrap="square" lIns="0" tIns="0" rIns="0" bIns="0" rtlCol="0" anchor="ctr"/>
          <a:lstStyle/>
          <a:p>
            <a:pPr indent="0" marL="0">
              <a:buNone/>
            </a:pPr>
            <a:r>
              <a:rPr lang="en-US" sz="1300" dirty="0">
                <a:solidFill>
                  <a:srgbClr val="BFDBFE"/>
                </a:solidFill>
              </a:rPr>
              <a:t>Vamos a construir un esquema XMSS completo con un árbol de altura 2, lo que nos da exactamente 4 claves OTS (= 4 firmas posibles). Ideal para entender el flujo.</a:t>
            </a:r>
            <a:endParaRPr lang="en-US" sz="1300" dirty="0"/>
          </a:p>
        </p:txBody>
      </p:sp>
      <p:sp>
        <p:nvSpPr>
          <p:cNvPr id="6" name="Shape 4"/>
          <p:cNvSpPr/>
          <p:nvPr/>
        </p:nvSpPr>
        <p:spPr>
          <a:xfrm>
            <a:off x="365760" y="1737360"/>
            <a:ext cx="4023360" cy="1234440"/>
          </a:xfrm>
          <a:prstGeom prst="rect">
            <a:avLst/>
          </a:prstGeom>
          <a:solidFill>
            <a:srgbClr val="0F1E3D"/>
          </a:solidFill>
          <a:ln w="19050">
            <a:solidFill>
              <a:srgbClr val="F59E0B"/>
            </a:solidFill>
            <a:prstDash val="solid"/>
          </a:ln>
          <a:effectLst>
            <a:outerShdw sx="100000" sy="100000" kx="0" ky="0" algn="bl" rotWithShape="0" blurRad="101600" dist="38100" dir="8100000">
              <a:srgbClr val="000000">
                <a:alpha val="30000"/>
              </a:srgbClr>
            </a:outerShdw>
          </a:effectLst>
        </p:spPr>
      </p:sp>
      <p:sp>
        <p:nvSpPr>
          <p:cNvPr id="7" name="Shape 5"/>
          <p:cNvSpPr/>
          <p:nvPr/>
        </p:nvSpPr>
        <p:spPr>
          <a:xfrm>
            <a:off x="365760" y="1737360"/>
            <a:ext cx="502920" cy="1234440"/>
          </a:xfrm>
          <a:prstGeom prst="rect">
            <a:avLst/>
          </a:prstGeom>
          <a:solidFill>
            <a:srgbClr val="F59E0B">
              <a:alpha val="80000"/>
            </a:srgbClr>
          </a:solidFill>
          <a:ln w="12700">
            <a:solidFill>
              <a:srgbClr val="333333"/>
            </a:solidFill>
            <a:prstDash val="solid"/>
          </a:ln>
        </p:spPr>
      </p:sp>
      <p:sp>
        <p:nvSpPr>
          <p:cNvPr id="8" name="Text 6"/>
          <p:cNvSpPr/>
          <p:nvPr/>
        </p:nvSpPr>
        <p:spPr>
          <a:xfrm>
            <a:off x="365760" y="1737360"/>
            <a:ext cx="502920" cy="1234440"/>
          </a:xfrm>
          <a:prstGeom prst="rect">
            <a:avLst/>
          </a:prstGeom>
          <a:noFill/>
          <a:ln/>
        </p:spPr>
        <p:txBody>
          <a:bodyPr wrap="square" lIns="0" tIns="0" rIns="0" bIns="0" rtlCol="0" anchor="ctr"/>
          <a:lstStyle/>
          <a:p>
            <a:pPr algn="ctr" indent="0" marL="0">
              <a:buNone/>
            </a:pPr>
            <a:r>
              <a:rPr lang="en-US" sz="2800" b="1" dirty="0">
                <a:solidFill>
                  <a:srgbClr val="F8FAFC"/>
                </a:solidFill>
                <a:latin typeface="Arial Black" pitchFamily="34" charset="0"/>
                <a:ea typeface="Arial Black" pitchFamily="34" charset="-122"/>
                <a:cs typeface="Arial Black" pitchFamily="34" charset="-120"/>
              </a:rPr>
              <a:t>1</a:t>
            </a:r>
            <a:endParaRPr lang="en-US" sz="2800" dirty="0"/>
          </a:p>
        </p:txBody>
      </p:sp>
      <p:sp>
        <p:nvSpPr>
          <p:cNvPr id="9" name="Text 7"/>
          <p:cNvSpPr/>
          <p:nvPr/>
        </p:nvSpPr>
        <p:spPr>
          <a:xfrm>
            <a:off x="914400" y="1847088"/>
            <a:ext cx="3383280" cy="384048"/>
          </a:xfrm>
          <a:prstGeom prst="rect">
            <a:avLst/>
          </a:prstGeom>
          <a:noFill/>
          <a:ln/>
        </p:spPr>
        <p:txBody>
          <a:bodyPr wrap="square" lIns="0" tIns="0" rIns="0" bIns="0" rtlCol="0" anchor="ctr"/>
          <a:lstStyle/>
          <a:p>
            <a:pPr indent="0" marL="0">
              <a:buNone/>
            </a:pPr>
            <a:r>
              <a:rPr lang="en-US" sz="1350" b="1" dirty="0">
                <a:solidFill>
                  <a:srgbClr val="F59E0B"/>
                </a:solidFill>
              </a:rPr>
              <a:t>Generar 4 pares de claves OTS</a:t>
            </a:r>
            <a:endParaRPr lang="en-US" sz="1350" dirty="0"/>
          </a:p>
        </p:txBody>
      </p:sp>
      <p:sp>
        <p:nvSpPr>
          <p:cNvPr id="10" name="Text 8"/>
          <p:cNvSpPr/>
          <p:nvPr/>
        </p:nvSpPr>
        <p:spPr>
          <a:xfrm>
            <a:off x="914400" y="2212848"/>
            <a:ext cx="3383280" cy="685800"/>
          </a:xfrm>
          <a:prstGeom prst="rect">
            <a:avLst/>
          </a:prstGeom>
          <a:noFill/>
          <a:ln/>
        </p:spPr>
        <p:txBody>
          <a:bodyPr wrap="square" lIns="0" tIns="0" rIns="0" bIns="0" rtlCol="0" anchor="ctr"/>
          <a:lstStyle/>
          <a:p>
            <a:pPr indent="0" marL="0">
              <a:buNone/>
            </a:pPr>
            <a:r>
              <a:rPr lang="en-US" sz="1150" dirty="0">
                <a:solidFill>
                  <a:srgbClr val="BFDBFE"/>
                </a:solidFill>
              </a:rPr>
              <a:t>Para cada hoja del árbol generamos un par (sk_i, pk_i) usando Winternitz.</a:t>
            </a:r>
            <a:endParaRPr lang="en-US" sz="1150" dirty="0"/>
          </a:p>
        </p:txBody>
      </p:sp>
      <p:sp>
        <p:nvSpPr>
          <p:cNvPr id="11" name="Shape 9"/>
          <p:cNvSpPr/>
          <p:nvPr/>
        </p:nvSpPr>
        <p:spPr>
          <a:xfrm>
            <a:off x="4754880" y="1737360"/>
            <a:ext cx="4023360" cy="1234440"/>
          </a:xfrm>
          <a:prstGeom prst="rect">
            <a:avLst/>
          </a:prstGeom>
          <a:solidFill>
            <a:srgbClr val="0F1E3D"/>
          </a:solidFill>
          <a:ln w="19050">
            <a:solidFill>
              <a:srgbClr val="10B981"/>
            </a:solidFill>
            <a:prstDash val="solid"/>
          </a:ln>
          <a:effectLst>
            <a:outerShdw sx="100000" sy="100000" kx="0" ky="0" algn="bl" rotWithShape="0" blurRad="101600" dist="38100" dir="8100000">
              <a:srgbClr val="000000">
                <a:alpha val="30000"/>
              </a:srgbClr>
            </a:outerShdw>
          </a:effectLst>
        </p:spPr>
      </p:sp>
      <p:sp>
        <p:nvSpPr>
          <p:cNvPr id="12" name="Shape 10"/>
          <p:cNvSpPr/>
          <p:nvPr/>
        </p:nvSpPr>
        <p:spPr>
          <a:xfrm>
            <a:off x="4754880" y="1737360"/>
            <a:ext cx="502920" cy="1234440"/>
          </a:xfrm>
          <a:prstGeom prst="rect">
            <a:avLst/>
          </a:prstGeom>
          <a:solidFill>
            <a:srgbClr val="10B981">
              <a:alpha val="80000"/>
            </a:srgbClr>
          </a:solidFill>
          <a:ln w="12700">
            <a:solidFill>
              <a:srgbClr val="333333"/>
            </a:solidFill>
            <a:prstDash val="solid"/>
          </a:ln>
        </p:spPr>
      </p:sp>
      <p:sp>
        <p:nvSpPr>
          <p:cNvPr id="13" name="Text 11"/>
          <p:cNvSpPr/>
          <p:nvPr/>
        </p:nvSpPr>
        <p:spPr>
          <a:xfrm>
            <a:off x="4754880" y="1737360"/>
            <a:ext cx="502920" cy="1234440"/>
          </a:xfrm>
          <a:prstGeom prst="rect">
            <a:avLst/>
          </a:prstGeom>
          <a:noFill/>
          <a:ln/>
        </p:spPr>
        <p:txBody>
          <a:bodyPr wrap="square" lIns="0" tIns="0" rIns="0" bIns="0" rtlCol="0" anchor="ctr"/>
          <a:lstStyle/>
          <a:p>
            <a:pPr algn="ctr" indent="0" marL="0">
              <a:buNone/>
            </a:pPr>
            <a:r>
              <a:rPr lang="en-US" sz="2800" b="1" dirty="0">
                <a:solidFill>
                  <a:srgbClr val="F8FAFC"/>
                </a:solidFill>
                <a:latin typeface="Arial Black" pitchFamily="34" charset="0"/>
                <a:ea typeface="Arial Black" pitchFamily="34" charset="-122"/>
                <a:cs typeface="Arial Black" pitchFamily="34" charset="-120"/>
              </a:rPr>
              <a:t>2</a:t>
            </a:r>
            <a:endParaRPr lang="en-US" sz="2800" dirty="0"/>
          </a:p>
        </p:txBody>
      </p:sp>
      <p:sp>
        <p:nvSpPr>
          <p:cNvPr id="14" name="Text 12"/>
          <p:cNvSpPr/>
          <p:nvPr/>
        </p:nvSpPr>
        <p:spPr>
          <a:xfrm>
            <a:off x="5303520" y="1847088"/>
            <a:ext cx="3383280" cy="384048"/>
          </a:xfrm>
          <a:prstGeom prst="rect">
            <a:avLst/>
          </a:prstGeom>
          <a:noFill/>
          <a:ln/>
        </p:spPr>
        <p:txBody>
          <a:bodyPr wrap="square" lIns="0" tIns="0" rIns="0" bIns="0" rtlCol="0" anchor="ctr"/>
          <a:lstStyle/>
          <a:p>
            <a:pPr indent="0" marL="0">
              <a:buNone/>
            </a:pPr>
            <a:r>
              <a:rPr lang="en-US" sz="1350" b="1" dirty="0">
                <a:solidFill>
                  <a:srgbClr val="10B981"/>
                </a:solidFill>
              </a:rPr>
              <a:t>Construir el árbol de Merkle</a:t>
            </a:r>
            <a:endParaRPr lang="en-US" sz="1350" dirty="0"/>
          </a:p>
        </p:txBody>
      </p:sp>
      <p:sp>
        <p:nvSpPr>
          <p:cNvPr id="15" name="Text 13"/>
          <p:cNvSpPr/>
          <p:nvPr/>
        </p:nvSpPr>
        <p:spPr>
          <a:xfrm>
            <a:off x="5303520" y="2212848"/>
            <a:ext cx="3383280" cy="685800"/>
          </a:xfrm>
          <a:prstGeom prst="rect">
            <a:avLst/>
          </a:prstGeom>
          <a:noFill/>
          <a:ln/>
        </p:spPr>
        <p:txBody>
          <a:bodyPr wrap="square" lIns="0" tIns="0" rIns="0" bIns="0" rtlCol="0" anchor="ctr"/>
          <a:lstStyle/>
          <a:p>
            <a:pPr indent="0" marL="0">
              <a:buNone/>
            </a:pPr>
            <a:r>
              <a:rPr lang="en-US" sz="1150" dirty="0">
                <a:solidFill>
                  <a:srgbClr val="BFDBFE"/>
                </a:solidFill>
              </a:rPr>
              <a:t>Hasheamos las pk_i para obtener las hojas, luego construimos el árbol de abajo hacia arriba.</a:t>
            </a:r>
            <a:endParaRPr lang="en-US" sz="1150" dirty="0"/>
          </a:p>
        </p:txBody>
      </p:sp>
      <p:sp>
        <p:nvSpPr>
          <p:cNvPr id="16" name="Shape 14"/>
          <p:cNvSpPr/>
          <p:nvPr/>
        </p:nvSpPr>
        <p:spPr>
          <a:xfrm>
            <a:off x="365760" y="3154680"/>
            <a:ext cx="4023360" cy="1234440"/>
          </a:xfrm>
          <a:prstGeom prst="rect">
            <a:avLst/>
          </a:prstGeom>
          <a:solidFill>
            <a:srgbClr val="0F1E3D"/>
          </a:solidFill>
          <a:ln w="19050">
            <a:solidFill>
              <a:srgbClr val="3B82F6"/>
            </a:solidFill>
            <a:prstDash val="solid"/>
          </a:ln>
          <a:effectLst>
            <a:outerShdw sx="100000" sy="100000" kx="0" ky="0" algn="bl" rotWithShape="0" blurRad="101600" dist="38100" dir="8100000">
              <a:srgbClr val="000000">
                <a:alpha val="30000"/>
              </a:srgbClr>
            </a:outerShdw>
          </a:effectLst>
        </p:spPr>
      </p:sp>
      <p:sp>
        <p:nvSpPr>
          <p:cNvPr id="17" name="Shape 15"/>
          <p:cNvSpPr/>
          <p:nvPr/>
        </p:nvSpPr>
        <p:spPr>
          <a:xfrm>
            <a:off x="365760" y="3154680"/>
            <a:ext cx="502920" cy="1234440"/>
          </a:xfrm>
          <a:prstGeom prst="rect">
            <a:avLst/>
          </a:prstGeom>
          <a:solidFill>
            <a:srgbClr val="3B82F6">
              <a:alpha val="80000"/>
            </a:srgbClr>
          </a:solidFill>
          <a:ln w="12700">
            <a:solidFill>
              <a:srgbClr val="333333"/>
            </a:solidFill>
            <a:prstDash val="solid"/>
          </a:ln>
        </p:spPr>
      </p:sp>
      <p:sp>
        <p:nvSpPr>
          <p:cNvPr id="18" name="Text 16"/>
          <p:cNvSpPr/>
          <p:nvPr/>
        </p:nvSpPr>
        <p:spPr>
          <a:xfrm>
            <a:off x="365760" y="3154680"/>
            <a:ext cx="502920" cy="1234440"/>
          </a:xfrm>
          <a:prstGeom prst="rect">
            <a:avLst/>
          </a:prstGeom>
          <a:noFill/>
          <a:ln/>
        </p:spPr>
        <p:txBody>
          <a:bodyPr wrap="square" lIns="0" tIns="0" rIns="0" bIns="0" rtlCol="0" anchor="ctr"/>
          <a:lstStyle/>
          <a:p>
            <a:pPr algn="ctr" indent="0" marL="0">
              <a:buNone/>
            </a:pPr>
            <a:r>
              <a:rPr lang="en-US" sz="2800" b="1" dirty="0">
                <a:solidFill>
                  <a:srgbClr val="F8FAFC"/>
                </a:solidFill>
                <a:latin typeface="Arial Black" pitchFamily="34" charset="0"/>
                <a:ea typeface="Arial Black" pitchFamily="34" charset="-122"/>
                <a:cs typeface="Arial Black" pitchFamily="34" charset="-120"/>
              </a:rPr>
              <a:t>3</a:t>
            </a:r>
            <a:endParaRPr lang="en-US" sz="2800" dirty="0"/>
          </a:p>
        </p:txBody>
      </p:sp>
      <p:sp>
        <p:nvSpPr>
          <p:cNvPr id="19" name="Text 17"/>
          <p:cNvSpPr/>
          <p:nvPr/>
        </p:nvSpPr>
        <p:spPr>
          <a:xfrm>
            <a:off x="914400" y="3264408"/>
            <a:ext cx="3383280" cy="384048"/>
          </a:xfrm>
          <a:prstGeom prst="rect">
            <a:avLst/>
          </a:prstGeom>
          <a:noFill/>
          <a:ln/>
        </p:spPr>
        <p:txBody>
          <a:bodyPr wrap="square" lIns="0" tIns="0" rIns="0" bIns="0" rtlCol="0" anchor="ctr"/>
          <a:lstStyle/>
          <a:p>
            <a:pPr indent="0" marL="0">
              <a:buNone/>
            </a:pPr>
            <a:r>
              <a:rPr lang="en-US" sz="1350" b="1" dirty="0">
                <a:solidFill>
                  <a:srgbClr val="3B82F6"/>
                </a:solidFill>
              </a:rPr>
              <a:t>Firmar el primer mensaje</a:t>
            </a:r>
            <a:endParaRPr lang="en-US" sz="1350" dirty="0"/>
          </a:p>
        </p:txBody>
      </p:sp>
      <p:sp>
        <p:nvSpPr>
          <p:cNvPr id="20" name="Text 18"/>
          <p:cNvSpPr/>
          <p:nvPr/>
        </p:nvSpPr>
        <p:spPr>
          <a:xfrm>
            <a:off x="914400" y="3630168"/>
            <a:ext cx="3383280" cy="685800"/>
          </a:xfrm>
          <a:prstGeom prst="rect">
            <a:avLst/>
          </a:prstGeom>
          <a:noFill/>
          <a:ln/>
        </p:spPr>
        <p:txBody>
          <a:bodyPr wrap="square" lIns="0" tIns="0" rIns="0" bIns="0" rtlCol="0" anchor="ctr"/>
          <a:lstStyle/>
          <a:p>
            <a:pPr indent="0" marL="0">
              <a:buNone/>
            </a:pPr>
            <a:r>
              <a:rPr lang="en-US" sz="1150" dirty="0">
                <a:solidFill>
                  <a:srgbClr val="BFDBFE"/>
                </a:solidFill>
              </a:rPr>
              <a:t>Usamos OTS₀ (índice 0), revelamos la clave privada parcial + el camino de autenticación.</a:t>
            </a:r>
            <a:endParaRPr lang="en-US" sz="1150" dirty="0"/>
          </a:p>
        </p:txBody>
      </p:sp>
      <p:sp>
        <p:nvSpPr>
          <p:cNvPr id="21" name="Shape 19"/>
          <p:cNvSpPr/>
          <p:nvPr/>
        </p:nvSpPr>
        <p:spPr>
          <a:xfrm>
            <a:off x="4754880" y="3154680"/>
            <a:ext cx="4023360" cy="1234440"/>
          </a:xfrm>
          <a:prstGeom prst="rect">
            <a:avLst/>
          </a:prstGeom>
          <a:solidFill>
            <a:srgbClr val="0F1E3D"/>
          </a:solidFill>
          <a:ln w="19050">
            <a:solidFill>
              <a:srgbClr val="A78BFA"/>
            </a:solidFill>
            <a:prstDash val="solid"/>
          </a:ln>
          <a:effectLst>
            <a:outerShdw sx="100000" sy="100000" kx="0" ky="0" algn="bl" rotWithShape="0" blurRad="101600" dist="38100" dir="8100000">
              <a:srgbClr val="000000">
                <a:alpha val="30000"/>
              </a:srgbClr>
            </a:outerShdw>
          </a:effectLst>
        </p:spPr>
      </p:sp>
      <p:sp>
        <p:nvSpPr>
          <p:cNvPr id="22" name="Shape 20"/>
          <p:cNvSpPr/>
          <p:nvPr/>
        </p:nvSpPr>
        <p:spPr>
          <a:xfrm>
            <a:off x="4754880" y="3154680"/>
            <a:ext cx="502920" cy="1234440"/>
          </a:xfrm>
          <a:prstGeom prst="rect">
            <a:avLst/>
          </a:prstGeom>
          <a:solidFill>
            <a:srgbClr val="A78BFA">
              <a:alpha val="80000"/>
            </a:srgbClr>
          </a:solidFill>
          <a:ln w="12700">
            <a:solidFill>
              <a:srgbClr val="333333"/>
            </a:solidFill>
            <a:prstDash val="solid"/>
          </a:ln>
        </p:spPr>
      </p:sp>
      <p:sp>
        <p:nvSpPr>
          <p:cNvPr id="23" name="Text 21"/>
          <p:cNvSpPr/>
          <p:nvPr/>
        </p:nvSpPr>
        <p:spPr>
          <a:xfrm>
            <a:off x="4754880" y="3154680"/>
            <a:ext cx="502920" cy="1234440"/>
          </a:xfrm>
          <a:prstGeom prst="rect">
            <a:avLst/>
          </a:prstGeom>
          <a:noFill/>
          <a:ln/>
        </p:spPr>
        <p:txBody>
          <a:bodyPr wrap="square" lIns="0" tIns="0" rIns="0" bIns="0" rtlCol="0" anchor="ctr"/>
          <a:lstStyle/>
          <a:p>
            <a:pPr algn="ctr" indent="0" marL="0">
              <a:buNone/>
            </a:pPr>
            <a:r>
              <a:rPr lang="en-US" sz="2800" b="1" dirty="0">
                <a:solidFill>
                  <a:srgbClr val="F8FAFC"/>
                </a:solidFill>
                <a:latin typeface="Arial Black" pitchFamily="34" charset="0"/>
                <a:ea typeface="Arial Black" pitchFamily="34" charset="-122"/>
                <a:cs typeface="Arial Black" pitchFamily="34" charset="-120"/>
              </a:rPr>
              <a:t>4</a:t>
            </a:r>
            <a:endParaRPr lang="en-US" sz="2800" dirty="0"/>
          </a:p>
        </p:txBody>
      </p:sp>
      <p:sp>
        <p:nvSpPr>
          <p:cNvPr id="24" name="Text 22"/>
          <p:cNvSpPr/>
          <p:nvPr/>
        </p:nvSpPr>
        <p:spPr>
          <a:xfrm>
            <a:off x="5303520" y="3264408"/>
            <a:ext cx="3383280" cy="384048"/>
          </a:xfrm>
          <a:prstGeom prst="rect">
            <a:avLst/>
          </a:prstGeom>
          <a:noFill/>
          <a:ln/>
        </p:spPr>
        <p:txBody>
          <a:bodyPr wrap="square" lIns="0" tIns="0" rIns="0" bIns="0" rtlCol="0" anchor="ctr"/>
          <a:lstStyle/>
          <a:p>
            <a:pPr indent="0" marL="0">
              <a:buNone/>
            </a:pPr>
            <a:r>
              <a:rPr lang="en-US" sz="1350" b="1" dirty="0">
                <a:solidFill>
                  <a:srgbClr val="A78BFA"/>
                </a:solidFill>
              </a:rPr>
              <a:t>Verificar la firma</a:t>
            </a:r>
            <a:endParaRPr lang="en-US" sz="1350" dirty="0"/>
          </a:p>
        </p:txBody>
      </p:sp>
      <p:sp>
        <p:nvSpPr>
          <p:cNvPr id="25" name="Text 23"/>
          <p:cNvSpPr/>
          <p:nvPr/>
        </p:nvSpPr>
        <p:spPr>
          <a:xfrm>
            <a:off x="5303520" y="3630168"/>
            <a:ext cx="3383280" cy="685800"/>
          </a:xfrm>
          <a:prstGeom prst="rect">
            <a:avLst/>
          </a:prstGeom>
          <a:noFill/>
          <a:ln/>
        </p:spPr>
        <p:txBody>
          <a:bodyPr wrap="square" lIns="0" tIns="0" rIns="0" bIns="0" rtlCol="0" anchor="ctr"/>
          <a:lstStyle/>
          <a:p>
            <a:pPr indent="0" marL="0">
              <a:buNone/>
            </a:pPr>
            <a:r>
              <a:rPr lang="en-US" sz="1150" dirty="0">
                <a:solidFill>
                  <a:srgbClr val="BFDBFE"/>
                </a:solidFill>
              </a:rPr>
              <a:t>El verificador recalcula el árbol desde la hoja firmada y comprueba que llega a la misma Raíz.</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E3D"/>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F59E0B"/>
          </a:solidFill>
          <a:ln w="12700">
            <a:solidFill>
              <a:srgbClr val="333333"/>
            </a:solidFill>
            <a:prstDash val="solid"/>
          </a:ln>
        </p:spPr>
      </p:sp>
      <p:sp>
        <p:nvSpPr>
          <p:cNvPr id="3" name="Shape 1"/>
          <p:cNvSpPr/>
          <p:nvPr/>
        </p:nvSpPr>
        <p:spPr>
          <a:xfrm>
            <a:off x="274320" y="137160"/>
            <a:ext cx="411480" cy="411480"/>
          </a:xfrm>
          <a:prstGeom prst="rect">
            <a:avLst/>
          </a:prstGeom>
          <a:solidFill>
            <a:srgbClr val="F59E0B"/>
          </a:solidFill>
          <a:ln w="12700">
            <a:solidFill>
              <a:srgbClr val="333333"/>
            </a:solidFill>
            <a:prstDash val="solid"/>
          </a:ln>
        </p:spPr>
      </p:sp>
      <p:sp>
        <p:nvSpPr>
          <p:cNvPr id="4" name="Text 2"/>
          <p:cNvSpPr/>
          <p:nvPr/>
        </p:nvSpPr>
        <p:spPr>
          <a:xfrm>
            <a:off x="274320" y="137160"/>
            <a:ext cx="411480" cy="411480"/>
          </a:xfrm>
          <a:prstGeom prst="rect">
            <a:avLst/>
          </a:prstGeom>
          <a:noFill/>
          <a:ln/>
        </p:spPr>
        <p:txBody>
          <a:bodyPr wrap="square" lIns="0" tIns="0" rIns="0" bIns="0" rtlCol="0" anchor="ctr"/>
          <a:lstStyle/>
          <a:p>
            <a:pPr algn="ctr" indent="0" marL="0">
              <a:buNone/>
            </a:pPr>
            <a:r>
              <a:rPr lang="en-US" sz="2000" b="1" dirty="0">
                <a:solidFill>
                  <a:srgbClr val="080E1A"/>
                </a:solidFill>
              </a:rPr>
              <a:t>1</a:t>
            </a:r>
            <a:endParaRPr lang="en-US" sz="2000" dirty="0"/>
          </a:p>
        </p:txBody>
      </p:sp>
      <p:sp>
        <p:nvSpPr>
          <p:cNvPr id="5" name="Text 3"/>
          <p:cNvSpPr/>
          <p:nvPr/>
        </p:nvSpPr>
        <p:spPr>
          <a:xfrm>
            <a:off x="777240" y="182880"/>
            <a:ext cx="8138160" cy="411480"/>
          </a:xfrm>
          <a:prstGeom prst="rect">
            <a:avLst/>
          </a:prstGeom>
          <a:noFill/>
          <a:ln/>
        </p:spPr>
        <p:txBody>
          <a:bodyPr wrap="square" lIns="0" tIns="0" rIns="0" bIns="0" rtlCol="0" anchor="ctr"/>
          <a:lstStyle/>
          <a:p>
            <a:pPr indent="0" marL="0">
              <a:buNone/>
            </a:pPr>
            <a:r>
              <a:rPr lang="en-US" sz="2200" b="1" dirty="0">
                <a:solidFill>
                  <a:srgbClr val="F8FAFC"/>
                </a:solidFill>
                <a:latin typeface="Arial" pitchFamily="34" charset="0"/>
                <a:ea typeface="Arial" pitchFamily="34" charset="-122"/>
                <a:cs typeface="Arial" pitchFamily="34" charset="-120"/>
              </a:rPr>
              <a:t>Generar los 4 pares de claves OTS (Winternitz)</a:t>
            </a:r>
            <a:endParaRPr lang="en-US" sz="2200" dirty="0"/>
          </a:p>
        </p:txBody>
      </p:sp>
      <p:sp>
        <p:nvSpPr>
          <p:cNvPr id="6" name="Shape 4"/>
          <p:cNvSpPr/>
          <p:nvPr/>
        </p:nvSpPr>
        <p:spPr>
          <a:xfrm>
            <a:off x="274320" y="658368"/>
            <a:ext cx="8412480" cy="0"/>
          </a:xfrm>
          <a:prstGeom prst="line">
            <a:avLst/>
          </a:prstGeom>
          <a:noFill/>
          <a:ln w="12700">
            <a:solidFill>
              <a:srgbClr val="1E3A5F"/>
            </a:solidFill>
            <a:prstDash val="solid"/>
          </a:ln>
        </p:spPr>
      </p:sp>
      <p:sp>
        <p:nvSpPr>
          <p:cNvPr id="7" name="Text 5"/>
          <p:cNvSpPr/>
          <p:nvPr/>
        </p:nvSpPr>
        <p:spPr>
          <a:xfrm>
            <a:off x="274320" y="731520"/>
            <a:ext cx="8412480" cy="320040"/>
          </a:xfrm>
          <a:prstGeom prst="rect">
            <a:avLst/>
          </a:prstGeom>
          <a:noFill/>
          <a:ln/>
        </p:spPr>
        <p:txBody>
          <a:bodyPr wrap="square" lIns="0" tIns="0" rIns="0" bIns="0" rtlCol="0" anchor="ctr"/>
          <a:lstStyle/>
          <a:p>
            <a:pPr indent="0" marL="0">
              <a:buNone/>
            </a:pPr>
            <a:r>
              <a:rPr lang="en-US" sz="1250" dirty="0">
                <a:solidFill>
                  <a:srgbClr val="BFDBFE"/>
                </a:solidFill>
              </a:rPr>
              <a:t>Para cada una de las 4 hojas del árbol generamos un par de claves OTS independiente:</a:t>
            </a:r>
            <a:endParaRPr lang="en-US" sz="1250" dirty="0"/>
          </a:p>
        </p:txBody>
      </p:sp>
      <p:sp>
        <p:nvSpPr>
          <p:cNvPr id="8" name="Shape 6"/>
          <p:cNvSpPr/>
          <p:nvPr/>
        </p:nvSpPr>
        <p:spPr>
          <a:xfrm>
            <a:off x="274320" y="1143000"/>
            <a:ext cx="8412480" cy="749808"/>
          </a:xfrm>
          <a:prstGeom prst="rect">
            <a:avLst/>
          </a:prstGeom>
          <a:solidFill>
            <a:srgbClr val="080E1A"/>
          </a:solidFill>
          <a:ln w="12700">
            <a:solidFill>
              <a:srgbClr val="1E3A5F"/>
            </a:solidFill>
            <a:prstDash val="solid"/>
          </a:ln>
        </p:spPr>
      </p:sp>
      <p:sp>
        <p:nvSpPr>
          <p:cNvPr id="9" name="Shape 7"/>
          <p:cNvSpPr/>
          <p:nvPr/>
        </p:nvSpPr>
        <p:spPr>
          <a:xfrm>
            <a:off x="274320" y="1143000"/>
            <a:ext cx="594360" cy="749808"/>
          </a:xfrm>
          <a:prstGeom prst="rect">
            <a:avLst/>
          </a:prstGeom>
          <a:solidFill>
            <a:srgbClr val="F59E0B">
              <a:alpha val="70000"/>
            </a:srgbClr>
          </a:solidFill>
          <a:ln w="12700">
            <a:solidFill>
              <a:srgbClr val="333333"/>
            </a:solidFill>
            <a:prstDash val="solid"/>
          </a:ln>
        </p:spPr>
      </p:sp>
      <p:sp>
        <p:nvSpPr>
          <p:cNvPr id="10" name="Text 8"/>
          <p:cNvSpPr/>
          <p:nvPr/>
        </p:nvSpPr>
        <p:spPr>
          <a:xfrm>
            <a:off x="274320" y="1143000"/>
            <a:ext cx="594360" cy="749808"/>
          </a:xfrm>
          <a:prstGeom prst="rect">
            <a:avLst/>
          </a:prstGeom>
          <a:noFill/>
          <a:ln/>
        </p:spPr>
        <p:txBody>
          <a:bodyPr wrap="square" lIns="0" tIns="0" rIns="0" bIns="0" rtlCol="0" anchor="ctr"/>
          <a:lstStyle/>
          <a:p>
            <a:pPr algn="ctr" indent="0" marL="0">
              <a:buNone/>
            </a:pPr>
            <a:r>
              <a:rPr lang="en-US" sz="1300" b="1" dirty="0">
                <a:solidFill>
                  <a:srgbClr val="F8FAFC"/>
                </a:solidFill>
              </a:rPr>
              <a:t>OTS0</a:t>
            </a:r>
            <a:endParaRPr lang="en-US" sz="1300" dirty="0"/>
          </a:p>
        </p:txBody>
      </p:sp>
      <p:sp>
        <p:nvSpPr>
          <p:cNvPr id="11" name="Shape 9"/>
          <p:cNvSpPr/>
          <p:nvPr/>
        </p:nvSpPr>
        <p:spPr>
          <a:xfrm>
            <a:off x="914400" y="1197864"/>
            <a:ext cx="3566160" cy="274320"/>
          </a:xfrm>
          <a:prstGeom prst="rect">
            <a:avLst/>
          </a:prstGeom>
          <a:solidFill>
            <a:srgbClr val="1A0F00"/>
          </a:solidFill>
          <a:ln w="12700">
            <a:solidFill>
              <a:srgbClr val="F59E0B"/>
            </a:solidFill>
            <a:prstDash val="solid"/>
          </a:ln>
        </p:spPr>
      </p:sp>
      <p:sp>
        <p:nvSpPr>
          <p:cNvPr id="12" name="Text 10"/>
          <p:cNvSpPr/>
          <p:nvPr/>
        </p:nvSpPr>
        <p:spPr>
          <a:xfrm>
            <a:off x="914400" y="1197864"/>
            <a:ext cx="3566160" cy="274320"/>
          </a:xfrm>
          <a:prstGeom prst="rect">
            <a:avLst/>
          </a:prstGeom>
          <a:noFill/>
          <a:ln/>
        </p:spPr>
        <p:txBody>
          <a:bodyPr wrap="square" lIns="50800" tIns="50800" rIns="50800" bIns="50800" rtlCol="0" anchor="ctr"/>
          <a:lstStyle/>
          <a:p>
            <a:pPr indent="0" marL="0">
              <a:buNone/>
            </a:pPr>
            <a:r>
              <a:rPr lang="en-US" sz="950" dirty="0">
                <a:solidFill>
                  <a:srgbClr val="FDE68A"/>
                </a:solidFill>
              </a:rPr>
              <a:t>🔐  sk₀ = [a1f3..., b9c2..., e4d7..., ...]</a:t>
            </a:r>
            <a:endParaRPr lang="en-US" sz="950" dirty="0"/>
          </a:p>
        </p:txBody>
      </p:sp>
      <p:sp>
        <p:nvSpPr>
          <p:cNvPr id="13" name="Shape 11"/>
          <p:cNvSpPr/>
          <p:nvPr/>
        </p:nvSpPr>
        <p:spPr>
          <a:xfrm>
            <a:off x="4663440" y="1197864"/>
            <a:ext cx="3931920" cy="274320"/>
          </a:xfrm>
          <a:prstGeom prst="rect">
            <a:avLst/>
          </a:prstGeom>
          <a:solidFill>
            <a:srgbClr val="0A1A0A"/>
          </a:solidFill>
          <a:ln w="12700">
            <a:solidFill>
              <a:srgbClr val="10B981"/>
            </a:solidFill>
            <a:prstDash val="solid"/>
          </a:ln>
        </p:spPr>
      </p:sp>
      <p:sp>
        <p:nvSpPr>
          <p:cNvPr id="14" name="Text 12"/>
          <p:cNvSpPr/>
          <p:nvPr/>
        </p:nvSpPr>
        <p:spPr>
          <a:xfrm>
            <a:off x="4663440" y="1197864"/>
            <a:ext cx="3931920" cy="274320"/>
          </a:xfrm>
          <a:prstGeom prst="rect">
            <a:avLst/>
          </a:prstGeom>
          <a:noFill/>
          <a:ln/>
        </p:spPr>
        <p:txBody>
          <a:bodyPr wrap="square" lIns="50800" tIns="50800" rIns="50800" bIns="50800" rtlCol="0" anchor="ctr"/>
          <a:lstStyle/>
          <a:p>
            <a:pPr indent="0" marL="0">
              <a:buNone/>
            </a:pPr>
            <a:r>
              <a:rPr lang="en-US" sz="950" dirty="0">
                <a:solidFill>
                  <a:srgbClr val="86EFAC"/>
                </a:solidFill>
              </a:rPr>
              <a:t>🌐  pk₀ = [Hash(a1f3...), Hash(b9c2...), ...]</a:t>
            </a:r>
            <a:endParaRPr lang="en-US" sz="950" dirty="0"/>
          </a:p>
        </p:txBody>
      </p:sp>
      <p:sp>
        <p:nvSpPr>
          <p:cNvPr id="15" name="Text 13"/>
          <p:cNvSpPr/>
          <p:nvPr/>
        </p:nvSpPr>
        <p:spPr>
          <a:xfrm>
            <a:off x="914400" y="1545336"/>
            <a:ext cx="3566160" cy="256032"/>
          </a:xfrm>
          <a:prstGeom prst="rect">
            <a:avLst/>
          </a:prstGeom>
          <a:noFill/>
          <a:ln/>
        </p:spPr>
        <p:txBody>
          <a:bodyPr wrap="square" lIns="50800" tIns="50800" rIns="50800" bIns="50800" rtlCol="0" anchor="ctr"/>
          <a:lstStyle/>
          <a:p>
            <a:pPr indent="0" marL="0">
              <a:buNone/>
            </a:pPr>
            <a:r>
              <a:rPr lang="en-US" sz="900" dirty="0">
                <a:solidFill>
                  <a:srgbClr val="64748B"/>
                </a:solidFill>
              </a:rPr>
              <a:t>sk → PRIVADA, nunca se publica</a:t>
            </a:r>
            <a:endParaRPr lang="en-US" sz="900" dirty="0"/>
          </a:p>
        </p:txBody>
      </p:sp>
      <p:sp>
        <p:nvSpPr>
          <p:cNvPr id="16" name="Text 14"/>
          <p:cNvSpPr/>
          <p:nvPr/>
        </p:nvSpPr>
        <p:spPr>
          <a:xfrm>
            <a:off x="4663440" y="1545336"/>
            <a:ext cx="3931920" cy="256032"/>
          </a:xfrm>
          <a:prstGeom prst="rect">
            <a:avLst/>
          </a:prstGeom>
          <a:noFill/>
          <a:ln/>
        </p:spPr>
        <p:txBody>
          <a:bodyPr wrap="square" lIns="50800" tIns="50800" rIns="50800" bIns="50800" rtlCol="0" anchor="ctr"/>
          <a:lstStyle/>
          <a:p>
            <a:pPr indent="0" marL="0">
              <a:buNone/>
            </a:pPr>
            <a:r>
              <a:rPr lang="en-US" sz="900" dirty="0">
                <a:solidFill>
                  <a:srgbClr val="64748B"/>
                </a:solidFill>
              </a:rPr>
              <a:t>pk → PÚBLICA, se pone en las hojas del árbol</a:t>
            </a:r>
            <a:endParaRPr lang="en-US" sz="900" dirty="0"/>
          </a:p>
        </p:txBody>
      </p:sp>
      <p:sp>
        <p:nvSpPr>
          <p:cNvPr id="17" name="Shape 15"/>
          <p:cNvSpPr/>
          <p:nvPr/>
        </p:nvSpPr>
        <p:spPr>
          <a:xfrm>
            <a:off x="274320" y="2011680"/>
            <a:ext cx="8412480" cy="749808"/>
          </a:xfrm>
          <a:prstGeom prst="rect">
            <a:avLst/>
          </a:prstGeom>
          <a:solidFill>
            <a:srgbClr val="080E1A"/>
          </a:solidFill>
          <a:ln w="12700">
            <a:solidFill>
              <a:srgbClr val="1E3A5F"/>
            </a:solidFill>
            <a:prstDash val="solid"/>
          </a:ln>
        </p:spPr>
      </p:sp>
      <p:sp>
        <p:nvSpPr>
          <p:cNvPr id="18" name="Shape 16"/>
          <p:cNvSpPr/>
          <p:nvPr/>
        </p:nvSpPr>
        <p:spPr>
          <a:xfrm>
            <a:off x="274320" y="2011680"/>
            <a:ext cx="594360" cy="749808"/>
          </a:xfrm>
          <a:prstGeom prst="rect">
            <a:avLst/>
          </a:prstGeom>
          <a:solidFill>
            <a:srgbClr val="F59E0B">
              <a:alpha val="70000"/>
            </a:srgbClr>
          </a:solidFill>
          <a:ln w="12700">
            <a:solidFill>
              <a:srgbClr val="333333"/>
            </a:solidFill>
            <a:prstDash val="solid"/>
          </a:ln>
        </p:spPr>
      </p:sp>
      <p:sp>
        <p:nvSpPr>
          <p:cNvPr id="19" name="Text 17"/>
          <p:cNvSpPr/>
          <p:nvPr/>
        </p:nvSpPr>
        <p:spPr>
          <a:xfrm>
            <a:off x="274320" y="2011680"/>
            <a:ext cx="594360" cy="749808"/>
          </a:xfrm>
          <a:prstGeom prst="rect">
            <a:avLst/>
          </a:prstGeom>
          <a:noFill/>
          <a:ln/>
        </p:spPr>
        <p:txBody>
          <a:bodyPr wrap="square" lIns="0" tIns="0" rIns="0" bIns="0" rtlCol="0" anchor="ctr"/>
          <a:lstStyle/>
          <a:p>
            <a:pPr algn="ctr" indent="0" marL="0">
              <a:buNone/>
            </a:pPr>
            <a:r>
              <a:rPr lang="en-US" sz="1300" b="1" dirty="0">
                <a:solidFill>
                  <a:srgbClr val="F8FAFC"/>
                </a:solidFill>
              </a:rPr>
              <a:t>OTS1</a:t>
            </a:r>
            <a:endParaRPr lang="en-US" sz="1300" dirty="0"/>
          </a:p>
        </p:txBody>
      </p:sp>
      <p:sp>
        <p:nvSpPr>
          <p:cNvPr id="20" name="Shape 18"/>
          <p:cNvSpPr/>
          <p:nvPr/>
        </p:nvSpPr>
        <p:spPr>
          <a:xfrm>
            <a:off x="914400" y="2066544"/>
            <a:ext cx="3566160" cy="274320"/>
          </a:xfrm>
          <a:prstGeom prst="rect">
            <a:avLst/>
          </a:prstGeom>
          <a:solidFill>
            <a:srgbClr val="1A0F00"/>
          </a:solidFill>
          <a:ln w="12700">
            <a:solidFill>
              <a:srgbClr val="F59E0B"/>
            </a:solidFill>
            <a:prstDash val="solid"/>
          </a:ln>
        </p:spPr>
      </p:sp>
      <p:sp>
        <p:nvSpPr>
          <p:cNvPr id="21" name="Text 19"/>
          <p:cNvSpPr/>
          <p:nvPr/>
        </p:nvSpPr>
        <p:spPr>
          <a:xfrm>
            <a:off x="914400" y="2066544"/>
            <a:ext cx="3566160" cy="274320"/>
          </a:xfrm>
          <a:prstGeom prst="rect">
            <a:avLst/>
          </a:prstGeom>
          <a:noFill/>
          <a:ln/>
        </p:spPr>
        <p:txBody>
          <a:bodyPr wrap="square" lIns="50800" tIns="50800" rIns="50800" bIns="50800" rtlCol="0" anchor="ctr"/>
          <a:lstStyle/>
          <a:p>
            <a:pPr indent="0" marL="0">
              <a:buNone/>
            </a:pPr>
            <a:r>
              <a:rPr lang="en-US" sz="950" dirty="0">
                <a:solidFill>
                  <a:srgbClr val="FDE68A"/>
                </a:solidFill>
              </a:rPr>
              <a:t>🔐  sk₁ = [7f2a..., 3d8e..., c1b4..., ...]</a:t>
            </a:r>
            <a:endParaRPr lang="en-US" sz="950" dirty="0"/>
          </a:p>
        </p:txBody>
      </p:sp>
      <p:sp>
        <p:nvSpPr>
          <p:cNvPr id="22" name="Shape 20"/>
          <p:cNvSpPr/>
          <p:nvPr/>
        </p:nvSpPr>
        <p:spPr>
          <a:xfrm>
            <a:off x="4663440" y="2066544"/>
            <a:ext cx="3931920" cy="274320"/>
          </a:xfrm>
          <a:prstGeom prst="rect">
            <a:avLst/>
          </a:prstGeom>
          <a:solidFill>
            <a:srgbClr val="0A1A0A"/>
          </a:solidFill>
          <a:ln w="12700">
            <a:solidFill>
              <a:srgbClr val="10B981"/>
            </a:solidFill>
            <a:prstDash val="solid"/>
          </a:ln>
        </p:spPr>
      </p:sp>
      <p:sp>
        <p:nvSpPr>
          <p:cNvPr id="23" name="Text 21"/>
          <p:cNvSpPr/>
          <p:nvPr/>
        </p:nvSpPr>
        <p:spPr>
          <a:xfrm>
            <a:off x="4663440" y="2066544"/>
            <a:ext cx="3931920" cy="274320"/>
          </a:xfrm>
          <a:prstGeom prst="rect">
            <a:avLst/>
          </a:prstGeom>
          <a:noFill/>
          <a:ln/>
        </p:spPr>
        <p:txBody>
          <a:bodyPr wrap="square" lIns="50800" tIns="50800" rIns="50800" bIns="50800" rtlCol="0" anchor="ctr"/>
          <a:lstStyle/>
          <a:p>
            <a:pPr indent="0" marL="0">
              <a:buNone/>
            </a:pPr>
            <a:r>
              <a:rPr lang="en-US" sz="950" dirty="0">
                <a:solidFill>
                  <a:srgbClr val="86EFAC"/>
                </a:solidFill>
              </a:rPr>
              <a:t>🌐  pk₁ = [Hash(7f2a...), Hash(3d8e...), ...]</a:t>
            </a:r>
            <a:endParaRPr lang="en-US" sz="950" dirty="0"/>
          </a:p>
        </p:txBody>
      </p:sp>
      <p:sp>
        <p:nvSpPr>
          <p:cNvPr id="24" name="Text 22"/>
          <p:cNvSpPr/>
          <p:nvPr/>
        </p:nvSpPr>
        <p:spPr>
          <a:xfrm>
            <a:off x="914400" y="2414016"/>
            <a:ext cx="3566160" cy="256032"/>
          </a:xfrm>
          <a:prstGeom prst="rect">
            <a:avLst/>
          </a:prstGeom>
          <a:noFill/>
          <a:ln/>
        </p:spPr>
        <p:txBody>
          <a:bodyPr wrap="square" lIns="50800" tIns="50800" rIns="50800" bIns="50800" rtlCol="0" anchor="ctr"/>
          <a:lstStyle/>
          <a:p>
            <a:pPr indent="0" marL="0">
              <a:buNone/>
            </a:pPr>
            <a:r>
              <a:rPr lang="en-US" sz="900" dirty="0">
                <a:solidFill>
                  <a:srgbClr val="64748B"/>
                </a:solidFill>
              </a:rPr>
              <a:t>sk → PRIVADA, nunca se publica</a:t>
            </a:r>
            <a:endParaRPr lang="en-US" sz="900" dirty="0"/>
          </a:p>
        </p:txBody>
      </p:sp>
      <p:sp>
        <p:nvSpPr>
          <p:cNvPr id="25" name="Text 23"/>
          <p:cNvSpPr/>
          <p:nvPr/>
        </p:nvSpPr>
        <p:spPr>
          <a:xfrm>
            <a:off x="4663440" y="2414016"/>
            <a:ext cx="3931920" cy="256032"/>
          </a:xfrm>
          <a:prstGeom prst="rect">
            <a:avLst/>
          </a:prstGeom>
          <a:noFill/>
          <a:ln/>
        </p:spPr>
        <p:txBody>
          <a:bodyPr wrap="square" lIns="50800" tIns="50800" rIns="50800" bIns="50800" rtlCol="0" anchor="ctr"/>
          <a:lstStyle/>
          <a:p>
            <a:pPr indent="0" marL="0">
              <a:buNone/>
            </a:pPr>
            <a:r>
              <a:rPr lang="en-US" sz="900" dirty="0">
                <a:solidFill>
                  <a:srgbClr val="64748B"/>
                </a:solidFill>
              </a:rPr>
              <a:t>pk → PÚBLICA, se pone en las hojas del árbol</a:t>
            </a:r>
            <a:endParaRPr lang="en-US" sz="900" dirty="0"/>
          </a:p>
        </p:txBody>
      </p:sp>
      <p:sp>
        <p:nvSpPr>
          <p:cNvPr id="26" name="Shape 24"/>
          <p:cNvSpPr/>
          <p:nvPr/>
        </p:nvSpPr>
        <p:spPr>
          <a:xfrm>
            <a:off x="274320" y="2880360"/>
            <a:ext cx="8412480" cy="749808"/>
          </a:xfrm>
          <a:prstGeom prst="rect">
            <a:avLst/>
          </a:prstGeom>
          <a:solidFill>
            <a:srgbClr val="080E1A"/>
          </a:solidFill>
          <a:ln w="12700">
            <a:solidFill>
              <a:srgbClr val="1E3A5F"/>
            </a:solidFill>
            <a:prstDash val="solid"/>
          </a:ln>
        </p:spPr>
      </p:sp>
      <p:sp>
        <p:nvSpPr>
          <p:cNvPr id="27" name="Shape 25"/>
          <p:cNvSpPr/>
          <p:nvPr/>
        </p:nvSpPr>
        <p:spPr>
          <a:xfrm>
            <a:off x="274320" y="2880360"/>
            <a:ext cx="594360" cy="749808"/>
          </a:xfrm>
          <a:prstGeom prst="rect">
            <a:avLst/>
          </a:prstGeom>
          <a:solidFill>
            <a:srgbClr val="F59E0B">
              <a:alpha val="70000"/>
            </a:srgbClr>
          </a:solidFill>
          <a:ln w="12700">
            <a:solidFill>
              <a:srgbClr val="333333"/>
            </a:solidFill>
            <a:prstDash val="solid"/>
          </a:ln>
        </p:spPr>
      </p:sp>
      <p:sp>
        <p:nvSpPr>
          <p:cNvPr id="28" name="Text 26"/>
          <p:cNvSpPr/>
          <p:nvPr/>
        </p:nvSpPr>
        <p:spPr>
          <a:xfrm>
            <a:off x="274320" y="2880360"/>
            <a:ext cx="594360" cy="749808"/>
          </a:xfrm>
          <a:prstGeom prst="rect">
            <a:avLst/>
          </a:prstGeom>
          <a:noFill/>
          <a:ln/>
        </p:spPr>
        <p:txBody>
          <a:bodyPr wrap="square" lIns="0" tIns="0" rIns="0" bIns="0" rtlCol="0" anchor="ctr"/>
          <a:lstStyle/>
          <a:p>
            <a:pPr algn="ctr" indent="0" marL="0">
              <a:buNone/>
            </a:pPr>
            <a:r>
              <a:rPr lang="en-US" sz="1300" b="1" dirty="0">
                <a:solidFill>
                  <a:srgbClr val="F8FAFC"/>
                </a:solidFill>
              </a:rPr>
              <a:t>OTS2</a:t>
            </a:r>
            <a:endParaRPr lang="en-US" sz="1300" dirty="0"/>
          </a:p>
        </p:txBody>
      </p:sp>
      <p:sp>
        <p:nvSpPr>
          <p:cNvPr id="29" name="Shape 27"/>
          <p:cNvSpPr/>
          <p:nvPr/>
        </p:nvSpPr>
        <p:spPr>
          <a:xfrm>
            <a:off x="914400" y="2935224"/>
            <a:ext cx="3566160" cy="274320"/>
          </a:xfrm>
          <a:prstGeom prst="rect">
            <a:avLst/>
          </a:prstGeom>
          <a:solidFill>
            <a:srgbClr val="1A0F00"/>
          </a:solidFill>
          <a:ln w="12700">
            <a:solidFill>
              <a:srgbClr val="F59E0B"/>
            </a:solidFill>
            <a:prstDash val="solid"/>
          </a:ln>
        </p:spPr>
      </p:sp>
      <p:sp>
        <p:nvSpPr>
          <p:cNvPr id="30" name="Text 28"/>
          <p:cNvSpPr/>
          <p:nvPr/>
        </p:nvSpPr>
        <p:spPr>
          <a:xfrm>
            <a:off x="914400" y="2935224"/>
            <a:ext cx="3566160" cy="274320"/>
          </a:xfrm>
          <a:prstGeom prst="rect">
            <a:avLst/>
          </a:prstGeom>
          <a:noFill/>
          <a:ln/>
        </p:spPr>
        <p:txBody>
          <a:bodyPr wrap="square" lIns="50800" tIns="50800" rIns="50800" bIns="50800" rtlCol="0" anchor="ctr"/>
          <a:lstStyle/>
          <a:p>
            <a:pPr indent="0" marL="0">
              <a:buNone/>
            </a:pPr>
            <a:r>
              <a:rPr lang="en-US" sz="950" dirty="0">
                <a:solidFill>
                  <a:srgbClr val="FDE68A"/>
                </a:solidFill>
              </a:rPr>
              <a:t>🔐  sk₂ = [9e1c..., 4a7d..., 2f8b..., ...]</a:t>
            </a:r>
            <a:endParaRPr lang="en-US" sz="950" dirty="0"/>
          </a:p>
        </p:txBody>
      </p:sp>
      <p:sp>
        <p:nvSpPr>
          <p:cNvPr id="31" name="Shape 29"/>
          <p:cNvSpPr/>
          <p:nvPr/>
        </p:nvSpPr>
        <p:spPr>
          <a:xfrm>
            <a:off x="4663440" y="2935224"/>
            <a:ext cx="3931920" cy="274320"/>
          </a:xfrm>
          <a:prstGeom prst="rect">
            <a:avLst/>
          </a:prstGeom>
          <a:solidFill>
            <a:srgbClr val="0A1A0A"/>
          </a:solidFill>
          <a:ln w="12700">
            <a:solidFill>
              <a:srgbClr val="10B981"/>
            </a:solidFill>
            <a:prstDash val="solid"/>
          </a:ln>
        </p:spPr>
      </p:sp>
      <p:sp>
        <p:nvSpPr>
          <p:cNvPr id="32" name="Text 30"/>
          <p:cNvSpPr/>
          <p:nvPr/>
        </p:nvSpPr>
        <p:spPr>
          <a:xfrm>
            <a:off x="4663440" y="2935224"/>
            <a:ext cx="3931920" cy="274320"/>
          </a:xfrm>
          <a:prstGeom prst="rect">
            <a:avLst/>
          </a:prstGeom>
          <a:noFill/>
          <a:ln/>
        </p:spPr>
        <p:txBody>
          <a:bodyPr wrap="square" lIns="50800" tIns="50800" rIns="50800" bIns="50800" rtlCol="0" anchor="ctr"/>
          <a:lstStyle/>
          <a:p>
            <a:pPr indent="0" marL="0">
              <a:buNone/>
            </a:pPr>
            <a:r>
              <a:rPr lang="en-US" sz="950" dirty="0">
                <a:solidFill>
                  <a:srgbClr val="86EFAC"/>
                </a:solidFill>
              </a:rPr>
              <a:t>🌐  pk₂ = [Hash(9e1c...), Hash(4a7d...), ...]</a:t>
            </a:r>
            <a:endParaRPr lang="en-US" sz="950" dirty="0"/>
          </a:p>
        </p:txBody>
      </p:sp>
      <p:sp>
        <p:nvSpPr>
          <p:cNvPr id="33" name="Text 31"/>
          <p:cNvSpPr/>
          <p:nvPr/>
        </p:nvSpPr>
        <p:spPr>
          <a:xfrm>
            <a:off x="914400" y="3282696"/>
            <a:ext cx="3566160" cy="256032"/>
          </a:xfrm>
          <a:prstGeom prst="rect">
            <a:avLst/>
          </a:prstGeom>
          <a:noFill/>
          <a:ln/>
        </p:spPr>
        <p:txBody>
          <a:bodyPr wrap="square" lIns="50800" tIns="50800" rIns="50800" bIns="50800" rtlCol="0" anchor="ctr"/>
          <a:lstStyle/>
          <a:p>
            <a:pPr indent="0" marL="0">
              <a:buNone/>
            </a:pPr>
            <a:r>
              <a:rPr lang="en-US" sz="900" dirty="0">
                <a:solidFill>
                  <a:srgbClr val="64748B"/>
                </a:solidFill>
              </a:rPr>
              <a:t>sk → PRIVADA, nunca se publica</a:t>
            </a:r>
            <a:endParaRPr lang="en-US" sz="900" dirty="0"/>
          </a:p>
        </p:txBody>
      </p:sp>
      <p:sp>
        <p:nvSpPr>
          <p:cNvPr id="34" name="Text 32"/>
          <p:cNvSpPr/>
          <p:nvPr/>
        </p:nvSpPr>
        <p:spPr>
          <a:xfrm>
            <a:off x="4663440" y="3282696"/>
            <a:ext cx="3931920" cy="256032"/>
          </a:xfrm>
          <a:prstGeom prst="rect">
            <a:avLst/>
          </a:prstGeom>
          <a:noFill/>
          <a:ln/>
        </p:spPr>
        <p:txBody>
          <a:bodyPr wrap="square" lIns="50800" tIns="50800" rIns="50800" bIns="50800" rtlCol="0" anchor="ctr"/>
          <a:lstStyle/>
          <a:p>
            <a:pPr indent="0" marL="0">
              <a:buNone/>
            </a:pPr>
            <a:r>
              <a:rPr lang="en-US" sz="900" dirty="0">
                <a:solidFill>
                  <a:srgbClr val="64748B"/>
                </a:solidFill>
              </a:rPr>
              <a:t>pk → PÚBLICA, se pone en las hojas del árbol</a:t>
            </a:r>
            <a:endParaRPr lang="en-US" sz="900" dirty="0"/>
          </a:p>
        </p:txBody>
      </p:sp>
      <p:sp>
        <p:nvSpPr>
          <p:cNvPr id="35" name="Shape 33"/>
          <p:cNvSpPr/>
          <p:nvPr/>
        </p:nvSpPr>
        <p:spPr>
          <a:xfrm>
            <a:off x="274320" y="3749040"/>
            <a:ext cx="8412480" cy="749808"/>
          </a:xfrm>
          <a:prstGeom prst="rect">
            <a:avLst/>
          </a:prstGeom>
          <a:solidFill>
            <a:srgbClr val="080E1A"/>
          </a:solidFill>
          <a:ln w="12700">
            <a:solidFill>
              <a:srgbClr val="1E3A5F"/>
            </a:solidFill>
            <a:prstDash val="solid"/>
          </a:ln>
        </p:spPr>
      </p:sp>
      <p:sp>
        <p:nvSpPr>
          <p:cNvPr id="36" name="Shape 34"/>
          <p:cNvSpPr/>
          <p:nvPr/>
        </p:nvSpPr>
        <p:spPr>
          <a:xfrm>
            <a:off x="274320" y="3749040"/>
            <a:ext cx="594360" cy="749808"/>
          </a:xfrm>
          <a:prstGeom prst="rect">
            <a:avLst/>
          </a:prstGeom>
          <a:solidFill>
            <a:srgbClr val="F59E0B">
              <a:alpha val="70000"/>
            </a:srgbClr>
          </a:solidFill>
          <a:ln w="12700">
            <a:solidFill>
              <a:srgbClr val="333333"/>
            </a:solidFill>
            <a:prstDash val="solid"/>
          </a:ln>
        </p:spPr>
      </p:sp>
      <p:sp>
        <p:nvSpPr>
          <p:cNvPr id="37" name="Text 35"/>
          <p:cNvSpPr/>
          <p:nvPr/>
        </p:nvSpPr>
        <p:spPr>
          <a:xfrm>
            <a:off x="274320" y="3749040"/>
            <a:ext cx="594360" cy="749808"/>
          </a:xfrm>
          <a:prstGeom prst="rect">
            <a:avLst/>
          </a:prstGeom>
          <a:noFill/>
          <a:ln/>
        </p:spPr>
        <p:txBody>
          <a:bodyPr wrap="square" lIns="0" tIns="0" rIns="0" bIns="0" rtlCol="0" anchor="ctr"/>
          <a:lstStyle/>
          <a:p>
            <a:pPr algn="ctr" indent="0" marL="0">
              <a:buNone/>
            </a:pPr>
            <a:r>
              <a:rPr lang="en-US" sz="1300" b="1" dirty="0">
                <a:solidFill>
                  <a:srgbClr val="F8FAFC"/>
                </a:solidFill>
              </a:rPr>
              <a:t>OTS3</a:t>
            </a:r>
            <a:endParaRPr lang="en-US" sz="1300" dirty="0"/>
          </a:p>
        </p:txBody>
      </p:sp>
      <p:sp>
        <p:nvSpPr>
          <p:cNvPr id="38" name="Shape 36"/>
          <p:cNvSpPr/>
          <p:nvPr/>
        </p:nvSpPr>
        <p:spPr>
          <a:xfrm>
            <a:off x="914400" y="3803904"/>
            <a:ext cx="3566160" cy="274320"/>
          </a:xfrm>
          <a:prstGeom prst="rect">
            <a:avLst/>
          </a:prstGeom>
          <a:solidFill>
            <a:srgbClr val="1A0F00"/>
          </a:solidFill>
          <a:ln w="12700">
            <a:solidFill>
              <a:srgbClr val="F59E0B"/>
            </a:solidFill>
            <a:prstDash val="solid"/>
          </a:ln>
        </p:spPr>
      </p:sp>
      <p:sp>
        <p:nvSpPr>
          <p:cNvPr id="39" name="Text 37"/>
          <p:cNvSpPr/>
          <p:nvPr/>
        </p:nvSpPr>
        <p:spPr>
          <a:xfrm>
            <a:off x="914400" y="3803904"/>
            <a:ext cx="3566160" cy="274320"/>
          </a:xfrm>
          <a:prstGeom prst="rect">
            <a:avLst/>
          </a:prstGeom>
          <a:noFill/>
          <a:ln/>
        </p:spPr>
        <p:txBody>
          <a:bodyPr wrap="square" lIns="50800" tIns="50800" rIns="50800" bIns="50800" rtlCol="0" anchor="ctr"/>
          <a:lstStyle/>
          <a:p>
            <a:pPr indent="0" marL="0">
              <a:buNone/>
            </a:pPr>
            <a:r>
              <a:rPr lang="en-US" sz="950" dirty="0">
                <a:solidFill>
                  <a:srgbClr val="FDE68A"/>
                </a:solidFill>
              </a:rPr>
              <a:t>🔐  sk₃ = [6b5f..., 1e9c..., 8a3d..., ...]</a:t>
            </a:r>
            <a:endParaRPr lang="en-US" sz="950" dirty="0"/>
          </a:p>
        </p:txBody>
      </p:sp>
      <p:sp>
        <p:nvSpPr>
          <p:cNvPr id="40" name="Shape 38"/>
          <p:cNvSpPr/>
          <p:nvPr/>
        </p:nvSpPr>
        <p:spPr>
          <a:xfrm>
            <a:off x="4663440" y="3803904"/>
            <a:ext cx="3931920" cy="274320"/>
          </a:xfrm>
          <a:prstGeom prst="rect">
            <a:avLst/>
          </a:prstGeom>
          <a:solidFill>
            <a:srgbClr val="0A1A0A"/>
          </a:solidFill>
          <a:ln w="12700">
            <a:solidFill>
              <a:srgbClr val="10B981"/>
            </a:solidFill>
            <a:prstDash val="solid"/>
          </a:ln>
        </p:spPr>
      </p:sp>
      <p:sp>
        <p:nvSpPr>
          <p:cNvPr id="41" name="Text 39"/>
          <p:cNvSpPr/>
          <p:nvPr/>
        </p:nvSpPr>
        <p:spPr>
          <a:xfrm>
            <a:off x="4663440" y="3803904"/>
            <a:ext cx="3931920" cy="274320"/>
          </a:xfrm>
          <a:prstGeom prst="rect">
            <a:avLst/>
          </a:prstGeom>
          <a:noFill/>
          <a:ln/>
        </p:spPr>
        <p:txBody>
          <a:bodyPr wrap="square" lIns="50800" tIns="50800" rIns="50800" bIns="50800" rtlCol="0" anchor="ctr"/>
          <a:lstStyle/>
          <a:p>
            <a:pPr indent="0" marL="0">
              <a:buNone/>
            </a:pPr>
            <a:r>
              <a:rPr lang="en-US" sz="950" dirty="0">
                <a:solidFill>
                  <a:srgbClr val="86EFAC"/>
                </a:solidFill>
              </a:rPr>
              <a:t>🌐  pk₃ = [Hash(6b5f...), Hash(1e9c...), ...]</a:t>
            </a:r>
            <a:endParaRPr lang="en-US" sz="950" dirty="0"/>
          </a:p>
        </p:txBody>
      </p:sp>
      <p:sp>
        <p:nvSpPr>
          <p:cNvPr id="42" name="Text 40"/>
          <p:cNvSpPr/>
          <p:nvPr/>
        </p:nvSpPr>
        <p:spPr>
          <a:xfrm>
            <a:off x="914400" y="4151376"/>
            <a:ext cx="3566160" cy="256032"/>
          </a:xfrm>
          <a:prstGeom prst="rect">
            <a:avLst/>
          </a:prstGeom>
          <a:noFill/>
          <a:ln/>
        </p:spPr>
        <p:txBody>
          <a:bodyPr wrap="square" lIns="50800" tIns="50800" rIns="50800" bIns="50800" rtlCol="0" anchor="ctr"/>
          <a:lstStyle/>
          <a:p>
            <a:pPr indent="0" marL="0">
              <a:buNone/>
            </a:pPr>
            <a:r>
              <a:rPr lang="en-US" sz="900" dirty="0">
                <a:solidFill>
                  <a:srgbClr val="64748B"/>
                </a:solidFill>
              </a:rPr>
              <a:t>sk → PRIVADA, nunca se publica</a:t>
            </a:r>
            <a:endParaRPr lang="en-US" sz="900" dirty="0"/>
          </a:p>
        </p:txBody>
      </p:sp>
      <p:sp>
        <p:nvSpPr>
          <p:cNvPr id="43" name="Text 41"/>
          <p:cNvSpPr/>
          <p:nvPr/>
        </p:nvSpPr>
        <p:spPr>
          <a:xfrm>
            <a:off x="4663440" y="4151376"/>
            <a:ext cx="3931920" cy="256032"/>
          </a:xfrm>
          <a:prstGeom prst="rect">
            <a:avLst/>
          </a:prstGeom>
          <a:noFill/>
          <a:ln/>
        </p:spPr>
        <p:txBody>
          <a:bodyPr wrap="square" lIns="50800" tIns="50800" rIns="50800" bIns="50800" rtlCol="0" anchor="ctr"/>
          <a:lstStyle/>
          <a:p>
            <a:pPr indent="0" marL="0">
              <a:buNone/>
            </a:pPr>
            <a:r>
              <a:rPr lang="en-US" sz="900" dirty="0">
                <a:solidFill>
                  <a:srgbClr val="64748B"/>
                </a:solidFill>
              </a:rPr>
              <a:t>pk → PÚBLICA, se pone en las hojas del árbol</a:t>
            </a:r>
            <a:endParaRPr lang="en-US" sz="900" dirty="0"/>
          </a:p>
        </p:txBody>
      </p:sp>
      <p:sp>
        <p:nvSpPr>
          <p:cNvPr id="44" name="Shape 42"/>
          <p:cNvSpPr/>
          <p:nvPr/>
        </p:nvSpPr>
        <p:spPr>
          <a:xfrm>
            <a:off x="274320" y="4617720"/>
            <a:ext cx="8412480" cy="347472"/>
          </a:xfrm>
          <a:prstGeom prst="rect">
            <a:avLst/>
          </a:prstGeom>
          <a:solidFill>
            <a:srgbClr val="1A1A00"/>
          </a:solidFill>
          <a:ln w="12700">
            <a:solidFill>
              <a:srgbClr val="F59E0B"/>
            </a:solidFill>
            <a:prstDash val="solid"/>
          </a:ln>
        </p:spPr>
      </p:sp>
      <p:sp>
        <p:nvSpPr>
          <p:cNvPr id="45" name="Text 43"/>
          <p:cNvSpPr/>
          <p:nvPr/>
        </p:nvSpPr>
        <p:spPr>
          <a:xfrm>
            <a:off x="274320" y="4617720"/>
            <a:ext cx="8412480" cy="347472"/>
          </a:xfrm>
          <a:prstGeom prst="rect">
            <a:avLst/>
          </a:prstGeom>
          <a:noFill/>
          <a:ln/>
        </p:spPr>
        <p:txBody>
          <a:bodyPr wrap="square" lIns="76200" tIns="76200" rIns="76200" bIns="76200" rtlCol="0" anchor="ctr"/>
          <a:lstStyle/>
          <a:p>
            <a:pPr indent="0" marL="0">
              <a:buNone/>
            </a:pPr>
            <a:r>
              <a:rPr lang="en-US" sz="1100" dirty="0">
                <a:solidFill>
                  <a:srgbClr val="FDE68A"/>
                </a:solidFill>
              </a:rPr>
              <a:t>⚡  Cada par OTS es completamente independiente. La seguridad no depende de que estén relacionados entre sí.</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E3D"/>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0B981"/>
          </a:solidFill>
          <a:ln w="12700">
            <a:solidFill>
              <a:srgbClr val="333333"/>
            </a:solidFill>
            <a:prstDash val="solid"/>
          </a:ln>
        </p:spPr>
      </p:sp>
      <p:sp>
        <p:nvSpPr>
          <p:cNvPr id="3" name="Shape 1"/>
          <p:cNvSpPr/>
          <p:nvPr/>
        </p:nvSpPr>
        <p:spPr>
          <a:xfrm>
            <a:off x="274320" y="137160"/>
            <a:ext cx="411480" cy="411480"/>
          </a:xfrm>
          <a:prstGeom prst="rect">
            <a:avLst/>
          </a:prstGeom>
          <a:solidFill>
            <a:srgbClr val="10B981"/>
          </a:solidFill>
          <a:ln w="12700">
            <a:solidFill>
              <a:srgbClr val="333333"/>
            </a:solidFill>
            <a:prstDash val="solid"/>
          </a:ln>
        </p:spPr>
      </p:sp>
      <p:sp>
        <p:nvSpPr>
          <p:cNvPr id="4" name="Text 2"/>
          <p:cNvSpPr/>
          <p:nvPr/>
        </p:nvSpPr>
        <p:spPr>
          <a:xfrm>
            <a:off x="274320" y="137160"/>
            <a:ext cx="411480" cy="411480"/>
          </a:xfrm>
          <a:prstGeom prst="rect">
            <a:avLst/>
          </a:prstGeom>
          <a:noFill/>
          <a:ln/>
        </p:spPr>
        <p:txBody>
          <a:bodyPr wrap="square" lIns="0" tIns="0" rIns="0" bIns="0" rtlCol="0" anchor="ctr"/>
          <a:lstStyle/>
          <a:p>
            <a:pPr algn="ctr" indent="0" marL="0">
              <a:buNone/>
            </a:pPr>
            <a:r>
              <a:rPr lang="en-US" sz="2000" b="1" dirty="0">
                <a:solidFill>
                  <a:srgbClr val="080E1A"/>
                </a:solidFill>
              </a:rPr>
              <a:t>2</a:t>
            </a:r>
            <a:endParaRPr lang="en-US" sz="2000" dirty="0"/>
          </a:p>
        </p:txBody>
      </p:sp>
      <p:sp>
        <p:nvSpPr>
          <p:cNvPr id="5" name="Text 3"/>
          <p:cNvSpPr/>
          <p:nvPr/>
        </p:nvSpPr>
        <p:spPr>
          <a:xfrm>
            <a:off x="777240" y="182880"/>
            <a:ext cx="8138160" cy="411480"/>
          </a:xfrm>
          <a:prstGeom prst="rect">
            <a:avLst/>
          </a:prstGeom>
          <a:noFill/>
          <a:ln/>
        </p:spPr>
        <p:txBody>
          <a:bodyPr wrap="square" lIns="0" tIns="0" rIns="0" bIns="0" rtlCol="0" anchor="ctr"/>
          <a:lstStyle/>
          <a:p>
            <a:pPr indent="0" marL="0">
              <a:buNone/>
            </a:pPr>
            <a:r>
              <a:rPr lang="en-US" sz="2200" b="1" dirty="0">
                <a:solidFill>
                  <a:srgbClr val="F8FAFC"/>
                </a:solidFill>
                <a:latin typeface="Arial" pitchFamily="34" charset="0"/>
                <a:ea typeface="Arial" pitchFamily="34" charset="-122"/>
                <a:cs typeface="Arial" pitchFamily="34" charset="-120"/>
              </a:rPr>
              <a:t>Construir el árbol de Merkle (de abajo hacia arriba)</a:t>
            </a:r>
            <a:endParaRPr lang="en-US" sz="2200" dirty="0"/>
          </a:p>
        </p:txBody>
      </p:sp>
      <p:sp>
        <p:nvSpPr>
          <p:cNvPr id="6" name="Shape 4"/>
          <p:cNvSpPr/>
          <p:nvPr/>
        </p:nvSpPr>
        <p:spPr>
          <a:xfrm>
            <a:off x="274320" y="658368"/>
            <a:ext cx="8412480" cy="0"/>
          </a:xfrm>
          <a:prstGeom prst="line">
            <a:avLst/>
          </a:prstGeom>
          <a:noFill/>
          <a:ln w="12700">
            <a:solidFill>
              <a:srgbClr val="1E3A5F"/>
            </a:solidFill>
            <a:prstDash val="solid"/>
          </a:ln>
        </p:spPr>
      </p:sp>
      <p:sp>
        <p:nvSpPr>
          <p:cNvPr id="7" name="Shape 5"/>
          <p:cNvSpPr/>
          <p:nvPr/>
        </p:nvSpPr>
        <p:spPr>
          <a:xfrm>
            <a:off x="274320" y="777240"/>
            <a:ext cx="4572000" cy="1188720"/>
          </a:xfrm>
          <a:prstGeom prst="rect">
            <a:avLst/>
          </a:prstGeom>
          <a:solidFill>
            <a:srgbClr val="080E1A"/>
          </a:solidFill>
          <a:ln w="12700">
            <a:solidFill>
              <a:srgbClr val="10B981"/>
            </a:solidFill>
            <a:prstDash val="solid"/>
          </a:ln>
        </p:spPr>
      </p:sp>
      <p:sp>
        <p:nvSpPr>
          <p:cNvPr id="8" name="Shape 6"/>
          <p:cNvSpPr/>
          <p:nvPr/>
        </p:nvSpPr>
        <p:spPr>
          <a:xfrm>
            <a:off x="347472" y="850392"/>
            <a:ext cx="347472" cy="347472"/>
          </a:xfrm>
          <a:prstGeom prst="ellipse">
            <a:avLst/>
          </a:prstGeom>
          <a:solidFill>
            <a:srgbClr val="10B981">
              <a:alpha val="80000"/>
            </a:srgbClr>
          </a:solidFill>
          <a:ln w="12700">
            <a:solidFill>
              <a:srgbClr val="333333"/>
            </a:solidFill>
            <a:prstDash val="solid"/>
          </a:ln>
        </p:spPr>
      </p:sp>
      <p:sp>
        <p:nvSpPr>
          <p:cNvPr id="9" name="Text 7"/>
          <p:cNvSpPr/>
          <p:nvPr/>
        </p:nvSpPr>
        <p:spPr>
          <a:xfrm>
            <a:off x="347472" y="850392"/>
            <a:ext cx="347472" cy="347472"/>
          </a:xfrm>
          <a:prstGeom prst="rect">
            <a:avLst/>
          </a:prstGeom>
          <a:noFill/>
          <a:ln/>
        </p:spPr>
        <p:txBody>
          <a:bodyPr wrap="square" lIns="0" tIns="0" rIns="0" bIns="0" rtlCol="0" anchor="ctr"/>
          <a:lstStyle/>
          <a:p>
            <a:pPr algn="ctr" indent="0" marL="0">
              <a:buNone/>
            </a:pPr>
            <a:r>
              <a:rPr lang="en-US" sz="1400" b="1" dirty="0">
                <a:solidFill>
                  <a:srgbClr val="F8FAFC"/>
                </a:solidFill>
              </a:rPr>
              <a:t>1</a:t>
            </a:r>
            <a:endParaRPr lang="en-US" sz="1400" dirty="0"/>
          </a:p>
        </p:txBody>
      </p:sp>
      <p:sp>
        <p:nvSpPr>
          <p:cNvPr id="10" name="Text 8"/>
          <p:cNvSpPr/>
          <p:nvPr/>
        </p:nvSpPr>
        <p:spPr>
          <a:xfrm>
            <a:off x="749808" y="822960"/>
            <a:ext cx="4023360" cy="320040"/>
          </a:xfrm>
          <a:prstGeom prst="rect">
            <a:avLst/>
          </a:prstGeom>
          <a:noFill/>
          <a:ln/>
        </p:spPr>
        <p:txBody>
          <a:bodyPr wrap="square" lIns="0" tIns="0" rIns="0" bIns="0" rtlCol="0" anchor="ctr"/>
          <a:lstStyle/>
          <a:p>
            <a:pPr indent="0" marL="0">
              <a:buNone/>
            </a:pPr>
            <a:r>
              <a:rPr lang="en-US" sz="1200" b="1" dirty="0">
                <a:solidFill>
                  <a:srgbClr val="10B981"/>
                </a:solidFill>
              </a:rPr>
              <a:t>Nivel 0 — Las hojas</a:t>
            </a:r>
            <a:endParaRPr lang="en-US" sz="1200" dirty="0"/>
          </a:p>
        </p:txBody>
      </p:sp>
      <p:sp>
        <p:nvSpPr>
          <p:cNvPr id="11" name="Text 9"/>
          <p:cNvSpPr/>
          <p:nvPr/>
        </p:nvSpPr>
        <p:spPr>
          <a:xfrm>
            <a:off x="749808" y="1161288"/>
            <a:ext cx="4023360" cy="749808"/>
          </a:xfrm>
          <a:prstGeom prst="rect">
            <a:avLst/>
          </a:prstGeom>
          <a:noFill/>
          <a:ln/>
        </p:spPr>
        <p:txBody>
          <a:bodyPr wrap="square" lIns="0" tIns="0" rIns="0" bIns="0" rtlCol="0" anchor="ctr"/>
          <a:lstStyle/>
          <a:p>
            <a:pPr indent="0" marL="0">
              <a:buNone/>
            </a:pPr>
            <a:r>
              <a:rPr lang="en-US" sz="1100" dirty="0">
                <a:solidFill>
                  <a:srgbClr val="BFDBFE"/>
                </a:solidFill>
              </a:rPr>
              <a:t>Hoja[0] = Hash(pk₀)</a:t>
            </a:r>
            <a:endParaRPr lang="en-US" sz="1100" dirty="0"/>
          </a:p>
          <a:p>
            <a:pPr indent="0" marL="0">
              <a:buNone/>
            </a:pPr>
            <a:r>
              <a:rPr lang="en-US" sz="1100" dirty="0">
                <a:solidFill>
                  <a:srgbClr val="BFDBFE"/>
                </a:solidFill>
              </a:rPr>
              <a:t>Hoja[1] = Hash(pk₁)</a:t>
            </a:r>
            <a:endParaRPr lang="en-US" sz="1100" dirty="0"/>
          </a:p>
          <a:p>
            <a:pPr indent="0" marL="0">
              <a:buNone/>
            </a:pPr>
            <a:r>
              <a:rPr lang="en-US" sz="1100" dirty="0">
                <a:solidFill>
                  <a:srgbClr val="BFDBFE"/>
                </a:solidFill>
              </a:rPr>
              <a:t>Hoja[2] = Hash(pk₂)</a:t>
            </a:r>
            <a:endParaRPr lang="en-US" sz="1100" dirty="0"/>
          </a:p>
          <a:p>
            <a:pPr indent="0" marL="0">
              <a:buNone/>
            </a:pPr>
            <a:r>
              <a:rPr lang="en-US" sz="1100" dirty="0">
                <a:solidFill>
                  <a:srgbClr val="BFDBFE"/>
                </a:solidFill>
              </a:rPr>
              <a:t>Hoja[3] = Hash(pk₃)</a:t>
            </a:r>
            <a:endParaRPr lang="en-US" sz="1100" dirty="0"/>
          </a:p>
        </p:txBody>
      </p:sp>
      <p:sp>
        <p:nvSpPr>
          <p:cNvPr id="12" name="Shape 10"/>
          <p:cNvSpPr/>
          <p:nvPr/>
        </p:nvSpPr>
        <p:spPr>
          <a:xfrm>
            <a:off x="274320" y="2103120"/>
            <a:ext cx="4572000" cy="1188720"/>
          </a:xfrm>
          <a:prstGeom prst="rect">
            <a:avLst/>
          </a:prstGeom>
          <a:solidFill>
            <a:srgbClr val="080E1A"/>
          </a:solidFill>
          <a:ln w="12700">
            <a:solidFill>
              <a:srgbClr val="10B981"/>
            </a:solidFill>
            <a:prstDash val="solid"/>
          </a:ln>
        </p:spPr>
      </p:sp>
      <p:sp>
        <p:nvSpPr>
          <p:cNvPr id="13" name="Shape 11"/>
          <p:cNvSpPr/>
          <p:nvPr/>
        </p:nvSpPr>
        <p:spPr>
          <a:xfrm>
            <a:off x="347472" y="2176272"/>
            <a:ext cx="347472" cy="347472"/>
          </a:xfrm>
          <a:prstGeom prst="ellipse">
            <a:avLst/>
          </a:prstGeom>
          <a:solidFill>
            <a:srgbClr val="10B981">
              <a:alpha val="80000"/>
            </a:srgbClr>
          </a:solidFill>
          <a:ln w="12700">
            <a:solidFill>
              <a:srgbClr val="333333"/>
            </a:solidFill>
            <a:prstDash val="solid"/>
          </a:ln>
        </p:spPr>
      </p:sp>
      <p:sp>
        <p:nvSpPr>
          <p:cNvPr id="14" name="Text 12"/>
          <p:cNvSpPr/>
          <p:nvPr/>
        </p:nvSpPr>
        <p:spPr>
          <a:xfrm>
            <a:off x="347472" y="2176272"/>
            <a:ext cx="347472" cy="347472"/>
          </a:xfrm>
          <a:prstGeom prst="rect">
            <a:avLst/>
          </a:prstGeom>
          <a:noFill/>
          <a:ln/>
        </p:spPr>
        <p:txBody>
          <a:bodyPr wrap="square" lIns="0" tIns="0" rIns="0" bIns="0" rtlCol="0" anchor="ctr"/>
          <a:lstStyle/>
          <a:p>
            <a:pPr algn="ctr" indent="0" marL="0">
              <a:buNone/>
            </a:pPr>
            <a:r>
              <a:rPr lang="en-US" sz="1400" b="1" dirty="0">
                <a:solidFill>
                  <a:srgbClr val="F8FAFC"/>
                </a:solidFill>
              </a:rPr>
              <a:t>2</a:t>
            </a:r>
            <a:endParaRPr lang="en-US" sz="1400" dirty="0"/>
          </a:p>
        </p:txBody>
      </p:sp>
      <p:sp>
        <p:nvSpPr>
          <p:cNvPr id="15" name="Text 13"/>
          <p:cNvSpPr/>
          <p:nvPr/>
        </p:nvSpPr>
        <p:spPr>
          <a:xfrm>
            <a:off x="749808" y="2148840"/>
            <a:ext cx="4023360" cy="320040"/>
          </a:xfrm>
          <a:prstGeom prst="rect">
            <a:avLst/>
          </a:prstGeom>
          <a:noFill/>
          <a:ln/>
        </p:spPr>
        <p:txBody>
          <a:bodyPr wrap="square" lIns="0" tIns="0" rIns="0" bIns="0" rtlCol="0" anchor="ctr"/>
          <a:lstStyle/>
          <a:p>
            <a:pPr indent="0" marL="0">
              <a:buNone/>
            </a:pPr>
            <a:r>
              <a:rPr lang="en-US" sz="1200" b="1" dirty="0">
                <a:solidFill>
                  <a:srgbClr val="10B981"/>
                </a:solidFill>
              </a:rPr>
              <a:t>Nivel 1 — Nodos intermedios</a:t>
            </a:r>
            <a:endParaRPr lang="en-US" sz="1200" dirty="0"/>
          </a:p>
        </p:txBody>
      </p:sp>
      <p:sp>
        <p:nvSpPr>
          <p:cNvPr id="16" name="Text 14"/>
          <p:cNvSpPr/>
          <p:nvPr/>
        </p:nvSpPr>
        <p:spPr>
          <a:xfrm>
            <a:off x="749808" y="2487168"/>
            <a:ext cx="4023360" cy="749808"/>
          </a:xfrm>
          <a:prstGeom prst="rect">
            <a:avLst/>
          </a:prstGeom>
          <a:noFill/>
          <a:ln/>
        </p:spPr>
        <p:txBody>
          <a:bodyPr wrap="square" lIns="0" tIns="0" rIns="0" bIns="0" rtlCol="0" anchor="ctr"/>
          <a:lstStyle/>
          <a:p>
            <a:pPr indent="0" marL="0">
              <a:buNone/>
            </a:pPr>
            <a:r>
              <a:rPr lang="en-US" sz="1100" dirty="0">
                <a:solidFill>
                  <a:srgbClr val="BFDBFE"/>
                </a:solidFill>
              </a:rPr>
              <a:t>Nodo[1,0] = Hash( Hoja[0] ‖ Hoja[1] )</a:t>
            </a:r>
            <a:endParaRPr lang="en-US" sz="1100" dirty="0"/>
          </a:p>
          <a:p>
            <a:pPr indent="0" marL="0">
              <a:buNone/>
            </a:pPr>
            <a:r>
              <a:rPr lang="en-US" sz="1100" dirty="0">
                <a:solidFill>
                  <a:srgbClr val="BFDBFE"/>
                </a:solidFill>
              </a:rPr>
              <a:t>Nodo[1,1] = Hash( Hoja[2] ‖ Hoja[3] )</a:t>
            </a:r>
            <a:endParaRPr lang="en-US" sz="1100" dirty="0"/>
          </a:p>
        </p:txBody>
      </p:sp>
      <p:sp>
        <p:nvSpPr>
          <p:cNvPr id="17" name="Shape 15"/>
          <p:cNvSpPr/>
          <p:nvPr/>
        </p:nvSpPr>
        <p:spPr>
          <a:xfrm>
            <a:off x="274320" y="3429000"/>
            <a:ext cx="4572000" cy="1188720"/>
          </a:xfrm>
          <a:prstGeom prst="rect">
            <a:avLst/>
          </a:prstGeom>
          <a:solidFill>
            <a:srgbClr val="080E1A"/>
          </a:solidFill>
          <a:ln w="12700">
            <a:solidFill>
              <a:srgbClr val="10B981"/>
            </a:solidFill>
            <a:prstDash val="solid"/>
          </a:ln>
        </p:spPr>
      </p:sp>
      <p:sp>
        <p:nvSpPr>
          <p:cNvPr id="18" name="Shape 16"/>
          <p:cNvSpPr/>
          <p:nvPr/>
        </p:nvSpPr>
        <p:spPr>
          <a:xfrm>
            <a:off x="347472" y="3502152"/>
            <a:ext cx="347472" cy="347472"/>
          </a:xfrm>
          <a:prstGeom prst="ellipse">
            <a:avLst/>
          </a:prstGeom>
          <a:solidFill>
            <a:srgbClr val="10B981">
              <a:alpha val="80000"/>
            </a:srgbClr>
          </a:solidFill>
          <a:ln w="12700">
            <a:solidFill>
              <a:srgbClr val="333333"/>
            </a:solidFill>
            <a:prstDash val="solid"/>
          </a:ln>
        </p:spPr>
      </p:sp>
      <p:sp>
        <p:nvSpPr>
          <p:cNvPr id="19" name="Text 17"/>
          <p:cNvSpPr/>
          <p:nvPr/>
        </p:nvSpPr>
        <p:spPr>
          <a:xfrm>
            <a:off x="347472" y="3502152"/>
            <a:ext cx="347472" cy="347472"/>
          </a:xfrm>
          <a:prstGeom prst="rect">
            <a:avLst/>
          </a:prstGeom>
          <a:noFill/>
          <a:ln/>
        </p:spPr>
        <p:txBody>
          <a:bodyPr wrap="square" lIns="0" tIns="0" rIns="0" bIns="0" rtlCol="0" anchor="ctr"/>
          <a:lstStyle/>
          <a:p>
            <a:pPr algn="ctr" indent="0" marL="0">
              <a:buNone/>
            </a:pPr>
            <a:r>
              <a:rPr lang="en-US" sz="1400" b="1" dirty="0">
                <a:solidFill>
                  <a:srgbClr val="F8FAFC"/>
                </a:solidFill>
              </a:rPr>
              <a:t>3</a:t>
            </a:r>
            <a:endParaRPr lang="en-US" sz="1400" dirty="0"/>
          </a:p>
        </p:txBody>
      </p:sp>
      <p:sp>
        <p:nvSpPr>
          <p:cNvPr id="20" name="Text 18"/>
          <p:cNvSpPr/>
          <p:nvPr/>
        </p:nvSpPr>
        <p:spPr>
          <a:xfrm>
            <a:off x="749808" y="3474720"/>
            <a:ext cx="4023360" cy="320040"/>
          </a:xfrm>
          <a:prstGeom prst="rect">
            <a:avLst/>
          </a:prstGeom>
          <a:noFill/>
          <a:ln/>
        </p:spPr>
        <p:txBody>
          <a:bodyPr wrap="square" lIns="0" tIns="0" rIns="0" bIns="0" rtlCol="0" anchor="ctr"/>
          <a:lstStyle/>
          <a:p>
            <a:pPr indent="0" marL="0">
              <a:buNone/>
            </a:pPr>
            <a:r>
              <a:rPr lang="en-US" sz="1200" b="1" dirty="0">
                <a:solidFill>
                  <a:srgbClr val="10B981"/>
                </a:solidFill>
              </a:rPr>
              <a:t>Nivel 2 — La raíz (clave pública)</a:t>
            </a:r>
            <a:endParaRPr lang="en-US" sz="1200" dirty="0"/>
          </a:p>
        </p:txBody>
      </p:sp>
      <p:sp>
        <p:nvSpPr>
          <p:cNvPr id="21" name="Text 19"/>
          <p:cNvSpPr/>
          <p:nvPr/>
        </p:nvSpPr>
        <p:spPr>
          <a:xfrm>
            <a:off x="749808" y="3813048"/>
            <a:ext cx="4023360" cy="749808"/>
          </a:xfrm>
          <a:prstGeom prst="rect">
            <a:avLst/>
          </a:prstGeom>
          <a:noFill/>
          <a:ln/>
        </p:spPr>
        <p:txBody>
          <a:bodyPr wrap="square" lIns="0" tIns="0" rIns="0" bIns="0" rtlCol="0" anchor="ctr"/>
          <a:lstStyle/>
          <a:p>
            <a:pPr indent="0" marL="0">
              <a:buNone/>
            </a:pPr>
            <a:r>
              <a:rPr lang="en-US" sz="1100" dirty="0">
                <a:solidFill>
                  <a:srgbClr val="BFDBFE"/>
                </a:solidFill>
              </a:rPr>
              <a:t>Raíz = Hash( Nodo[1,0] ‖ Nodo[1,1] )</a:t>
            </a:r>
            <a:endParaRPr lang="en-US" sz="1100" dirty="0"/>
          </a:p>
          <a:p>
            <a:pPr indent="0" marL="0">
              <a:buNone/>
            </a:pPr>
            <a:r>
              <a:rPr lang="en-US" sz="1100" dirty="0">
                <a:solidFill>
                  <a:srgbClr val="BFDBFE"/>
                </a:solidFill>
              </a:rPr>
              <a:t>→ Esta Raíz ES la clave pública XMSS</a:t>
            </a:r>
            <a:endParaRPr lang="en-US" sz="1100" dirty="0"/>
          </a:p>
        </p:txBody>
      </p:sp>
      <p:sp>
        <p:nvSpPr>
          <p:cNvPr id="22" name="Text 20"/>
          <p:cNvSpPr/>
          <p:nvPr/>
        </p:nvSpPr>
        <p:spPr>
          <a:xfrm>
            <a:off x="5120640" y="777240"/>
            <a:ext cx="3749040" cy="320040"/>
          </a:xfrm>
          <a:prstGeom prst="rect">
            <a:avLst/>
          </a:prstGeom>
          <a:noFill/>
          <a:ln/>
        </p:spPr>
        <p:txBody>
          <a:bodyPr wrap="square" lIns="0" tIns="0" rIns="0" bIns="0" rtlCol="0" anchor="ctr"/>
          <a:lstStyle/>
          <a:p>
            <a:pPr indent="0" marL="0">
              <a:buNone/>
            </a:pPr>
            <a:r>
              <a:rPr lang="en-US" sz="1300" b="1" dirty="0">
                <a:solidFill>
                  <a:srgbClr val="BFDBFE"/>
                </a:solidFill>
              </a:rPr>
              <a:t>Árbol completo resultante</a:t>
            </a:r>
            <a:endParaRPr lang="en-US" sz="1300" dirty="0"/>
          </a:p>
        </p:txBody>
      </p:sp>
      <p:sp>
        <p:nvSpPr>
          <p:cNvPr id="23" name="Shape 21"/>
          <p:cNvSpPr/>
          <p:nvPr/>
        </p:nvSpPr>
        <p:spPr>
          <a:xfrm>
            <a:off x="5669280" y="1188720"/>
            <a:ext cx="2560320" cy="457200"/>
          </a:xfrm>
          <a:prstGeom prst="rect">
            <a:avLst/>
          </a:prstGeom>
          <a:solidFill>
            <a:srgbClr val="10B981">
              <a:alpha val="85000"/>
            </a:srgbClr>
          </a:solidFill>
          <a:ln w="25400">
            <a:solidFill>
              <a:srgbClr val="10B981"/>
            </a:solidFill>
            <a:prstDash val="solid"/>
          </a:ln>
        </p:spPr>
      </p:sp>
      <p:sp>
        <p:nvSpPr>
          <p:cNvPr id="24" name="Text 22"/>
          <p:cNvSpPr/>
          <p:nvPr/>
        </p:nvSpPr>
        <p:spPr>
          <a:xfrm>
            <a:off x="5669280" y="1188720"/>
            <a:ext cx="2560320" cy="457200"/>
          </a:xfrm>
          <a:prstGeom prst="rect">
            <a:avLst/>
          </a:prstGeom>
          <a:noFill/>
          <a:ln/>
        </p:spPr>
        <p:txBody>
          <a:bodyPr wrap="square" lIns="25400" tIns="25400" rIns="25400" bIns="25400" rtlCol="0" anchor="ctr"/>
          <a:lstStyle/>
          <a:p>
            <a:pPr algn="ctr" indent="0" marL="0">
              <a:buNone/>
            </a:pPr>
            <a:r>
              <a:rPr lang="en-US" sz="950" b="1" dirty="0">
                <a:solidFill>
                  <a:srgbClr val="F8FAFC"/>
                </a:solidFill>
              </a:rPr>
              <a:t>Raíz = 8f4a2c...</a:t>
            </a:r>
            <a:endParaRPr lang="en-US" sz="950" dirty="0"/>
          </a:p>
          <a:p>
            <a:pPr algn="ctr" indent="0" marL="0">
              <a:buNone/>
            </a:pPr>
            <a:r>
              <a:rPr lang="en-US" sz="950" b="1" dirty="0">
                <a:solidFill>
                  <a:srgbClr val="F8FAFC"/>
                </a:solidFill>
              </a:rPr>
              <a:t>(CLAVE PÚBLICA)</a:t>
            </a:r>
            <a:endParaRPr lang="en-US" sz="950" dirty="0"/>
          </a:p>
        </p:txBody>
      </p:sp>
      <p:sp>
        <p:nvSpPr>
          <p:cNvPr id="25" name="Shape 23"/>
          <p:cNvSpPr/>
          <p:nvPr/>
        </p:nvSpPr>
        <p:spPr>
          <a:xfrm>
            <a:off x="6949440" y="1645920"/>
            <a:ext cx="0" cy="365760"/>
          </a:xfrm>
          <a:prstGeom prst="line">
            <a:avLst/>
          </a:prstGeom>
          <a:noFill/>
          <a:ln w="19050">
            <a:solidFill>
              <a:srgbClr val="64748B"/>
            </a:solidFill>
            <a:prstDash val="solid"/>
          </a:ln>
        </p:spPr>
      </p:sp>
      <p:sp>
        <p:nvSpPr>
          <p:cNvPr id="26" name="Shape 24"/>
          <p:cNvSpPr/>
          <p:nvPr/>
        </p:nvSpPr>
        <p:spPr>
          <a:xfrm>
            <a:off x="5212080" y="2011680"/>
            <a:ext cx="1737360" cy="411480"/>
          </a:xfrm>
          <a:prstGeom prst="rect">
            <a:avLst/>
          </a:prstGeom>
          <a:solidFill>
            <a:srgbClr val="0A2A1A"/>
          </a:solidFill>
          <a:ln w="12700">
            <a:solidFill>
              <a:srgbClr val="10B981"/>
            </a:solidFill>
            <a:prstDash val="solid"/>
          </a:ln>
        </p:spPr>
      </p:sp>
      <p:sp>
        <p:nvSpPr>
          <p:cNvPr id="27" name="Text 25"/>
          <p:cNvSpPr/>
          <p:nvPr/>
        </p:nvSpPr>
        <p:spPr>
          <a:xfrm>
            <a:off x="5212080" y="2011680"/>
            <a:ext cx="1737360" cy="411480"/>
          </a:xfrm>
          <a:prstGeom prst="rect">
            <a:avLst/>
          </a:prstGeom>
          <a:noFill/>
          <a:ln/>
        </p:spPr>
        <p:txBody>
          <a:bodyPr wrap="square" lIns="25400" tIns="25400" rIns="25400" bIns="25400" rtlCol="0" anchor="ctr"/>
          <a:lstStyle/>
          <a:p>
            <a:pPr algn="ctr" indent="0" marL="0">
              <a:buNone/>
            </a:pPr>
            <a:r>
              <a:rPr lang="en-US" sz="900" dirty="0">
                <a:solidFill>
                  <a:srgbClr val="BFDBFE"/>
                </a:solidFill>
              </a:rPr>
              <a:t>N[1,0] = 3b7e1a...</a:t>
            </a:r>
            <a:endParaRPr lang="en-US" sz="900" dirty="0"/>
          </a:p>
        </p:txBody>
      </p:sp>
      <p:sp>
        <p:nvSpPr>
          <p:cNvPr id="28" name="Shape 26"/>
          <p:cNvSpPr/>
          <p:nvPr/>
        </p:nvSpPr>
        <p:spPr>
          <a:xfrm>
            <a:off x="7040880" y="2011680"/>
            <a:ext cx="1737360" cy="411480"/>
          </a:xfrm>
          <a:prstGeom prst="rect">
            <a:avLst/>
          </a:prstGeom>
          <a:solidFill>
            <a:srgbClr val="0A2A1A"/>
          </a:solidFill>
          <a:ln w="12700">
            <a:solidFill>
              <a:srgbClr val="10B981"/>
            </a:solidFill>
            <a:prstDash val="solid"/>
          </a:ln>
        </p:spPr>
      </p:sp>
      <p:sp>
        <p:nvSpPr>
          <p:cNvPr id="29" name="Text 27"/>
          <p:cNvSpPr/>
          <p:nvPr/>
        </p:nvSpPr>
        <p:spPr>
          <a:xfrm>
            <a:off x="7040880" y="2011680"/>
            <a:ext cx="1737360" cy="411480"/>
          </a:xfrm>
          <a:prstGeom prst="rect">
            <a:avLst/>
          </a:prstGeom>
          <a:noFill/>
          <a:ln/>
        </p:spPr>
        <p:txBody>
          <a:bodyPr wrap="square" lIns="25400" tIns="25400" rIns="25400" bIns="25400" rtlCol="0" anchor="ctr"/>
          <a:lstStyle/>
          <a:p>
            <a:pPr algn="ctr" indent="0" marL="0">
              <a:buNone/>
            </a:pPr>
            <a:r>
              <a:rPr lang="en-US" sz="900" dirty="0">
                <a:solidFill>
                  <a:srgbClr val="BFDBFE"/>
                </a:solidFill>
              </a:rPr>
              <a:t>N[1,1] = c5d2f8...</a:t>
            </a:r>
            <a:endParaRPr lang="en-US" sz="900" dirty="0"/>
          </a:p>
        </p:txBody>
      </p:sp>
      <p:sp>
        <p:nvSpPr>
          <p:cNvPr id="30" name="Shape 28"/>
          <p:cNvSpPr/>
          <p:nvPr/>
        </p:nvSpPr>
        <p:spPr>
          <a:xfrm>
            <a:off x="6035040" y="2011680"/>
            <a:ext cx="914400" cy="-365760"/>
          </a:xfrm>
          <a:prstGeom prst="line">
            <a:avLst/>
          </a:prstGeom>
          <a:noFill/>
          <a:ln w="12700">
            <a:solidFill>
              <a:srgbClr val="64748B"/>
            </a:solidFill>
            <a:prstDash val="solid"/>
          </a:ln>
        </p:spPr>
      </p:sp>
      <p:sp>
        <p:nvSpPr>
          <p:cNvPr id="31" name="Shape 29"/>
          <p:cNvSpPr/>
          <p:nvPr/>
        </p:nvSpPr>
        <p:spPr>
          <a:xfrm>
            <a:off x="6949440" y="1645920"/>
            <a:ext cx="914400" cy="365760"/>
          </a:xfrm>
          <a:prstGeom prst="line">
            <a:avLst/>
          </a:prstGeom>
          <a:noFill/>
          <a:ln w="12700">
            <a:solidFill>
              <a:srgbClr val="64748B"/>
            </a:solidFill>
            <a:prstDash val="solid"/>
          </a:ln>
        </p:spPr>
      </p:sp>
      <p:sp>
        <p:nvSpPr>
          <p:cNvPr id="32" name="Shape 30"/>
          <p:cNvSpPr/>
          <p:nvPr/>
        </p:nvSpPr>
        <p:spPr>
          <a:xfrm>
            <a:off x="5074920" y="2834640"/>
            <a:ext cx="822960" cy="384048"/>
          </a:xfrm>
          <a:prstGeom prst="rect">
            <a:avLst/>
          </a:prstGeom>
          <a:solidFill>
            <a:srgbClr val="F59E0B">
              <a:alpha val="70000"/>
            </a:srgbClr>
          </a:solidFill>
          <a:ln w="12700">
            <a:solidFill>
              <a:srgbClr val="F59E0B"/>
            </a:solidFill>
            <a:prstDash val="solid"/>
          </a:ln>
        </p:spPr>
      </p:sp>
      <p:sp>
        <p:nvSpPr>
          <p:cNvPr id="33" name="Text 31"/>
          <p:cNvSpPr/>
          <p:nvPr/>
        </p:nvSpPr>
        <p:spPr>
          <a:xfrm>
            <a:off x="5074920" y="2834640"/>
            <a:ext cx="822960" cy="384048"/>
          </a:xfrm>
          <a:prstGeom prst="rect">
            <a:avLst/>
          </a:prstGeom>
          <a:noFill/>
          <a:ln/>
        </p:spPr>
        <p:txBody>
          <a:bodyPr wrap="square" lIns="25400" tIns="25400" rIns="25400" bIns="25400" rtlCol="0" anchor="ctr"/>
          <a:lstStyle/>
          <a:p>
            <a:pPr algn="ctr" indent="0" marL="0">
              <a:buNone/>
            </a:pPr>
            <a:r>
              <a:rPr lang="en-US" sz="850" dirty="0">
                <a:solidFill>
                  <a:srgbClr val="F8FAFC"/>
                </a:solidFill>
              </a:rPr>
              <a:t>H[0]</a:t>
            </a:r>
            <a:endParaRPr lang="en-US" sz="850" dirty="0"/>
          </a:p>
          <a:p>
            <a:pPr algn="ctr" indent="0" marL="0">
              <a:buNone/>
            </a:pPr>
            <a:r>
              <a:rPr lang="en-US" sz="850" dirty="0">
                <a:solidFill>
                  <a:srgbClr val="F8FAFC"/>
                </a:solidFill>
              </a:rPr>
              <a:t>1a9c...</a:t>
            </a:r>
            <a:endParaRPr lang="en-US" sz="850" dirty="0"/>
          </a:p>
        </p:txBody>
      </p:sp>
      <p:sp>
        <p:nvSpPr>
          <p:cNvPr id="34" name="Shape 32"/>
          <p:cNvSpPr/>
          <p:nvPr/>
        </p:nvSpPr>
        <p:spPr>
          <a:xfrm>
            <a:off x="5989320" y="2834640"/>
            <a:ext cx="822960" cy="384048"/>
          </a:xfrm>
          <a:prstGeom prst="rect">
            <a:avLst/>
          </a:prstGeom>
          <a:solidFill>
            <a:srgbClr val="F59E0B">
              <a:alpha val="70000"/>
            </a:srgbClr>
          </a:solidFill>
          <a:ln w="12700">
            <a:solidFill>
              <a:srgbClr val="F59E0B"/>
            </a:solidFill>
            <a:prstDash val="solid"/>
          </a:ln>
        </p:spPr>
      </p:sp>
      <p:sp>
        <p:nvSpPr>
          <p:cNvPr id="35" name="Text 33"/>
          <p:cNvSpPr/>
          <p:nvPr/>
        </p:nvSpPr>
        <p:spPr>
          <a:xfrm>
            <a:off x="5989320" y="2834640"/>
            <a:ext cx="822960" cy="384048"/>
          </a:xfrm>
          <a:prstGeom prst="rect">
            <a:avLst/>
          </a:prstGeom>
          <a:noFill/>
          <a:ln/>
        </p:spPr>
        <p:txBody>
          <a:bodyPr wrap="square" lIns="25400" tIns="25400" rIns="25400" bIns="25400" rtlCol="0" anchor="ctr"/>
          <a:lstStyle/>
          <a:p>
            <a:pPr algn="ctr" indent="0" marL="0">
              <a:buNone/>
            </a:pPr>
            <a:r>
              <a:rPr lang="en-US" sz="850" dirty="0">
                <a:solidFill>
                  <a:srgbClr val="F8FAFC"/>
                </a:solidFill>
              </a:rPr>
              <a:t>H[1]</a:t>
            </a:r>
            <a:endParaRPr lang="en-US" sz="850" dirty="0"/>
          </a:p>
          <a:p>
            <a:pPr algn="ctr" indent="0" marL="0">
              <a:buNone/>
            </a:pPr>
            <a:r>
              <a:rPr lang="en-US" sz="850" dirty="0">
                <a:solidFill>
                  <a:srgbClr val="F8FAFC"/>
                </a:solidFill>
              </a:rPr>
              <a:t>4d7f...</a:t>
            </a:r>
            <a:endParaRPr lang="en-US" sz="850" dirty="0"/>
          </a:p>
        </p:txBody>
      </p:sp>
      <p:sp>
        <p:nvSpPr>
          <p:cNvPr id="36" name="Shape 34"/>
          <p:cNvSpPr/>
          <p:nvPr/>
        </p:nvSpPr>
        <p:spPr>
          <a:xfrm>
            <a:off x="6903720" y="2834640"/>
            <a:ext cx="822960" cy="384048"/>
          </a:xfrm>
          <a:prstGeom prst="rect">
            <a:avLst/>
          </a:prstGeom>
          <a:solidFill>
            <a:srgbClr val="F59E0B">
              <a:alpha val="70000"/>
            </a:srgbClr>
          </a:solidFill>
          <a:ln w="12700">
            <a:solidFill>
              <a:srgbClr val="F59E0B"/>
            </a:solidFill>
            <a:prstDash val="solid"/>
          </a:ln>
        </p:spPr>
      </p:sp>
      <p:sp>
        <p:nvSpPr>
          <p:cNvPr id="37" name="Text 35"/>
          <p:cNvSpPr/>
          <p:nvPr/>
        </p:nvSpPr>
        <p:spPr>
          <a:xfrm>
            <a:off x="6903720" y="2834640"/>
            <a:ext cx="822960" cy="384048"/>
          </a:xfrm>
          <a:prstGeom prst="rect">
            <a:avLst/>
          </a:prstGeom>
          <a:noFill/>
          <a:ln/>
        </p:spPr>
        <p:txBody>
          <a:bodyPr wrap="square" lIns="25400" tIns="25400" rIns="25400" bIns="25400" rtlCol="0" anchor="ctr"/>
          <a:lstStyle/>
          <a:p>
            <a:pPr algn="ctr" indent="0" marL="0">
              <a:buNone/>
            </a:pPr>
            <a:r>
              <a:rPr lang="en-US" sz="850" dirty="0">
                <a:solidFill>
                  <a:srgbClr val="F8FAFC"/>
                </a:solidFill>
              </a:rPr>
              <a:t>H[2]</a:t>
            </a:r>
            <a:endParaRPr lang="en-US" sz="850" dirty="0"/>
          </a:p>
          <a:p>
            <a:pPr algn="ctr" indent="0" marL="0">
              <a:buNone/>
            </a:pPr>
            <a:r>
              <a:rPr lang="en-US" sz="850" dirty="0">
                <a:solidFill>
                  <a:srgbClr val="F8FAFC"/>
                </a:solidFill>
              </a:rPr>
              <a:t>2e8b...</a:t>
            </a:r>
            <a:endParaRPr lang="en-US" sz="850" dirty="0"/>
          </a:p>
        </p:txBody>
      </p:sp>
      <p:sp>
        <p:nvSpPr>
          <p:cNvPr id="38" name="Shape 36"/>
          <p:cNvSpPr/>
          <p:nvPr/>
        </p:nvSpPr>
        <p:spPr>
          <a:xfrm>
            <a:off x="7818120" y="2834640"/>
            <a:ext cx="822960" cy="384048"/>
          </a:xfrm>
          <a:prstGeom prst="rect">
            <a:avLst/>
          </a:prstGeom>
          <a:solidFill>
            <a:srgbClr val="F59E0B">
              <a:alpha val="70000"/>
            </a:srgbClr>
          </a:solidFill>
          <a:ln w="12700">
            <a:solidFill>
              <a:srgbClr val="F59E0B"/>
            </a:solidFill>
            <a:prstDash val="solid"/>
          </a:ln>
        </p:spPr>
      </p:sp>
      <p:sp>
        <p:nvSpPr>
          <p:cNvPr id="39" name="Text 37"/>
          <p:cNvSpPr/>
          <p:nvPr/>
        </p:nvSpPr>
        <p:spPr>
          <a:xfrm>
            <a:off x="7818120" y="2834640"/>
            <a:ext cx="822960" cy="384048"/>
          </a:xfrm>
          <a:prstGeom prst="rect">
            <a:avLst/>
          </a:prstGeom>
          <a:noFill/>
          <a:ln/>
        </p:spPr>
        <p:txBody>
          <a:bodyPr wrap="square" lIns="25400" tIns="25400" rIns="25400" bIns="25400" rtlCol="0" anchor="ctr"/>
          <a:lstStyle/>
          <a:p>
            <a:pPr algn="ctr" indent="0" marL="0">
              <a:buNone/>
            </a:pPr>
            <a:r>
              <a:rPr lang="en-US" sz="850" dirty="0">
                <a:solidFill>
                  <a:srgbClr val="F8FAFC"/>
                </a:solidFill>
              </a:rPr>
              <a:t>H[3]</a:t>
            </a:r>
            <a:endParaRPr lang="en-US" sz="850" dirty="0"/>
          </a:p>
          <a:p>
            <a:pPr algn="ctr" indent="0" marL="0">
              <a:buNone/>
            </a:pPr>
            <a:r>
              <a:rPr lang="en-US" sz="850" dirty="0">
                <a:solidFill>
                  <a:srgbClr val="F8FAFC"/>
                </a:solidFill>
              </a:rPr>
              <a:t>6f3a...</a:t>
            </a:r>
            <a:endParaRPr lang="en-US" sz="850" dirty="0"/>
          </a:p>
        </p:txBody>
      </p:sp>
      <p:sp>
        <p:nvSpPr>
          <p:cNvPr id="40" name="Shape 38"/>
          <p:cNvSpPr/>
          <p:nvPr/>
        </p:nvSpPr>
        <p:spPr>
          <a:xfrm>
            <a:off x="5532120" y="2423160"/>
            <a:ext cx="457200" cy="411480"/>
          </a:xfrm>
          <a:prstGeom prst="line">
            <a:avLst/>
          </a:prstGeom>
          <a:noFill/>
          <a:ln w="12700">
            <a:solidFill>
              <a:srgbClr val="64748B"/>
            </a:solidFill>
            <a:prstDash val="solid"/>
          </a:ln>
        </p:spPr>
      </p:sp>
      <p:sp>
        <p:nvSpPr>
          <p:cNvPr id="41" name="Shape 39"/>
          <p:cNvSpPr/>
          <p:nvPr/>
        </p:nvSpPr>
        <p:spPr>
          <a:xfrm>
            <a:off x="5989320" y="2834640"/>
            <a:ext cx="0" cy="-411480"/>
          </a:xfrm>
          <a:prstGeom prst="line">
            <a:avLst/>
          </a:prstGeom>
          <a:noFill/>
          <a:ln w="12700">
            <a:solidFill>
              <a:srgbClr val="64748B"/>
            </a:solidFill>
            <a:prstDash val="solid"/>
          </a:ln>
        </p:spPr>
      </p:sp>
      <p:sp>
        <p:nvSpPr>
          <p:cNvPr id="42" name="Shape 40"/>
          <p:cNvSpPr/>
          <p:nvPr/>
        </p:nvSpPr>
        <p:spPr>
          <a:xfrm>
            <a:off x="7452360" y="2423160"/>
            <a:ext cx="365760" cy="411480"/>
          </a:xfrm>
          <a:prstGeom prst="line">
            <a:avLst/>
          </a:prstGeom>
          <a:noFill/>
          <a:ln w="12700">
            <a:solidFill>
              <a:srgbClr val="64748B"/>
            </a:solidFill>
            <a:prstDash val="solid"/>
          </a:ln>
        </p:spPr>
      </p:sp>
      <p:sp>
        <p:nvSpPr>
          <p:cNvPr id="43" name="Shape 41"/>
          <p:cNvSpPr/>
          <p:nvPr/>
        </p:nvSpPr>
        <p:spPr>
          <a:xfrm>
            <a:off x="7818120" y="2834640"/>
            <a:ext cx="0" cy="-411480"/>
          </a:xfrm>
          <a:prstGeom prst="line">
            <a:avLst/>
          </a:prstGeom>
          <a:noFill/>
          <a:ln w="12700">
            <a:solidFill>
              <a:srgbClr val="64748B"/>
            </a:solidFill>
            <a:prstDash val="solid"/>
          </a:ln>
        </p:spPr>
      </p:sp>
      <p:sp>
        <p:nvSpPr>
          <p:cNvPr id="44" name="Shape 42"/>
          <p:cNvSpPr/>
          <p:nvPr/>
        </p:nvSpPr>
        <p:spPr>
          <a:xfrm>
            <a:off x="5120640" y="3474720"/>
            <a:ext cx="731520" cy="320040"/>
          </a:xfrm>
          <a:prstGeom prst="rect">
            <a:avLst/>
          </a:prstGeom>
          <a:solidFill>
            <a:srgbClr val="0F1E3D"/>
          </a:solidFill>
          <a:ln w="12700">
            <a:solidFill>
              <a:srgbClr val="3B82F6"/>
            </a:solidFill>
            <a:prstDash val="solid"/>
          </a:ln>
        </p:spPr>
      </p:sp>
      <p:sp>
        <p:nvSpPr>
          <p:cNvPr id="45" name="Text 43"/>
          <p:cNvSpPr/>
          <p:nvPr/>
        </p:nvSpPr>
        <p:spPr>
          <a:xfrm>
            <a:off x="5120640" y="3474720"/>
            <a:ext cx="731520" cy="320040"/>
          </a:xfrm>
          <a:prstGeom prst="rect">
            <a:avLst/>
          </a:prstGeom>
          <a:noFill/>
          <a:ln/>
        </p:spPr>
        <p:txBody>
          <a:bodyPr wrap="square" lIns="0" tIns="0" rIns="0" bIns="0" rtlCol="0" anchor="ctr"/>
          <a:lstStyle/>
          <a:p>
            <a:pPr algn="ctr" indent="0" marL="0">
              <a:buNone/>
            </a:pPr>
            <a:r>
              <a:rPr lang="en-US" sz="900" dirty="0">
                <a:solidFill>
                  <a:srgbClr val="BFDBFE"/>
                </a:solidFill>
              </a:rPr>
              <a:t>OTS0</a:t>
            </a:r>
            <a:endParaRPr lang="en-US" sz="900" dirty="0"/>
          </a:p>
        </p:txBody>
      </p:sp>
      <p:sp>
        <p:nvSpPr>
          <p:cNvPr id="46" name="Shape 44"/>
          <p:cNvSpPr/>
          <p:nvPr/>
        </p:nvSpPr>
        <p:spPr>
          <a:xfrm>
            <a:off x="5486400" y="3218688"/>
            <a:ext cx="0" cy="256032"/>
          </a:xfrm>
          <a:prstGeom prst="line">
            <a:avLst/>
          </a:prstGeom>
          <a:noFill/>
          <a:ln w="12700">
            <a:solidFill>
              <a:srgbClr val="64748B"/>
            </a:solidFill>
            <a:prstDash val="solid"/>
          </a:ln>
        </p:spPr>
      </p:sp>
      <p:sp>
        <p:nvSpPr>
          <p:cNvPr id="47" name="Shape 45"/>
          <p:cNvSpPr/>
          <p:nvPr/>
        </p:nvSpPr>
        <p:spPr>
          <a:xfrm>
            <a:off x="6035040" y="3474720"/>
            <a:ext cx="731520" cy="320040"/>
          </a:xfrm>
          <a:prstGeom prst="rect">
            <a:avLst/>
          </a:prstGeom>
          <a:solidFill>
            <a:srgbClr val="0F1E3D"/>
          </a:solidFill>
          <a:ln w="12700">
            <a:solidFill>
              <a:srgbClr val="3B82F6"/>
            </a:solidFill>
            <a:prstDash val="solid"/>
          </a:ln>
        </p:spPr>
      </p:sp>
      <p:sp>
        <p:nvSpPr>
          <p:cNvPr id="48" name="Text 46"/>
          <p:cNvSpPr/>
          <p:nvPr/>
        </p:nvSpPr>
        <p:spPr>
          <a:xfrm>
            <a:off x="6035040" y="3474720"/>
            <a:ext cx="731520" cy="320040"/>
          </a:xfrm>
          <a:prstGeom prst="rect">
            <a:avLst/>
          </a:prstGeom>
          <a:noFill/>
          <a:ln/>
        </p:spPr>
        <p:txBody>
          <a:bodyPr wrap="square" lIns="0" tIns="0" rIns="0" bIns="0" rtlCol="0" anchor="ctr"/>
          <a:lstStyle/>
          <a:p>
            <a:pPr algn="ctr" indent="0" marL="0">
              <a:buNone/>
            </a:pPr>
            <a:r>
              <a:rPr lang="en-US" sz="900" dirty="0">
                <a:solidFill>
                  <a:srgbClr val="BFDBFE"/>
                </a:solidFill>
              </a:rPr>
              <a:t>OTS1</a:t>
            </a:r>
            <a:endParaRPr lang="en-US" sz="900" dirty="0"/>
          </a:p>
        </p:txBody>
      </p:sp>
      <p:sp>
        <p:nvSpPr>
          <p:cNvPr id="49" name="Shape 47"/>
          <p:cNvSpPr/>
          <p:nvPr/>
        </p:nvSpPr>
        <p:spPr>
          <a:xfrm>
            <a:off x="6400800" y="3218688"/>
            <a:ext cx="0" cy="256032"/>
          </a:xfrm>
          <a:prstGeom prst="line">
            <a:avLst/>
          </a:prstGeom>
          <a:noFill/>
          <a:ln w="12700">
            <a:solidFill>
              <a:srgbClr val="64748B"/>
            </a:solidFill>
            <a:prstDash val="solid"/>
          </a:ln>
        </p:spPr>
      </p:sp>
      <p:sp>
        <p:nvSpPr>
          <p:cNvPr id="50" name="Shape 48"/>
          <p:cNvSpPr/>
          <p:nvPr/>
        </p:nvSpPr>
        <p:spPr>
          <a:xfrm>
            <a:off x="6949440" y="3474720"/>
            <a:ext cx="731520" cy="320040"/>
          </a:xfrm>
          <a:prstGeom prst="rect">
            <a:avLst/>
          </a:prstGeom>
          <a:solidFill>
            <a:srgbClr val="0F1E3D"/>
          </a:solidFill>
          <a:ln w="12700">
            <a:solidFill>
              <a:srgbClr val="3B82F6"/>
            </a:solidFill>
            <a:prstDash val="solid"/>
          </a:ln>
        </p:spPr>
      </p:sp>
      <p:sp>
        <p:nvSpPr>
          <p:cNvPr id="51" name="Text 49"/>
          <p:cNvSpPr/>
          <p:nvPr/>
        </p:nvSpPr>
        <p:spPr>
          <a:xfrm>
            <a:off x="6949440" y="3474720"/>
            <a:ext cx="731520" cy="320040"/>
          </a:xfrm>
          <a:prstGeom prst="rect">
            <a:avLst/>
          </a:prstGeom>
          <a:noFill/>
          <a:ln/>
        </p:spPr>
        <p:txBody>
          <a:bodyPr wrap="square" lIns="0" tIns="0" rIns="0" bIns="0" rtlCol="0" anchor="ctr"/>
          <a:lstStyle/>
          <a:p>
            <a:pPr algn="ctr" indent="0" marL="0">
              <a:buNone/>
            </a:pPr>
            <a:r>
              <a:rPr lang="en-US" sz="900" dirty="0">
                <a:solidFill>
                  <a:srgbClr val="BFDBFE"/>
                </a:solidFill>
              </a:rPr>
              <a:t>OTS2</a:t>
            </a:r>
            <a:endParaRPr lang="en-US" sz="900" dirty="0"/>
          </a:p>
        </p:txBody>
      </p:sp>
      <p:sp>
        <p:nvSpPr>
          <p:cNvPr id="52" name="Shape 50"/>
          <p:cNvSpPr/>
          <p:nvPr/>
        </p:nvSpPr>
        <p:spPr>
          <a:xfrm>
            <a:off x="7315200" y="3218688"/>
            <a:ext cx="0" cy="256032"/>
          </a:xfrm>
          <a:prstGeom prst="line">
            <a:avLst/>
          </a:prstGeom>
          <a:noFill/>
          <a:ln w="12700">
            <a:solidFill>
              <a:srgbClr val="64748B"/>
            </a:solidFill>
            <a:prstDash val="solid"/>
          </a:ln>
        </p:spPr>
      </p:sp>
      <p:sp>
        <p:nvSpPr>
          <p:cNvPr id="53" name="Shape 51"/>
          <p:cNvSpPr/>
          <p:nvPr/>
        </p:nvSpPr>
        <p:spPr>
          <a:xfrm>
            <a:off x="7863840" y="3474720"/>
            <a:ext cx="731520" cy="320040"/>
          </a:xfrm>
          <a:prstGeom prst="rect">
            <a:avLst/>
          </a:prstGeom>
          <a:solidFill>
            <a:srgbClr val="0F1E3D"/>
          </a:solidFill>
          <a:ln w="12700">
            <a:solidFill>
              <a:srgbClr val="3B82F6"/>
            </a:solidFill>
            <a:prstDash val="solid"/>
          </a:ln>
        </p:spPr>
      </p:sp>
      <p:sp>
        <p:nvSpPr>
          <p:cNvPr id="54" name="Text 52"/>
          <p:cNvSpPr/>
          <p:nvPr/>
        </p:nvSpPr>
        <p:spPr>
          <a:xfrm>
            <a:off x="7863840" y="3474720"/>
            <a:ext cx="731520" cy="320040"/>
          </a:xfrm>
          <a:prstGeom prst="rect">
            <a:avLst/>
          </a:prstGeom>
          <a:noFill/>
          <a:ln/>
        </p:spPr>
        <p:txBody>
          <a:bodyPr wrap="square" lIns="0" tIns="0" rIns="0" bIns="0" rtlCol="0" anchor="ctr"/>
          <a:lstStyle/>
          <a:p>
            <a:pPr algn="ctr" indent="0" marL="0">
              <a:buNone/>
            </a:pPr>
            <a:r>
              <a:rPr lang="en-US" sz="900" dirty="0">
                <a:solidFill>
                  <a:srgbClr val="BFDBFE"/>
                </a:solidFill>
              </a:rPr>
              <a:t>OTS3</a:t>
            </a:r>
            <a:endParaRPr lang="en-US" sz="900" dirty="0"/>
          </a:p>
        </p:txBody>
      </p:sp>
      <p:sp>
        <p:nvSpPr>
          <p:cNvPr id="55" name="Shape 53"/>
          <p:cNvSpPr/>
          <p:nvPr/>
        </p:nvSpPr>
        <p:spPr>
          <a:xfrm>
            <a:off x="8229600" y="3218688"/>
            <a:ext cx="0" cy="256032"/>
          </a:xfrm>
          <a:prstGeom prst="line">
            <a:avLst/>
          </a:prstGeom>
          <a:noFill/>
          <a:ln w="12700">
            <a:solidFill>
              <a:srgbClr val="64748B"/>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E3D"/>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3B82F6"/>
          </a:solidFill>
          <a:ln w="12700">
            <a:solidFill>
              <a:srgbClr val="333333"/>
            </a:solidFill>
            <a:prstDash val="solid"/>
          </a:ln>
        </p:spPr>
      </p:sp>
      <p:sp>
        <p:nvSpPr>
          <p:cNvPr id="3" name="Shape 1"/>
          <p:cNvSpPr/>
          <p:nvPr/>
        </p:nvSpPr>
        <p:spPr>
          <a:xfrm>
            <a:off x="274320" y="137160"/>
            <a:ext cx="411480" cy="411480"/>
          </a:xfrm>
          <a:prstGeom prst="rect">
            <a:avLst/>
          </a:prstGeom>
          <a:solidFill>
            <a:srgbClr val="3B82F6"/>
          </a:solidFill>
          <a:ln w="12700">
            <a:solidFill>
              <a:srgbClr val="333333"/>
            </a:solidFill>
            <a:prstDash val="solid"/>
          </a:ln>
        </p:spPr>
      </p:sp>
      <p:sp>
        <p:nvSpPr>
          <p:cNvPr id="4" name="Text 2"/>
          <p:cNvSpPr/>
          <p:nvPr/>
        </p:nvSpPr>
        <p:spPr>
          <a:xfrm>
            <a:off x="274320" y="137160"/>
            <a:ext cx="411480" cy="411480"/>
          </a:xfrm>
          <a:prstGeom prst="rect">
            <a:avLst/>
          </a:prstGeom>
          <a:noFill/>
          <a:ln/>
        </p:spPr>
        <p:txBody>
          <a:bodyPr wrap="square" lIns="0" tIns="0" rIns="0" bIns="0" rtlCol="0" anchor="ctr"/>
          <a:lstStyle/>
          <a:p>
            <a:pPr algn="ctr" indent="0" marL="0">
              <a:buNone/>
            </a:pPr>
            <a:r>
              <a:rPr lang="en-US" sz="2000" b="1" dirty="0">
                <a:solidFill>
                  <a:srgbClr val="080E1A"/>
                </a:solidFill>
              </a:rPr>
              <a:t>3</a:t>
            </a:r>
            <a:endParaRPr lang="en-US" sz="2000" dirty="0"/>
          </a:p>
        </p:txBody>
      </p:sp>
      <p:sp>
        <p:nvSpPr>
          <p:cNvPr id="5" name="Text 3"/>
          <p:cNvSpPr/>
          <p:nvPr/>
        </p:nvSpPr>
        <p:spPr>
          <a:xfrm>
            <a:off x="777240" y="182880"/>
            <a:ext cx="8138160" cy="411480"/>
          </a:xfrm>
          <a:prstGeom prst="rect">
            <a:avLst/>
          </a:prstGeom>
          <a:noFill/>
          <a:ln/>
        </p:spPr>
        <p:txBody>
          <a:bodyPr wrap="square" lIns="0" tIns="0" rIns="0" bIns="0" rtlCol="0" anchor="ctr"/>
          <a:lstStyle/>
          <a:p>
            <a:pPr indent="0" marL="0">
              <a:buNone/>
            </a:pPr>
            <a:r>
              <a:rPr lang="en-US" sz="2200" b="1" dirty="0">
                <a:solidFill>
                  <a:srgbClr val="F8FAFC"/>
                </a:solidFill>
                <a:latin typeface="Arial" pitchFamily="34" charset="0"/>
                <a:ea typeface="Arial" pitchFamily="34" charset="-122"/>
                <a:cs typeface="Arial" pitchFamily="34" charset="-120"/>
              </a:rPr>
              <a:t>Firmar el primer mensaje — usando OTS₀</a:t>
            </a:r>
            <a:endParaRPr lang="en-US" sz="2200" dirty="0"/>
          </a:p>
        </p:txBody>
      </p:sp>
      <p:sp>
        <p:nvSpPr>
          <p:cNvPr id="6" name="Shape 4"/>
          <p:cNvSpPr/>
          <p:nvPr/>
        </p:nvSpPr>
        <p:spPr>
          <a:xfrm>
            <a:off x="274320" y="658368"/>
            <a:ext cx="8412480" cy="0"/>
          </a:xfrm>
          <a:prstGeom prst="line">
            <a:avLst/>
          </a:prstGeom>
          <a:noFill/>
          <a:ln w="12700">
            <a:solidFill>
              <a:srgbClr val="1E3A5F"/>
            </a:solidFill>
            <a:prstDash val="solid"/>
          </a:ln>
        </p:spPr>
      </p:sp>
      <p:sp>
        <p:nvSpPr>
          <p:cNvPr id="7" name="Shape 5"/>
          <p:cNvSpPr/>
          <p:nvPr/>
        </p:nvSpPr>
        <p:spPr>
          <a:xfrm>
            <a:off x="274320" y="749808"/>
            <a:ext cx="8412480" cy="438912"/>
          </a:xfrm>
          <a:prstGeom prst="rect">
            <a:avLst/>
          </a:prstGeom>
          <a:solidFill>
            <a:srgbClr val="0A0F1A"/>
          </a:solidFill>
          <a:ln w="12700">
            <a:solidFill>
              <a:srgbClr val="3B82F6"/>
            </a:solidFill>
            <a:prstDash val="solid"/>
          </a:ln>
        </p:spPr>
      </p:sp>
      <p:sp>
        <p:nvSpPr>
          <p:cNvPr id="8" name="Text 6"/>
          <p:cNvSpPr/>
          <p:nvPr/>
        </p:nvSpPr>
        <p:spPr>
          <a:xfrm>
            <a:off x="274320" y="749808"/>
            <a:ext cx="8412480" cy="438912"/>
          </a:xfrm>
          <a:prstGeom prst="rect">
            <a:avLst/>
          </a:prstGeom>
          <a:noFill/>
          <a:ln/>
        </p:spPr>
        <p:txBody>
          <a:bodyPr wrap="square" lIns="101600" tIns="101600" rIns="101600" bIns="101600" rtlCol="0" anchor="ctr"/>
          <a:lstStyle/>
          <a:p>
            <a:pPr indent="0" marL="0">
              <a:buNone/>
            </a:pPr>
            <a:r>
              <a:rPr lang="en-US" sz="1200" dirty="0">
                <a:solidFill>
                  <a:srgbClr val="FDE68A"/>
                </a:solidFill>
              </a:rPr>
              <a:t>Mensaje a firmar:  "Transfiero 100 ETH a 0x1234...abcd"   →   m = Hash(mensaje) = 9d3e4f...</a:t>
            </a:r>
            <a:endParaRPr lang="en-US" sz="1200" dirty="0"/>
          </a:p>
        </p:txBody>
      </p:sp>
      <p:sp>
        <p:nvSpPr>
          <p:cNvPr id="9" name="Text 7"/>
          <p:cNvSpPr/>
          <p:nvPr/>
        </p:nvSpPr>
        <p:spPr>
          <a:xfrm>
            <a:off x="274320" y="1298448"/>
            <a:ext cx="8412480" cy="292608"/>
          </a:xfrm>
          <a:prstGeom prst="rect">
            <a:avLst/>
          </a:prstGeom>
          <a:noFill/>
          <a:ln/>
        </p:spPr>
        <p:txBody>
          <a:bodyPr wrap="square" lIns="0" tIns="0" rIns="0" bIns="0" rtlCol="0" anchor="ctr"/>
          <a:lstStyle/>
          <a:p>
            <a:pPr indent="0" marL="0">
              <a:buNone/>
            </a:pPr>
            <a:r>
              <a:rPr lang="en-US" sz="1300" b="1" dirty="0">
                <a:solidFill>
                  <a:srgbClr val="BFDBFE"/>
                </a:solidFill>
              </a:rPr>
              <a:t>La firma XMSS tiene 3 componentes:</a:t>
            </a:r>
            <a:endParaRPr lang="en-US" sz="1300" dirty="0"/>
          </a:p>
        </p:txBody>
      </p:sp>
      <p:sp>
        <p:nvSpPr>
          <p:cNvPr id="10" name="Shape 8"/>
          <p:cNvSpPr/>
          <p:nvPr/>
        </p:nvSpPr>
        <p:spPr>
          <a:xfrm>
            <a:off x="274320" y="1664208"/>
            <a:ext cx="8412480" cy="932688"/>
          </a:xfrm>
          <a:prstGeom prst="rect">
            <a:avLst/>
          </a:prstGeom>
          <a:solidFill>
            <a:srgbClr val="080E1A"/>
          </a:solidFill>
          <a:ln w="19050">
            <a:solidFill>
              <a:srgbClr val="F59E0B"/>
            </a:solidFill>
            <a:prstDash val="solid"/>
          </a:ln>
        </p:spPr>
      </p:sp>
      <p:sp>
        <p:nvSpPr>
          <p:cNvPr id="11" name="Shape 9"/>
          <p:cNvSpPr/>
          <p:nvPr/>
        </p:nvSpPr>
        <p:spPr>
          <a:xfrm>
            <a:off x="274320" y="1664208"/>
            <a:ext cx="502920" cy="932688"/>
          </a:xfrm>
          <a:prstGeom prst="rect">
            <a:avLst/>
          </a:prstGeom>
          <a:solidFill>
            <a:srgbClr val="F59E0B">
              <a:alpha val="75000"/>
            </a:srgbClr>
          </a:solidFill>
          <a:ln w="12700">
            <a:solidFill>
              <a:srgbClr val="333333"/>
            </a:solidFill>
            <a:prstDash val="solid"/>
          </a:ln>
        </p:spPr>
      </p:sp>
      <p:sp>
        <p:nvSpPr>
          <p:cNvPr id="12" name="Text 10"/>
          <p:cNvSpPr/>
          <p:nvPr/>
        </p:nvSpPr>
        <p:spPr>
          <a:xfrm>
            <a:off x="274320" y="1664208"/>
            <a:ext cx="502920" cy="932688"/>
          </a:xfrm>
          <a:prstGeom prst="rect">
            <a:avLst/>
          </a:prstGeom>
          <a:noFill/>
          <a:ln/>
        </p:spPr>
        <p:txBody>
          <a:bodyPr wrap="square" lIns="0" tIns="0" rIns="0" bIns="0" rtlCol="0" anchor="ctr"/>
          <a:lstStyle/>
          <a:p>
            <a:pPr algn="ctr" indent="0" marL="0">
              <a:buNone/>
            </a:pPr>
            <a:r>
              <a:rPr lang="en-US" sz="2200" b="1" dirty="0">
                <a:solidFill>
                  <a:srgbClr val="F8FAFC"/>
                </a:solidFill>
                <a:latin typeface="Arial Black" pitchFamily="34" charset="0"/>
                <a:ea typeface="Arial Black" pitchFamily="34" charset="-122"/>
                <a:cs typeface="Arial Black" pitchFamily="34" charset="-120"/>
              </a:rPr>
              <a:t>A</a:t>
            </a:r>
            <a:endParaRPr lang="en-US" sz="2200" dirty="0"/>
          </a:p>
        </p:txBody>
      </p:sp>
      <p:sp>
        <p:nvSpPr>
          <p:cNvPr id="13" name="Text 11"/>
          <p:cNvSpPr/>
          <p:nvPr/>
        </p:nvSpPr>
        <p:spPr>
          <a:xfrm>
            <a:off x="868680" y="1700784"/>
            <a:ext cx="2286000" cy="347472"/>
          </a:xfrm>
          <a:prstGeom prst="rect">
            <a:avLst/>
          </a:prstGeom>
          <a:noFill/>
          <a:ln/>
        </p:spPr>
        <p:txBody>
          <a:bodyPr wrap="square" lIns="0" tIns="0" rIns="0" bIns="0" rtlCol="0" anchor="ctr"/>
          <a:lstStyle/>
          <a:p>
            <a:pPr indent="0" marL="0">
              <a:buNone/>
            </a:pPr>
            <a:r>
              <a:rPr lang="en-US" sz="1300" b="1" dirty="0">
                <a:solidFill>
                  <a:srgbClr val="F59E0B"/>
                </a:solidFill>
              </a:rPr>
              <a:t>Índice</a:t>
            </a:r>
            <a:endParaRPr lang="en-US" sz="1300" dirty="0"/>
          </a:p>
        </p:txBody>
      </p:sp>
      <p:sp>
        <p:nvSpPr>
          <p:cNvPr id="14" name="Text 12"/>
          <p:cNvSpPr/>
          <p:nvPr/>
        </p:nvSpPr>
        <p:spPr>
          <a:xfrm>
            <a:off x="868680" y="2011680"/>
            <a:ext cx="4114800" cy="530352"/>
          </a:xfrm>
          <a:prstGeom prst="rect">
            <a:avLst/>
          </a:prstGeom>
          <a:noFill/>
          <a:ln/>
        </p:spPr>
        <p:txBody>
          <a:bodyPr wrap="square" lIns="0" tIns="0" rIns="0" bIns="0" rtlCol="0" anchor="ctr"/>
          <a:lstStyle/>
          <a:p>
            <a:pPr indent="0" marL="0">
              <a:buNone/>
            </a:pPr>
            <a:r>
              <a:rPr lang="en-US" sz="1050" dirty="0">
                <a:solidFill>
                  <a:srgbClr val="BFDBFE"/>
                </a:solidFill>
              </a:rPr>
              <a:t>idx = 0</a:t>
            </a:r>
            <a:endParaRPr lang="en-US" sz="1050" dirty="0"/>
          </a:p>
          <a:p>
            <a:pPr indent="0" marL="0">
              <a:buNone/>
            </a:pPr>
            <a:r>
              <a:rPr lang="en-US" sz="1050" dirty="0">
                <a:solidFill>
                  <a:srgbClr val="BFDBFE"/>
                </a:solidFill>
              </a:rPr>
              <a:t>→ Indica que se usó OTS₀</a:t>
            </a:r>
            <a:endParaRPr lang="en-US" sz="1050" dirty="0"/>
          </a:p>
        </p:txBody>
      </p:sp>
      <p:sp>
        <p:nvSpPr>
          <p:cNvPr id="15" name="Shape 13"/>
          <p:cNvSpPr/>
          <p:nvPr/>
        </p:nvSpPr>
        <p:spPr>
          <a:xfrm>
            <a:off x="5074920" y="1755648"/>
            <a:ext cx="3520440" cy="749808"/>
          </a:xfrm>
          <a:prstGeom prst="rect">
            <a:avLst/>
          </a:prstGeom>
          <a:solidFill>
            <a:srgbClr val="0A1628"/>
          </a:solidFill>
          <a:ln w="12700">
            <a:solidFill>
              <a:srgbClr val="1E3A5F"/>
            </a:solidFill>
            <a:prstDash val="solid"/>
          </a:ln>
        </p:spPr>
      </p:sp>
      <p:sp>
        <p:nvSpPr>
          <p:cNvPr id="16" name="Text 14"/>
          <p:cNvSpPr/>
          <p:nvPr/>
        </p:nvSpPr>
        <p:spPr>
          <a:xfrm>
            <a:off x="5074920" y="1755648"/>
            <a:ext cx="3520440" cy="749808"/>
          </a:xfrm>
          <a:prstGeom prst="rect">
            <a:avLst/>
          </a:prstGeom>
          <a:noFill/>
          <a:ln/>
        </p:spPr>
        <p:txBody>
          <a:bodyPr wrap="square" lIns="76200" tIns="76200" rIns="76200" bIns="76200" rtlCol="0" anchor="ctr"/>
          <a:lstStyle/>
          <a:p>
            <a:pPr indent="0" marL="0">
              <a:buNone/>
            </a:pPr>
            <a:r>
              <a:rPr lang="en-US" sz="1100" dirty="0">
                <a:solidFill>
                  <a:srgbClr val="64748B"/>
                </a:solidFill>
              </a:rPr>
              <a:t>💡 El receptor sabe qué hoja buscar en el árbol</a:t>
            </a:r>
            <a:endParaRPr lang="en-US" sz="1100" dirty="0"/>
          </a:p>
        </p:txBody>
      </p:sp>
      <p:sp>
        <p:nvSpPr>
          <p:cNvPr id="17" name="Shape 15"/>
          <p:cNvSpPr/>
          <p:nvPr/>
        </p:nvSpPr>
        <p:spPr>
          <a:xfrm>
            <a:off x="274320" y="2715768"/>
            <a:ext cx="8412480" cy="932688"/>
          </a:xfrm>
          <a:prstGeom prst="rect">
            <a:avLst/>
          </a:prstGeom>
          <a:solidFill>
            <a:srgbClr val="080E1A"/>
          </a:solidFill>
          <a:ln w="19050">
            <a:solidFill>
              <a:srgbClr val="3B82F6"/>
            </a:solidFill>
            <a:prstDash val="solid"/>
          </a:ln>
        </p:spPr>
      </p:sp>
      <p:sp>
        <p:nvSpPr>
          <p:cNvPr id="18" name="Shape 16"/>
          <p:cNvSpPr/>
          <p:nvPr/>
        </p:nvSpPr>
        <p:spPr>
          <a:xfrm>
            <a:off x="274320" y="2715768"/>
            <a:ext cx="502920" cy="932688"/>
          </a:xfrm>
          <a:prstGeom prst="rect">
            <a:avLst/>
          </a:prstGeom>
          <a:solidFill>
            <a:srgbClr val="3B82F6">
              <a:alpha val="75000"/>
            </a:srgbClr>
          </a:solidFill>
          <a:ln w="12700">
            <a:solidFill>
              <a:srgbClr val="333333"/>
            </a:solidFill>
            <a:prstDash val="solid"/>
          </a:ln>
        </p:spPr>
      </p:sp>
      <p:sp>
        <p:nvSpPr>
          <p:cNvPr id="19" name="Text 17"/>
          <p:cNvSpPr/>
          <p:nvPr/>
        </p:nvSpPr>
        <p:spPr>
          <a:xfrm>
            <a:off x="274320" y="2715768"/>
            <a:ext cx="502920" cy="932688"/>
          </a:xfrm>
          <a:prstGeom prst="rect">
            <a:avLst/>
          </a:prstGeom>
          <a:noFill/>
          <a:ln/>
        </p:spPr>
        <p:txBody>
          <a:bodyPr wrap="square" lIns="0" tIns="0" rIns="0" bIns="0" rtlCol="0" anchor="ctr"/>
          <a:lstStyle/>
          <a:p>
            <a:pPr algn="ctr" indent="0" marL="0">
              <a:buNone/>
            </a:pPr>
            <a:r>
              <a:rPr lang="en-US" sz="2200" b="1" dirty="0">
                <a:solidFill>
                  <a:srgbClr val="F8FAFC"/>
                </a:solidFill>
                <a:latin typeface="Arial Black" pitchFamily="34" charset="0"/>
                <a:ea typeface="Arial Black" pitchFamily="34" charset="-122"/>
                <a:cs typeface="Arial Black" pitchFamily="34" charset="-120"/>
              </a:rPr>
              <a:t>B</a:t>
            </a:r>
            <a:endParaRPr lang="en-US" sz="2200" dirty="0"/>
          </a:p>
        </p:txBody>
      </p:sp>
      <p:sp>
        <p:nvSpPr>
          <p:cNvPr id="20" name="Text 18"/>
          <p:cNvSpPr/>
          <p:nvPr/>
        </p:nvSpPr>
        <p:spPr>
          <a:xfrm>
            <a:off x="868680" y="2752344"/>
            <a:ext cx="2286000" cy="347472"/>
          </a:xfrm>
          <a:prstGeom prst="rect">
            <a:avLst/>
          </a:prstGeom>
          <a:noFill/>
          <a:ln/>
        </p:spPr>
        <p:txBody>
          <a:bodyPr wrap="square" lIns="0" tIns="0" rIns="0" bIns="0" rtlCol="0" anchor="ctr"/>
          <a:lstStyle/>
          <a:p>
            <a:pPr indent="0" marL="0">
              <a:buNone/>
            </a:pPr>
            <a:r>
              <a:rPr lang="en-US" sz="1300" b="1" dirty="0">
                <a:solidFill>
                  <a:srgbClr val="3B82F6"/>
                </a:solidFill>
              </a:rPr>
              <a:t>Firma OTS</a:t>
            </a:r>
            <a:endParaRPr lang="en-US" sz="1300" dirty="0"/>
          </a:p>
        </p:txBody>
      </p:sp>
      <p:sp>
        <p:nvSpPr>
          <p:cNvPr id="21" name="Text 19"/>
          <p:cNvSpPr/>
          <p:nvPr/>
        </p:nvSpPr>
        <p:spPr>
          <a:xfrm>
            <a:off x="868680" y="3063240"/>
            <a:ext cx="4114800" cy="530352"/>
          </a:xfrm>
          <a:prstGeom prst="rect">
            <a:avLst/>
          </a:prstGeom>
          <a:noFill/>
          <a:ln/>
        </p:spPr>
        <p:txBody>
          <a:bodyPr wrap="square" lIns="0" tIns="0" rIns="0" bIns="0" rtlCol="0" anchor="ctr"/>
          <a:lstStyle/>
          <a:p>
            <a:pPr indent="0" marL="0">
              <a:buNone/>
            </a:pPr>
            <a:r>
              <a:rPr lang="en-US" sz="1050" dirty="0">
                <a:solidFill>
                  <a:srgbClr val="BFDBFE"/>
                </a:solidFill>
              </a:rPr>
              <a:t>σ_OTS = Winternitz.Sign(sk₀, m)</a:t>
            </a:r>
            <a:endParaRPr lang="en-US" sz="1050" dirty="0"/>
          </a:p>
          <a:p>
            <a:pPr indent="0" marL="0">
              <a:buNone/>
            </a:pPr>
            <a:r>
              <a:rPr lang="en-US" sz="1050" dirty="0">
                <a:solidFill>
                  <a:srgbClr val="BFDBFE"/>
                </a:solidFill>
              </a:rPr>
              <a:t>→ Revela parcialmente sk₀ según los bits de m</a:t>
            </a:r>
            <a:endParaRPr lang="en-US" sz="1050" dirty="0"/>
          </a:p>
        </p:txBody>
      </p:sp>
      <p:sp>
        <p:nvSpPr>
          <p:cNvPr id="22" name="Shape 20"/>
          <p:cNvSpPr/>
          <p:nvPr/>
        </p:nvSpPr>
        <p:spPr>
          <a:xfrm>
            <a:off x="5074920" y="2807208"/>
            <a:ext cx="3520440" cy="749808"/>
          </a:xfrm>
          <a:prstGeom prst="rect">
            <a:avLst/>
          </a:prstGeom>
          <a:solidFill>
            <a:srgbClr val="0A1628"/>
          </a:solidFill>
          <a:ln w="12700">
            <a:solidFill>
              <a:srgbClr val="1E3A5F"/>
            </a:solidFill>
            <a:prstDash val="solid"/>
          </a:ln>
        </p:spPr>
      </p:sp>
      <p:sp>
        <p:nvSpPr>
          <p:cNvPr id="23" name="Text 21"/>
          <p:cNvSpPr/>
          <p:nvPr/>
        </p:nvSpPr>
        <p:spPr>
          <a:xfrm>
            <a:off x="5074920" y="2807208"/>
            <a:ext cx="3520440" cy="749808"/>
          </a:xfrm>
          <a:prstGeom prst="rect">
            <a:avLst/>
          </a:prstGeom>
          <a:noFill/>
          <a:ln/>
        </p:spPr>
        <p:txBody>
          <a:bodyPr wrap="square" lIns="76200" tIns="76200" rIns="76200" bIns="76200" rtlCol="0" anchor="ctr"/>
          <a:lstStyle/>
          <a:p>
            <a:pPr indent="0" marL="0">
              <a:buNone/>
            </a:pPr>
            <a:r>
              <a:rPr lang="en-US" sz="1100" dirty="0">
                <a:solidFill>
                  <a:srgbClr val="64748B"/>
                </a:solidFill>
              </a:rPr>
              <a:t>💡 Nunca se revela sk₀ completa — solo lo necesario para este mensaje. Ver ejemplo detallado en las próximas 4 slides →</a:t>
            </a:r>
            <a:endParaRPr lang="en-US" sz="1100" dirty="0"/>
          </a:p>
        </p:txBody>
      </p:sp>
      <p:sp>
        <p:nvSpPr>
          <p:cNvPr id="24" name="Shape 22"/>
          <p:cNvSpPr/>
          <p:nvPr/>
        </p:nvSpPr>
        <p:spPr>
          <a:xfrm>
            <a:off x="274320" y="3767328"/>
            <a:ext cx="8412480" cy="932688"/>
          </a:xfrm>
          <a:prstGeom prst="rect">
            <a:avLst/>
          </a:prstGeom>
          <a:solidFill>
            <a:srgbClr val="080E1A"/>
          </a:solidFill>
          <a:ln w="19050">
            <a:solidFill>
              <a:srgbClr val="10B981"/>
            </a:solidFill>
            <a:prstDash val="solid"/>
          </a:ln>
        </p:spPr>
      </p:sp>
      <p:sp>
        <p:nvSpPr>
          <p:cNvPr id="25" name="Shape 23"/>
          <p:cNvSpPr/>
          <p:nvPr/>
        </p:nvSpPr>
        <p:spPr>
          <a:xfrm>
            <a:off x="274320" y="3767328"/>
            <a:ext cx="502920" cy="932688"/>
          </a:xfrm>
          <a:prstGeom prst="rect">
            <a:avLst/>
          </a:prstGeom>
          <a:solidFill>
            <a:srgbClr val="10B981">
              <a:alpha val="75000"/>
            </a:srgbClr>
          </a:solidFill>
          <a:ln w="12700">
            <a:solidFill>
              <a:srgbClr val="333333"/>
            </a:solidFill>
            <a:prstDash val="solid"/>
          </a:ln>
        </p:spPr>
      </p:sp>
      <p:sp>
        <p:nvSpPr>
          <p:cNvPr id="26" name="Text 24"/>
          <p:cNvSpPr/>
          <p:nvPr/>
        </p:nvSpPr>
        <p:spPr>
          <a:xfrm>
            <a:off x="274320" y="3767328"/>
            <a:ext cx="502920" cy="932688"/>
          </a:xfrm>
          <a:prstGeom prst="rect">
            <a:avLst/>
          </a:prstGeom>
          <a:noFill/>
          <a:ln/>
        </p:spPr>
        <p:txBody>
          <a:bodyPr wrap="square" lIns="0" tIns="0" rIns="0" bIns="0" rtlCol="0" anchor="ctr"/>
          <a:lstStyle/>
          <a:p>
            <a:pPr algn="ctr" indent="0" marL="0">
              <a:buNone/>
            </a:pPr>
            <a:r>
              <a:rPr lang="en-US" sz="2200" b="1" dirty="0">
                <a:solidFill>
                  <a:srgbClr val="F8FAFC"/>
                </a:solidFill>
                <a:latin typeface="Arial Black" pitchFamily="34" charset="0"/>
                <a:ea typeface="Arial Black" pitchFamily="34" charset="-122"/>
                <a:cs typeface="Arial Black" pitchFamily="34" charset="-120"/>
              </a:rPr>
              <a:t>C</a:t>
            </a:r>
            <a:endParaRPr lang="en-US" sz="2200" dirty="0"/>
          </a:p>
        </p:txBody>
      </p:sp>
      <p:sp>
        <p:nvSpPr>
          <p:cNvPr id="27" name="Text 25"/>
          <p:cNvSpPr/>
          <p:nvPr/>
        </p:nvSpPr>
        <p:spPr>
          <a:xfrm>
            <a:off x="868680" y="3803904"/>
            <a:ext cx="2286000" cy="347472"/>
          </a:xfrm>
          <a:prstGeom prst="rect">
            <a:avLst/>
          </a:prstGeom>
          <a:noFill/>
          <a:ln/>
        </p:spPr>
        <p:txBody>
          <a:bodyPr wrap="square" lIns="0" tIns="0" rIns="0" bIns="0" rtlCol="0" anchor="ctr"/>
          <a:lstStyle/>
          <a:p>
            <a:pPr indent="0" marL="0">
              <a:buNone/>
            </a:pPr>
            <a:r>
              <a:rPr lang="en-US" sz="1300" b="1" dirty="0">
                <a:solidFill>
                  <a:srgbClr val="10B981"/>
                </a:solidFill>
              </a:rPr>
              <a:t>Camino de autenticación (Auth Path)</a:t>
            </a:r>
            <a:endParaRPr lang="en-US" sz="1300" dirty="0"/>
          </a:p>
        </p:txBody>
      </p:sp>
      <p:sp>
        <p:nvSpPr>
          <p:cNvPr id="28" name="Text 26"/>
          <p:cNvSpPr/>
          <p:nvPr/>
        </p:nvSpPr>
        <p:spPr>
          <a:xfrm>
            <a:off x="868680" y="4114800"/>
            <a:ext cx="4114800" cy="530352"/>
          </a:xfrm>
          <a:prstGeom prst="rect">
            <a:avLst/>
          </a:prstGeom>
          <a:noFill/>
          <a:ln/>
        </p:spPr>
        <p:txBody>
          <a:bodyPr wrap="square" lIns="0" tIns="0" rIns="0" bIns="0" rtlCol="0" anchor="ctr"/>
          <a:lstStyle/>
          <a:p>
            <a:pPr indent="0" marL="0">
              <a:buNone/>
            </a:pPr>
            <a:r>
              <a:rPr lang="en-US" sz="1050" dirty="0">
                <a:solidFill>
                  <a:srgbClr val="BFDBFE"/>
                </a:solidFill>
              </a:rPr>
              <a:t>auth = [ Hoja[1], Nodo[1,1] ]</a:t>
            </a:r>
            <a:endParaRPr lang="en-US" sz="1050" dirty="0"/>
          </a:p>
          <a:p>
            <a:pPr indent="0" marL="0">
              <a:buNone/>
            </a:pPr>
            <a:r>
              <a:rPr lang="en-US" sz="1050" dirty="0">
                <a:solidFill>
                  <a:srgbClr val="BFDBFE"/>
                </a:solidFill>
              </a:rPr>
              <a:t>→ Los 'hermanos' del camino desde OTS₀ hasta la Raíz</a:t>
            </a:r>
            <a:endParaRPr lang="en-US" sz="1050" dirty="0"/>
          </a:p>
        </p:txBody>
      </p:sp>
      <p:sp>
        <p:nvSpPr>
          <p:cNvPr id="29" name="Shape 27"/>
          <p:cNvSpPr/>
          <p:nvPr/>
        </p:nvSpPr>
        <p:spPr>
          <a:xfrm>
            <a:off x="5074920" y="3858768"/>
            <a:ext cx="3520440" cy="749808"/>
          </a:xfrm>
          <a:prstGeom prst="rect">
            <a:avLst/>
          </a:prstGeom>
          <a:solidFill>
            <a:srgbClr val="0A1628"/>
          </a:solidFill>
          <a:ln w="12700">
            <a:solidFill>
              <a:srgbClr val="1E3A5F"/>
            </a:solidFill>
            <a:prstDash val="solid"/>
          </a:ln>
        </p:spPr>
      </p:sp>
      <p:sp>
        <p:nvSpPr>
          <p:cNvPr id="30" name="Text 28"/>
          <p:cNvSpPr/>
          <p:nvPr/>
        </p:nvSpPr>
        <p:spPr>
          <a:xfrm>
            <a:off x="5074920" y="3858768"/>
            <a:ext cx="3520440" cy="749808"/>
          </a:xfrm>
          <a:prstGeom prst="rect">
            <a:avLst/>
          </a:prstGeom>
          <a:noFill/>
          <a:ln/>
        </p:spPr>
        <p:txBody>
          <a:bodyPr wrap="square" lIns="76200" tIns="76200" rIns="76200" bIns="76200" rtlCol="0" anchor="ctr"/>
          <a:lstStyle/>
          <a:p>
            <a:pPr indent="0" marL="0">
              <a:buNone/>
            </a:pPr>
            <a:r>
              <a:rPr lang="en-US" sz="1100" dirty="0">
                <a:solidFill>
                  <a:srgbClr val="64748B"/>
                </a:solidFill>
              </a:rPr>
              <a:t>💡 Con estos 2 hashes el verificador puede reconstruir la Raíz sin conocer el árbol completo</a:t>
            </a:r>
            <a:endParaRPr lang="en-US" sz="1100" dirty="0"/>
          </a:p>
        </p:txBody>
      </p:sp>
      <p:sp>
        <p:nvSpPr>
          <p:cNvPr id="31" name="Text 29"/>
          <p:cNvSpPr/>
          <p:nvPr/>
        </p:nvSpPr>
        <p:spPr>
          <a:xfrm>
            <a:off x="274320" y="4800600"/>
            <a:ext cx="8412480" cy="256032"/>
          </a:xfrm>
          <a:prstGeom prst="rect">
            <a:avLst/>
          </a:prstGeom>
          <a:noFill/>
          <a:ln/>
        </p:spPr>
        <p:txBody>
          <a:bodyPr wrap="square" lIns="0" tIns="0" rIns="0" bIns="0" rtlCol="0" anchor="ctr"/>
          <a:lstStyle/>
          <a:p>
            <a:pPr indent="0" marL="0">
              <a:buNone/>
            </a:pPr>
            <a:r>
              <a:rPr lang="en-US" sz="1050" dirty="0">
                <a:solidFill>
                  <a:srgbClr val="64748B"/>
                </a:solidFill>
              </a:rPr>
              <a:t>Estado actualizado: idx avanza de 0 → 1. OTS₀ nunca más se puede usar.</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E3D"/>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A78BFA"/>
          </a:solidFill>
          <a:ln w="12700">
            <a:solidFill>
              <a:srgbClr val="333333"/>
            </a:solidFill>
            <a:prstDash val="solid"/>
          </a:ln>
        </p:spPr>
      </p:sp>
      <p:sp>
        <p:nvSpPr>
          <p:cNvPr id="3" name="Shape 1"/>
          <p:cNvSpPr/>
          <p:nvPr/>
        </p:nvSpPr>
        <p:spPr>
          <a:xfrm>
            <a:off x="274320" y="137160"/>
            <a:ext cx="411480" cy="411480"/>
          </a:xfrm>
          <a:prstGeom prst="rect">
            <a:avLst/>
          </a:prstGeom>
          <a:solidFill>
            <a:srgbClr val="A78BFA"/>
          </a:solidFill>
          <a:ln w="12700">
            <a:solidFill>
              <a:srgbClr val="333333"/>
            </a:solidFill>
            <a:prstDash val="solid"/>
          </a:ln>
        </p:spPr>
      </p:sp>
      <p:sp>
        <p:nvSpPr>
          <p:cNvPr id="4" name="Text 2"/>
          <p:cNvSpPr/>
          <p:nvPr/>
        </p:nvSpPr>
        <p:spPr>
          <a:xfrm>
            <a:off x="274320" y="137160"/>
            <a:ext cx="411480" cy="411480"/>
          </a:xfrm>
          <a:prstGeom prst="rect">
            <a:avLst/>
          </a:prstGeom>
          <a:noFill/>
          <a:ln/>
        </p:spPr>
        <p:txBody>
          <a:bodyPr wrap="square" lIns="0" tIns="0" rIns="0" bIns="0" rtlCol="0" anchor="ctr"/>
          <a:lstStyle/>
          <a:p>
            <a:pPr algn="ctr" indent="0" marL="0">
              <a:buNone/>
            </a:pPr>
            <a:r>
              <a:rPr lang="en-US" sz="2000" b="1" dirty="0">
                <a:solidFill>
                  <a:srgbClr val="080E1A"/>
                </a:solidFill>
              </a:rPr>
              <a:t>4</a:t>
            </a:r>
            <a:endParaRPr lang="en-US" sz="2000" dirty="0"/>
          </a:p>
        </p:txBody>
      </p:sp>
      <p:sp>
        <p:nvSpPr>
          <p:cNvPr id="5" name="Text 3"/>
          <p:cNvSpPr/>
          <p:nvPr/>
        </p:nvSpPr>
        <p:spPr>
          <a:xfrm>
            <a:off x="777240" y="182880"/>
            <a:ext cx="8138160" cy="411480"/>
          </a:xfrm>
          <a:prstGeom prst="rect">
            <a:avLst/>
          </a:prstGeom>
          <a:noFill/>
          <a:ln/>
        </p:spPr>
        <p:txBody>
          <a:bodyPr wrap="square" lIns="0" tIns="0" rIns="0" bIns="0" rtlCol="0" anchor="ctr"/>
          <a:lstStyle/>
          <a:p>
            <a:pPr indent="0" marL="0">
              <a:buNone/>
            </a:pPr>
            <a:r>
              <a:rPr lang="en-US" sz="2200" b="1" dirty="0">
                <a:solidFill>
                  <a:srgbClr val="F8FAFC"/>
                </a:solidFill>
                <a:latin typeface="Arial" pitchFamily="34" charset="0"/>
                <a:ea typeface="Arial" pitchFamily="34" charset="-122"/>
                <a:cs typeface="Arial" pitchFamily="34" charset="-120"/>
              </a:rPr>
              <a:t>Verificar la firma</a:t>
            </a:r>
            <a:endParaRPr lang="en-US" sz="2200" dirty="0"/>
          </a:p>
        </p:txBody>
      </p:sp>
      <p:sp>
        <p:nvSpPr>
          <p:cNvPr id="6" name="Shape 4"/>
          <p:cNvSpPr/>
          <p:nvPr/>
        </p:nvSpPr>
        <p:spPr>
          <a:xfrm>
            <a:off x="274320" y="658368"/>
            <a:ext cx="8412480" cy="0"/>
          </a:xfrm>
          <a:prstGeom prst="line">
            <a:avLst/>
          </a:prstGeom>
          <a:noFill/>
          <a:ln w="12700">
            <a:solidFill>
              <a:srgbClr val="1E3A5F"/>
            </a:solidFill>
            <a:prstDash val="solid"/>
          </a:ln>
        </p:spPr>
      </p:sp>
      <p:sp>
        <p:nvSpPr>
          <p:cNvPr id="7" name="Text 5"/>
          <p:cNvSpPr/>
          <p:nvPr/>
        </p:nvSpPr>
        <p:spPr>
          <a:xfrm>
            <a:off x="274320" y="731520"/>
            <a:ext cx="8412480" cy="320040"/>
          </a:xfrm>
          <a:prstGeom prst="rect">
            <a:avLst/>
          </a:prstGeom>
          <a:noFill/>
          <a:ln/>
        </p:spPr>
        <p:txBody>
          <a:bodyPr wrap="square" lIns="0" tIns="0" rIns="0" bIns="0" rtlCol="0" anchor="ctr"/>
          <a:lstStyle/>
          <a:p>
            <a:pPr indent="0" marL="0">
              <a:buNone/>
            </a:pPr>
            <a:r>
              <a:rPr lang="en-US" sz="1250" dirty="0">
                <a:solidFill>
                  <a:srgbClr val="BFDBFE"/>
                </a:solidFill>
              </a:rPr>
              <a:t>El verificador tiene: el mensaje, la firma (idx + σ_OTS + auth_path) y la Raíz (clave pública XMSS).</a:t>
            </a:r>
            <a:endParaRPr lang="en-US" sz="1250" dirty="0"/>
          </a:p>
        </p:txBody>
      </p:sp>
      <p:sp>
        <p:nvSpPr>
          <p:cNvPr id="8" name="Shape 6"/>
          <p:cNvSpPr/>
          <p:nvPr/>
        </p:nvSpPr>
        <p:spPr>
          <a:xfrm>
            <a:off x="274320" y="1143000"/>
            <a:ext cx="8412480" cy="822960"/>
          </a:xfrm>
          <a:prstGeom prst="rect">
            <a:avLst/>
          </a:prstGeom>
          <a:solidFill>
            <a:srgbClr val="080E1A"/>
          </a:solidFill>
          <a:ln w="12700">
            <a:solidFill>
              <a:srgbClr val="A78BFA"/>
            </a:solidFill>
            <a:prstDash val="solid"/>
          </a:ln>
        </p:spPr>
      </p:sp>
      <p:sp>
        <p:nvSpPr>
          <p:cNvPr id="9" name="Shape 7"/>
          <p:cNvSpPr/>
          <p:nvPr/>
        </p:nvSpPr>
        <p:spPr>
          <a:xfrm>
            <a:off x="365760" y="1344168"/>
            <a:ext cx="384048" cy="384048"/>
          </a:xfrm>
          <a:prstGeom prst="ellipse">
            <a:avLst/>
          </a:prstGeom>
          <a:solidFill>
            <a:srgbClr val="A78BFA">
              <a:alpha val="80000"/>
            </a:srgbClr>
          </a:solidFill>
          <a:ln w="12700">
            <a:solidFill>
              <a:srgbClr val="333333"/>
            </a:solidFill>
            <a:prstDash val="solid"/>
          </a:ln>
        </p:spPr>
      </p:sp>
      <p:sp>
        <p:nvSpPr>
          <p:cNvPr id="10" name="Text 8"/>
          <p:cNvSpPr/>
          <p:nvPr/>
        </p:nvSpPr>
        <p:spPr>
          <a:xfrm>
            <a:off x="365760" y="1344168"/>
            <a:ext cx="384048" cy="384048"/>
          </a:xfrm>
          <a:prstGeom prst="rect">
            <a:avLst/>
          </a:prstGeom>
          <a:noFill/>
          <a:ln/>
        </p:spPr>
        <p:txBody>
          <a:bodyPr wrap="square" lIns="0" tIns="0" rIns="0" bIns="0" rtlCol="0" anchor="ctr"/>
          <a:lstStyle/>
          <a:p>
            <a:pPr algn="ctr" indent="0" marL="0">
              <a:buNone/>
            </a:pPr>
            <a:r>
              <a:rPr lang="en-US" sz="1400" b="1" dirty="0">
                <a:solidFill>
                  <a:srgbClr val="F8FAFC"/>
                </a:solidFill>
              </a:rPr>
              <a:t>1</a:t>
            </a:r>
            <a:endParaRPr lang="en-US" sz="1400" dirty="0"/>
          </a:p>
        </p:txBody>
      </p:sp>
      <p:sp>
        <p:nvSpPr>
          <p:cNvPr id="11" name="Text 9"/>
          <p:cNvSpPr/>
          <p:nvPr/>
        </p:nvSpPr>
        <p:spPr>
          <a:xfrm>
            <a:off x="841248" y="1179576"/>
            <a:ext cx="7754112" cy="292608"/>
          </a:xfrm>
          <a:prstGeom prst="rect">
            <a:avLst/>
          </a:prstGeom>
          <a:noFill/>
          <a:ln/>
        </p:spPr>
        <p:txBody>
          <a:bodyPr wrap="square" lIns="0" tIns="0" rIns="0" bIns="0" rtlCol="0" anchor="ctr"/>
          <a:lstStyle/>
          <a:p>
            <a:pPr indent="0" marL="0">
              <a:buNone/>
            </a:pPr>
            <a:r>
              <a:rPr lang="en-US" sz="1250" b="1" dirty="0">
                <a:solidFill>
                  <a:srgbClr val="C4B5FD"/>
                </a:solidFill>
              </a:rPr>
              <a:t>Recalcular pk_OTS desde σ_OTS</a:t>
            </a:r>
            <a:endParaRPr lang="en-US" sz="1250" dirty="0"/>
          </a:p>
        </p:txBody>
      </p:sp>
      <p:sp>
        <p:nvSpPr>
          <p:cNvPr id="12" name="Text 10"/>
          <p:cNvSpPr/>
          <p:nvPr/>
        </p:nvSpPr>
        <p:spPr>
          <a:xfrm>
            <a:off x="841248" y="1472184"/>
            <a:ext cx="7754112" cy="457200"/>
          </a:xfrm>
          <a:prstGeom prst="rect">
            <a:avLst/>
          </a:prstGeom>
          <a:noFill/>
          <a:ln/>
        </p:spPr>
        <p:txBody>
          <a:bodyPr wrap="square" lIns="0" tIns="0" rIns="0" bIns="0" rtlCol="0" anchor="ctr"/>
          <a:lstStyle/>
          <a:p>
            <a:pPr indent="0" marL="0">
              <a:buNone/>
            </a:pPr>
            <a:r>
              <a:rPr lang="en-US" sz="1100" dirty="0">
                <a:solidFill>
                  <a:srgbClr val="BFDBFE"/>
                </a:solidFill>
              </a:rPr>
              <a:t>Con la firma OTS y el mensaje, el verificador recalcula la clave pública OTS₀ usando las propiedades de Winternitz.</a:t>
            </a:r>
            <a:endParaRPr lang="en-US" sz="1100" dirty="0"/>
          </a:p>
        </p:txBody>
      </p:sp>
      <p:sp>
        <p:nvSpPr>
          <p:cNvPr id="13" name="Shape 11"/>
          <p:cNvSpPr/>
          <p:nvPr/>
        </p:nvSpPr>
        <p:spPr>
          <a:xfrm>
            <a:off x="274320" y="2075688"/>
            <a:ext cx="8412480" cy="822960"/>
          </a:xfrm>
          <a:prstGeom prst="rect">
            <a:avLst/>
          </a:prstGeom>
          <a:solidFill>
            <a:srgbClr val="080E1A"/>
          </a:solidFill>
          <a:ln w="12700">
            <a:solidFill>
              <a:srgbClr val="A78BFA"/>
            </a:solidFill>
            <a:prstDash val="solid"/>
          </a:ln>
        </p:spPr>
      </p:sp>
      <p:sp>
        <p:nvSpPr>
          <p:cNvPr id="14" name="Shape 12"/>
          <p:cNvSpPr/>
          <p:nvPr/>
        </p:nvSpPr>
        <p:spPr>
          <a:xfrm>
            <a:off x="365760" y="2276856"/>
            <a:ext cx="384048" cy="384048"/>
          </a:xfrm>
          <a:prstGeom prst="ellipse">
            <a:avLst/>
          </a:prstGeom>
          <a:solidFill>
            <a:srgbClr val="A78BFA">
              <a:alpha val="80000"/>
            </a:srgbClr>
          </a:solidFill>
          <a:ln w="12700">
            <a:solidFill>
              <a:srgbClr val="333333"/>
            </a:solidFill>
            <a:prstDash val="solid"/>
          </a:ln>
        </p:spPr>
      </p:sp>
      <p:sp>
        <p:nvSpPr>
          <p:cNvPr id="15" name="Text 13"/>
          <p:cNvSpPr/>
          <p:nvPr/>
        </p:nvSpPr>
        <p:spPr>
          <a:xfrm>
            <a:off x="365760" y="2276856"/>
            <a:ext cx="384048" cy="384048"/>
          </a:xfrm>
          <a:prstGeom prst="rect">
            <a:avLst/>
          </a:prstGeom>
          <a:noFill/>
          <a:ln/>
        </p:spPr>
        <p:txBody>
          <a:bodyPr wrap="square" lIns="0" tIns="0" rIns="0" bIns="0" rtlCol="0" anchor="ctr"/>
          <a:lstStyle/>
          <a:p>
            <a:pPr algn="ctr" indent="0" marL="0">
              <a:buNone/>
            </a:pPr>
            <a:r>
              <a:rPr lang="en-US" sz="1400" b="1" dirty="0">
                <a:solidFill>
                  <a:srgbClr val="F8FAFC"/>
                </a:solidFill>
              </a:rPr>
              <a:t>2</a:t>
            </a:r>
            <a:endParaRPr lang="en-US" sz="1400" dirty="0"/>
          </a:p>
        </p:txBody>
      </p:sp>
      <p:sp>
        <p:nvSpPr>
          <p:cNvPr id="16" name="Text 14"/>
          <p:cNvSpPr/>
          <p:nvPr/>
        </p:nvSpPr>
        <p:spPr>
          <a:xfrm>
            <a:off x="841248" y="2112264"/>
            <a:ext cx="7754112" cy="292608"/>
          </a:xfrm>
          <a:prstGeom prst="rect">
            <a:avLst/>
          </a:prstGeom>
          <a:noFill/>
          <a:ln/>
        </p:spPr>
        <p:txBody>
          <a:bodyPr wrap="square" lIns="0" tIns="0" rIns="0" bIns="0" rtlCol="0" anchor="ctr"/>
          <a:lstStyle/>
          <a:p>
            <a:pPr indent="0" marL="0">
              <a:buNone/>
            </a:pPr>
            <a:r>
              <a:rPr lang="en-US" sz="1250" b="1" dirty="0">
                <a:solidFill>
                  <a:srgbClr val="C4B5FD"/>
                </a:solidFill>
              </a:rPr>
              <a:t>Calcular Hoja[0]</a:t>
            </a:r>
            <a:endParaRPr lang="en-US" sz="1250" dirty="0"/>
          </a:p>
        </p:txBody>
      </p:sp>
      <p:sp>
        <p:nvSpPr>
          <p:cNvPr id="17" name="Text 15"/>
          <p:cNvSpPr/>
          <p:nvPr/>
        </p:nvSpPr>
        <p:spPr>
          <a:xfrm>
            <a:off x="841248" y="2404872"/>
            <a:ext cx="7754112" cy="457200"/>
          </a:xfrm>
          <a:prstGeom prst="rect">
            <a:avLst/>
          </a:prstGeom>
          <a:noFill/>
          <a:ln/>
        </p:spPr>
        <p:txBody>
          <a:bodyPr wrap="square" lIns="0" tIns="0" rIns="0" bIns="0" rtlCol="0" anchor="ctr"/>
          <a:lstStyle/>
          <a:p>
            <a:pPr indent="0" marL="0">
              <a:buNone/>
            </a:pPr>
            <a:r>
              <a:rPr lang="en-US" sz="1100" dirty="0">
                <a:solidFill>
                  <a:srgbClr val="BFDBFE"/>
                </a:solidFill>
              </a:rPr>
              <a:t>Hoja[0] = Hash(pk_OTS₀ recalculada)</a:t>
            </a:r>
            <a:endParaRPr lang="en-US" sz="1100" dirty="0"/>
          </a:p>
        </p:txBody>
      </p:sp>
      <p:sp>
        <p:nvSpPr>
          <p:cNvPr id="18" name="Shape 16"/>
          <p:cNvSpPr/>
          <p:nvPr/>
        </p:nvSpPr>
        <p:spPr>
          <a:xfrm>
            <a:off x="274320" y="3008376"/>
            <a:ext cx="8412480" cy="822960"/>
          </a:xfrm>
          <a:prstGeom prst="rect">
            <a:avLst/>
          </a:prstGeom>
          <a:solidFill>
            <a:srgbClr val="080E1A"/>
          </a:solidFill>
          <a:ln w="12700">
            <a:solidFill>
              <a:srgbClr val="A78BFA"/>
            </a:solidFill>
            <a:prstDash val="solid"/>
          </a:ln>
        </p:spPr>
      </p:sp>
      <p:sp>
        <p:nvSpPr>
          <p:cNvPr id="19" name="Shape 17"/>
          <p:cNvSpPr/>
          <p:nvPr/>
        </p:nvSpPr>
        <p:spPr>
          <a:xfrm>
            <a:off x="365760" y="3209544"/>
            <a:ext cx="384048" cy="384048"/>
          </a:xfrm>
          <a:prstGeom prst="ellipse">
            <a:avLst/>
          </a:prstGeom>
          <a:solidFill>
            <a:srgbClr val="A78BFA">
              <a:alpha val="80000"/>
            </a:srgbClr>
          </a:solidFill>
          <a:ln w="12700">
            <a:solidFill>
              <a:srgbClr val="333333"/>
            </a:solidFill>
            <a:prstDash val="solid"/>
          </a:ln>
        </p:spPr>
      </p:sp>
      <p:sp>
        <p:nvSpPr>
          <p:cNvPr id="20" name="Text 18"/>
          <p:cNvSpPr/>
          <p:nvPr/>
        </p:nvSpPr>
        <p:spPr>
          <a:xfrm>
            <a:off x="365760" y="3209544"/>
            <a:ext cx="384048" cy="384048"/>
          </a:xfrm>
          <a:prstGeom prst="rect">
            <a:avLst/>
          </a:prstGeom>
          <a:noFill/>
          <a:ln/>
        </p:spPr>
        <p:txBody>
          <a:bodyPr wrap="square" lIns="0" tIns="0" rIns="0" bIns="0" rtlCol="0" anchor="ctr"/>
          <a:lstStyle/>
          <a:p>
            <a:pPr algn="ctr" indent="0" marL="0">
              <a:buNone/>
            </a:pPr>
            <a:r>
              <a:rPr lang="en-US" sz="1400" b="1" dirty="0">
                <a:solidFill>
                  <a:srgbClr val="F8FAFC"/>
                </a:solidFill>
              </a:rPr>
              <a:t>3</a:t>
            </a:r>
            <a:endParaRPr lang="en-US" sz="1400" dirty="0"/>
          </a:p>
        </p:txBody>
      </p:sp>
      <p:sp>
        <p:nvSpPr>
          <p:cNvPr id="21" name="Text 19"/>
          <p:cNvSpPr/>
          <p:nvPr/>
        </p:nvSpPr>
        <p:spPr>
          <a:xfrm>
            <a:off x="841248" y="3044952"/>
            <a:ext cx="7754112" cy="292608"/>
          </a:xfrm>
          <a:prstGeom prst="rect">
            <a:avLst/>
          </a:prstGeom>
          <a:noFill/>
          <a:ln/>
        </p:spPr>
        <p:txBody>
          <a:bodyPr wrap="square" lIns="0" tIns="0" rIns="0" bIns="0" rtlCol="0" anchor="ctr"/>
          <a:lstStyle/>
          <a:p>
            <a:pPr indent="0" marL="0">
              <a:buNone/>
            </a:pPr>
            <a:r>
              <a:rPr lang="en-US" sz="1250" b="1" dirty="0">
                <a:solidFill>
                  <a:srgbClr val="C4B5FD"/>
                </a:solidFill>
              </a:rPr>
              <a:t>Subir por el árbol con auth_path</a:t>
            </a:r>
            <a:endParaRPr lang="en-US" sz="1250" dirty="0"/>
          </a:p>
        </p:txBody>
      </p:sp>
      <p:sp>
        <p:nvSpPr>
          <p:cNvPr id="22" name="Text 20"/>
          <p:cNvSpPr/>
          <p:nvPr/>
        </p:nvSpPr>
        <p:spPr>
          <a:xfrm>
            <a:off x="841248" y="3337560"/>
            <a:ext cx="7754112" cy="457200"/>
          </a:xfrm>
          <a:prstGeom prst="rect">
            <a:avLst/>
          </a:prstGeom>
          <a:noFill/>
          <a:ln/>
        </p:spPr>
        <p:txBody>
          <a:bodyPr wrap="square" lIns="0" tIns="0" rIns="0" bIns="0" rtlCol="0" anchor="ctr"/>
          <a:lstStyle/>
          <a:p>
            <a:pPr indent="0" marL="0">
              <a:buNone/>
            </a:pPr>
            <a:r>
              <a:rPr lang="en-US" sz="1100" dirty="0">
                <a:solidFill>
                  <a:srgbClr val="BFDBFE"/>
                </a:solidFill>
              </a:rPr>
              <a:t>Nodo[1,0] = Hash(Hoja[0] ‖ auth[0])   donde auth[0] = Hoja[1]</a:t>
            </a:r>
            <a:endParaRPr lang="en-US" sz="1100" dirty="0"/>
          </a:p>
          <a:p>
            <a:pPr indent="0" marL="0">
              <a:buNone/>
            </a:pPr>
            <a:r>
              <a:rPr lang="en-US" sz="1100" dirty="0">
                <a:solidFill>
                  <a:srgbClr val="BFDBFE"/>
                </a:solidFill>
              </a:rPr>
              <a:t>Raíz'   = Hash(Nodo[1,0] ‖ auth[1])   donde auth[1] = Nodo[1,1]</a:t>
            </a:r>
            <a:endParaRPr lang="en-US" sz="1100" dirty="0"/>
          </a:p>
        </p:txBody>
      </p:sp>
      <p:sp>
        <p:nvSpPr>
          <p:cNvPr id="23" name="Shape 21"/>
          <p:cNvSpPr/>
          <p:nvPr/>
        </p:nvSpPr>
        <p:spPr>
          <a:xfrm>
            <a:off x="274320" y="3941064"/>
            <a:ext cx="8412480" cy="822960"/>
          </a:xfrm>
          <a:prstGeom prst="rect">
            <a:avLst/>
          </a:prstGeom>
          <a:solidFill>
            <a:srgbClr val="0A1A0A"/>
          </a:solidFill>
          <a:ln w="25400">
            <a:solidFill>
              <a:srgbClr val="10B981"/>
            </a:solidFill>
            <a:prstDash val="solid"/>
          </a:ln>
        </p:spPr>
      </p:sp>
      <p:sp>
        <p:nvSpPr>
          <p:cNvPr id="24" name="Shape 22"/>
          <p:cNvSpPr/>
          <p:nvPr/>
        </p:nvSpPr>
        <p:spPr>
          <a:xfrm>
            <a:off x="365760" y="4142232"/>
            <a:ext cx="384048" cy="384048"/>
          </a:xfrm>
          <a:prstGeom prst="ellipse">
            <a:avLst/>
          </a:prstGeom>
          <a:solidFill>
            <a:srgbClr val="A78BFA">
              <a:alpha val="80000"/>
            </a:srgbClr>
          </a:solidFill>
          <a:ln w="12700">
            <a:solidFill>
              <a:srgbClr val="333333"/>
            </a:solidFill>
            <a:prstDash val="solid"/>
          </a:ln>
        </p:spPr>
      </p:sp>
      <p:sp>
        <p:nvSpPr>
          <p:cNvPr id="25" name="Text 23"/>
          <p:cNvSpPr/>
          <p:nvPr/>
        </p:nvSpPr>
        <p:spPr>
          <a:xfrm>
            <a:off x="365760" y="4142232"/>
            <a:ext cx="384048" cy="384048"/>
          </a:xfrm>
          <a:prstGeom prst="rect">
            <a:avLst/>
          </a:prstGeom>
          <a:noFill/>
          <a:ln/>
        </p:spPr>
        <p:txBody>
          <a:bodyPr wrap="square" lIns="0" tIns="0" rIns="0" bIns="0" rtlCol="0" anchor="ctr"/>
          <a:lstStyle/>
          <a:p>
            <a:pPr algn="ctr" indent="0" marL="0">
              <a:buNone/>
            </a:pPr>
            <a:r>
              <a:rPr lang="en-US" sz="1400" b="1" dirty="0">
                <a:solidFill>
                  <a:srgbClr val="F8FAFC"/>
                </a:solidFill>
              </a:rPr>
              <a:t>4</a:t>
            </a:r>
            <a:endParaRPr lang="en-US" sz="1400" dirty="0"/>
          </a:p>
        </p:txBody>
      </p:sp>
      <p:sp>
        <p:nvSpPr>
          <p:cNvPr id="26" name="Text 24"/>
          <p:cNvSpPr/>
          <p:nvPr/>
        </p:nvSpPr>
        <p:spPr>
          <a:xfrm>
            <a:off x="841248" y="3977640"/>
            <a:ext cx="7754112" cy="292608"/>
          </a:xfrm>
          <a:prstGeom prst="rect">
            <a:avLst/>
          </a:prstGeom>
          <a:noFill/>
          <a:ln/>
        </p:spPr>
        <p:txBody>
          <a:bodyPr wrap="square" lIns="0" tIns="0" rIns="0" bIns="0" rtlCol="0" anchor="ctr"/>
          <a:lstStyle/>
          <a:p>
            <a:pPr indent="0" marL="0">
              <a:buNone/>
            </a:pPr>
            <a:r>
              <a:rPr lang="en-US" sz="1250" b="1" dirty="0">
                <a:solidFill>
                  <a:srgbClr val="10B981"/>
                </a:solidFill>
              </a:rPr>
              <a:t>Comparar raíces</a:t>
            </a:r>
            <a:endParaRPr lang="en-US" sz="1250" dirty="0"/>
          </a:p>
        </p:txBody>
      </p:sp>
      <p:sp>
        <p:nvSpPr>
          <p:cNvPr id="27" name="Text 25"/>
          <p:cNvSpPr/>
          <p:nvPr/>
        </p:nvSpPr>
        <p:spPr>
          <a:xfrm>
            <a:off x="841248" y="4270248"/>
            <a:ext cx="7754112" cy="457200"/>
          </a:xfrm>
          <a:prstGeom prst="rect">
            <a:avLst/>
          </a:prstGeom>
          <a:noFill/>
          <a:ln/>
        </p:spPr>
        <p:txBody>
          <a:bodyPr wrap="square" lIns="0" tIns="0" rIns="0" bIns="0" rtlCol="0" anchor="ctr"/>
          <a:lstStyle/>
          <a:p>
            <a:pPr indent="0" marL="0">
              <a:buNone/>
            </a:pPr>
            <a:r>
              <a:rPr lang="en-US" sz="1100" dirty="0">
                <a:solidFill>
                  <a:srgbClr val="BFDBFE"/>
                </a:solidFill>
              </a:rPr>
              <a:t>Si Raíz' == Raíz (clave pública)  →  ✅ FIRMA VÁLIDA</a:t>
            </a:r>
            <a:endParaRPr lang="en-US" sz="1100" dirty="0"/>
          </a:p>
          <a:p>
            <a:pPr indent="0" marL="0">
              <a:buNone/>
            </a:pPr>
            <a:r>
              <a:rPr lang="en-US" sz="1100" dirty="0">
                <a:solidFill>
                  <a:srgbClr val="BFDBFE"/>
                </a:solidFill>
              </a:rPr>
              <a:t>Si Raíz' ≠  Raíz                  →  ❌ FIRMA INVÁLIDA</a:t>
            </a:r>
            <a:endParaRPr lang="en-US" sz="1100" dirty="0"/>
          </a:p>
        </p:txBody>
      </p:sp>
      <p:sp>
        <p:nvSpPr>
          <p:cNvPr id="28" name="Shape 26"/>
          <p:cNvSpPr/>
          <p:nvPr/>
        </p:nvSpPr>
        <p:spPr>
          <a:xfrm>
            <a:off x="274320" y="4773168"/>
            <a:ext cx="8412480" cy="292608"/>
          </a:xfrm>
          <a:prstGeom prst="rect">
            <a:avLst/>
          </a:prstGeom>
          <a:solidFill>
            <a:srgbClr val="0A1628"/>
          </a:solidFill>
          <a:ln w="12700">
            <a:solidFill>
              <a:srgbClr val="333333"/>
            </a:solidFill>
            <a:prstDash val="solid"/>
          </a:ln>
        </p:spPr>
      </p:sp>
      <p:sp>
        <p:nvSpPr>
          <p:cNvPr id="29" name="Text 27"/>
          <p:cNvSpPr/>
          <p:nvPr/>
        </p:nvSpPr>
        <p:spPr>
          <a:xfrm>
            <a:off x="274320" y="4773168"/>
            <a:ext cx="8412480" cy="292608"/>
          </a:xfrm>
          <a:prstGeom prst="rect">
            <a:avLst/>
          </a:prstGeom>
          <a:noFill/>
          <a:ln/>
        </p:spPr>
        <p:txBody>
          <a:bodyPr wrap="square" lIns="50800" tIns="50800" rIns="50800" bIns="50800" rtlCol="0" anchor="ctr"/>
          <a:lstStyle/>
          <a:p>
            <a:pPr indent="0" marL="0">
              <a:buNone/>
            </a:pPr>
            <a:r>
              <a:rPr lang="en-US" sz="1000" dirty="0">
                <a:solidFill>
                  <a:srgbClr val="64748B"/>
                </a:solidFill>
              </a:rPr>
              <a:t>🔑 Clave: el verificador NUNCA necesita ver sk₀. Solo usa pk₀ (recalculada), los hashes del auth_path y la Raíz pública. Seguro y verificable.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E3D"/>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80E1A"/>
          </a:solidFill>
          <a:ln w="12700">
            <a:solidFill>
              <a:srgbClr val="333333"/>
            </a:solidFill>
            <a:prstDash val="solid"/>
          </a:ln>
        </p:spPr>
      </p:sp>
      <p:sp>
        <p:nvSpPr>
          <p:cNvPr id="3" name="Text 1"/>
          <p:cNvSpPr/>
          <p:nvPr/>
        </p:nvSpPr>
        <p:spPr>
          <a:xfrm>
            <a:off x="365760" y="137160"/>
            <a:ext cx="8412480" cy="502920"/>
          </a:xfrm>
          <a:prstGeom prst="rect">
            <a:avLst/>
          </a:prstGeom>
          <a:noFill/>
          <a:ln/>
        </p:spPr>
        <p:txBody>
          <a:bodyPr wrap="square" lIns="0" tIns="0" rIns="0" bIns="0" rtlCol="0" anchor="ctr"/>
          <a:lstStyle/>
          <a:p>
            <a:pPr indent="0" marL="0">
              <a:buNone/>
            </a:pPr>
            <a:r>
              <a:rPr lang="en-US" sz="2600" b="1" dirty="0">
                <a:solidFill>
                  <a:srgbClr val="F8FAFC"/>
                </a:solidFill>
                <a:latin typeface="Arial" pitchFamily="34" charset="0"/>
                <a:ea typeface="Arial" pitchFamily="34" charset="-122"/>
                <a:cs typeface="Arial" pitchFamily="34" charset="-120"/>
              </a:rPr>
              <a:t>ECDSA vs XMSS — Comparación</a:t>
            </a:r>
            <a:endParaRPr lang="en-US" sz="2600" dirty="0"/>
          </a:p>
        </p:txBody>
      </p:sp>
      <p:sp>
        <p:nvSpPr>
          <p:cNvPr id="4" name="Shape 2"/>
          <p:cNvSpPr/>
          <p:nvPr/>
        </p:nvSpPr>
        <p:spPr>
          <a:xfrm>
            <a:off x="274320" y="841248"/>
            <a:ext cx="8412480" cy="402336"/>
          </a:xfrm>
          <a:prstGeom prst="rect">
            <a:avLst/>
          </a:prstGeom>
          <a:solidFill>
            <a:srgbClr val="2563EB"/>
          </a:solidFill>
          <a:ln w="6350">
            <a:solidFill>
              <a:srgbClr val="1E3A5F"/>
            </a:solidFill>
            <a:prstDash val="solid"/>
          </a:ln>
        </p:spPr>
      </p:sp>
      <p:sp>
        <p:nvSpPr>
          <p:cNvPr id="5" name="Text 3"/>
          <p:cNvSpPr/>
          <p:nvPr/>
        </p:nvSpPr>
        <p:spPr>
          <a:xfrm>
            <a:off x="365760" y="841248"/>
            <a:ext cx="2834640" cy="402336"/>
          </a:xfrm>
          <a:prstGeom prst="rect">
            <a:avLst/>
          </a:prstGeom>
          <a:noFill/>
          <a:ln/>
        </p:spPr>
        <p:txBody>
          <a:bodyPr wrap="square" lIns="0" tIns="0" rIns="0" bIns="0" rtlCol="0" anchor="ctr"/>
          <a:lstStyle/>
          <a:p>
            <a:pPr indent="0" marL="0">
              <a:buNone/>
            </a:pPr>
            <a:r>
              <a:rPr lang="en-US" sz="1200" b="1" dirty="0">
                <a:solidFill>
                  <a:srgbClr val="F8FAFC"/>
                </a:solidFill>
              </a:rPr>
              <a:t>Característica</a:t>
            </a:r>
            <a:endParaRPr lang="en-US" sz="1200" dirty="0"/>
          </a:p>
        </p:txBody>
      </p:sp>
      <p:sp>
        <p:nvSpPr>
          <p:cNvPr id="6" name="Text 4"/>
          <p:cNvSpPr/>
          <p:nvPr/>
        </p:nvSpPr>
        <p:spPr>
          <a:xfrm>
            <a:off x="3291840" y="841248"/>
            <a:ext cx="2560320" cy="402336"/>
          </a:xfrm>
          <a:prstGeom prst="rect">
            <a:avLst/>
          </a:prstGeom>
          <a:noFill/>
          <a:ln/>
        </p:spPr>
        <p:txBody>
          <a:bodyPr wrap="square" lIns="0" tIns="0" rIns="0" bIns="0" rtlCol="0" anchor="ctr"/>
          <a:lstStyle/>
          <a:p>
            <a:pPr indent="0" marL="0">
              <a:buNone/>
            </a:pPr>
            <a:r>
              <a:rPr lang="en-US" sz="1200" b="1" dirty="0">
                <a:solidFill>
                  <a:srgbClr val="F8FAFC"/>
                </a:solidFill>
              </a:rPr>
              <a:t>ECDSA</a:t>
            </a:r>
            <a:endParaRPr lang="en-US" sz="1200" dirty="0"/>
          </a:p>
        </p:txBody>
      </p:sp>
      <p:sp>
        <p:nvSpPr>
          <p:cNvPr id="7" name="Text 5"/>
          <p:cNvSpPr/>
          <p:nvPr/>
        </p:nvSpPr>
        <p:spPr>
          <a:xfrm>
            <a:off x="5943600" y="841248"/>
            <a:ext cx="2560320" cy="402336"/>
          </a:xfrm>
          <a:prstGeom prst="rect">
            <a:avLst/>
          </a:prstGeom>
          <a:noFill/>
          <a:ln/>
        </p:spPr>
        <p:txBody>
          <a:bodyPr wrap="square" lIns="0" tIns="0" rIns="0" bIns="0" rtlCol="0" anchor="ctr"/>
          <a:lstStyle/>
          <a:p>
            <a:pPr indent="0" marL="0">
              <a:buNone/>
            </a:pPr>
            <a:r>
              <a:rPr lang="en-US" sz="1200" b="1" dirty="0">
                <a:solidFill>
                  <a:srgbClr val="F8FAFC"/>
                </a:solidFill>
              </a:rPr>
              <a:t>XMSS</a:t>
            </a:r>
            <a:endParaRPr lang="en-US" sz="1200" dirty="0"/>
          </a:p>
        </p:txBody>
      </p:sp>
      <p:sp>
        <p:nvSpPr>
          <p:cNvPr id="8" name="Shape 6"/>
          <p:cNvSpPr/>
          <p:nvPr/>
        </p:nvSpPr>
        <p:spPr>
          <a:xfrm>
            <a:off x="274320" y="1261872"/>
            <a:ext cx="8412480" cy="402336"/>
          </a:xfrm>
          <a:prstGeom prst="rect">
            <a:avLst/>
          </a:prstGeom>
          <a:solidFill>
            <a:srgbClr val="0F1E3D"/>
          </a:solidFill>
          <a:ln w="6350">
            <a:solidFill>
              <a:srgbClr val="1E3A5F"/>
            </a:solidFill>
            <a:prstDash val="solid"/>
          </a:ln>
        </p:spPr>
      </p:sp>
      <p:sp>
        <p:nvSpPr>
          <p:cNvPr id="9" name="Text 7"/>
          <p:cNvSpPr/>
          <p:nvPr/>
        </p:nvSpPr>
        <p:spPr>
          <a:xfrm>
            <a:off x="365760" y="1261872"/>
            <a:ext cx="2834640" cy="402336"/>
          </a:xfrm>
          <a:prstGeom prst="rect">
            <a:avLst/>
          </a:prstGeom>
          <a:noFill/>
          <a:ln/>
        </p:spPr>
        <p:txBody>
          <a:bodyPr wrap="square" lIns="0" tIns="0" rIns="0" bIns="0" rtlCol="0" anchor="ctr"/>
          <a:lstStyle/>
          <a:p>
            <a:pPr indent="0" marL="0">
              <a:buNone/>
            </a:pPr>
            <a:r>
              <a:rPr lang="en-US" sz="1150" dirty="0">
                <a:solidFill>
                  <a:srgbClr val="BFDBFE"/>
                </a:solidFill>
              </a:rPr>
              <a:t>Base matemática</a:t>
            </a:r>
            <a:endParaRPr lang="en-US" sz="1150" dirty="0"/>
          </a:p>
        </p:txBody>
      </p:sp>
      <p:sp>
        <p:nvSpPr>
          <p:cNvPr id="10" name="Text 8"/>
          <p:cNvSpPr/>
          <p:nvPr/>
        </p:nvSpPr>
        <p:spPr>
          <a:xfrm>
            <a:off x="3291840" y="1261872"/>
            <a:ext cx="2560320" cy="402336"/>
          </a:xfrm>
          <a:prstGeom prst="rect">
            <a:avLst/>
          </a:prstGeom>
          <a:noFill/>
          <a:ln/>
        </p:spPr>
        <p:txBody>
          <a:bodyPr wrap="square" lIns="0" tIns="0" rIns="0" bIns="0" rtlCol="0" anchor="ctr"/>
          <a:lstStyle/>
          <a:p>
            <a:pPr indent="0" marL="0">
              <a:buNone/>
            </a:pPr>
            <a:r>
              <a:rPr lang="en-US" sz="1100" dirty="0">
                <a:solidFill>
                  <a:srgbClr val="BFDBFE"/>
                </a:solidFill>
              </a:rPr>
              <a:t>Curvas elípticas (DLP)</a:t>
            </a:r>
            <a:endParaRPr lang="en-US" sz="1100" dirty="0"/>
          </a:p>
        </p:txBody>
      </p:sp>
      <p:sp>
        <p:nvSpPr>
          <p:cNvPr id="11" name="Text 9"/>
          <p:cNvSpPr/>
          <p:nvPr/>
        </p:nvSpPr>
        <p:spPr>
          <a:xfrm>
            <a:off x="5943600" y="1261872"/>
            <a:ext cx="2560320" cy="402336"/>
          </a:xfrm>
          <a:prstGeom prst="rect">
            <a:avLst/>
          </a:prstGeom>
          <a:noFill/>
          <a:ln/>
        </p:spPr>
        <p:txBody>
          <a:bodyPr wrap="square" lIns="0" tIns="0" rIns="0" bIns="0" rtlCol="0" anchor="ctr"/>
          <a:lstStyle/>
          <a:p>
            <a:pPr indent="0" marL="0">
              <a:buNone/>
            </a:pPr>
            <a:r>
              <a:rPr lang="en-US" sz="1100" dirty="0">
                <a:solidFill>
                  <a:srgbClr val="FDE68A"/>
                </a:solidFill>
              </a:rPr>
              <a:t>Funciones de hash (SHA-256)</a:t>
            </a:r>
            <a:endParaRPr lang="en-US" sz="1100" dirty="0"/>
          </a:p>
        </p:txBody>
      </p:sp>
      <p:sp>
        <p:nvSpPr>
          <p:cNvPr id="12" name="Shape 10"/>
          <p:cNvSpPr/>
          <p:nvPr/>
        </p:nvSpPr>
        <p:spPr>
          <a:xfrm>
            <a:off x="274320" y="1682496"/>
            <a:ext cx="8412480" cy="402336"/>
          </a:xfrm>
          <a:prstGeom prst="rect">
            <a:avLst/>
          </a:prstGeom>
          <a:solidFill>
            <a:srgbClr val="080E1A"/>
          </a:solidFill>
          <a:ln w="6350">
            <a:solidFill>
              <a:srgbClr val="1E3A5F"/>
            </a:solidFill>
            <a:prstDash val="solid"/>
          </a:ln>
        </p:spPr>
      </p:sp>
      <p:sp>
        <p:nvSpPr>
          <p:cNvPr id="13" name="Text 11"/>
          <p:cNvSpPr/>
          <p:nvPr/>
        </p:nvSpPr>
        <p:spPr>
          <a:xfrm>
            <a:off x="365760" y="1682496"/>
            <a:ext cx="2834640" cy="402336"/>
          </a:xfrm>
          <a:prstGeom prst="rect">
            <a:avLst/>
          </a:prstGeom>
          <a:noFill/>
          <a:ln/>
        </p:spPr>
        <p:txBody>
          <a:bodyPr wrap="square" lIns="0" tIns="0" rIns="0" bIns="0" rtlCol="0" anchor="ctr"/>
          <a:lstStyle/>
          <a:p>
            <a:pPr indent="0" marL="0">
              <a:buNone/>
            </a:pPr>
            <a:r>
              <a:rPr lang="en-US" sz="1150" dirty="0">
                <a:solidFill>
                  <a:srgbClr val="BFDBFE"/>
                </a:solidFill>
              </a:rPr>
              <a:t>Resistente a cuántica</a:t>
            </a:r>
            <a:endParaRPr lang="en-US" sz="1150" dirty="0"/>
          </a:p>
        </p:txBody>
      </p:sp>
      <p:sp>
        <p:nvSpPr>
          <p:cNvPr id="14" name="Text 12"/>
          <p:cNvSpPr/>
          <p:nvPr/>
        </p:nvSpPr>
        <p:spPr>
          <a:xfrm>
            <a:off x="3291840" y="1682496"/>
            <a:ext cx="2560320" cy="402336"/>
          </a:xfrm>
          <a:prstGeom prst="rect">
            <a:avLst/>
          </a:prstGeom>
          <a:noFill/>
          <a:ln/>
        </p:spPr>
        <p:txBody>
          <a:bodyPr wrap="square" lIns="0" tIns="0" rIns="0" bIns="0" rtlCol="0" anchor="ctr"/>
          <a:lstStyle/>
          <a:p>
            <a:pPr indent="0" marL="0">
              <a:buNone/>
            </a:pPr>
            <a:r>
              <a:rPr lang="en-US" sz="1100" dirty="0">
                <a:solidFill>
                  <a:srgbClr val="BFDBFE"/>
                </a:solidFill>
              </a:rPr>
              <a:t>❌ NO (Algoritmo de Shor)</a:t>
            </a:r>
            <a:endParaRPr lang="en-US" sz="1100" dirty="0"/>
          </a:p>
        </p:txBody>
      </p:sp>
      <p:sp>
        <p:nvSpPr>
          <p:cNvPr id="15" name="Text 13"/>
          <p:cNvSpPr/>
          <p:nvPr/>
        </p:nvSpPr>
        <p:spPr>
          <a:xfrm>
            <a:off x="5943600" y="1682496"/>
            <a:ext cx="2560320" cy="402336"/>
          </a:xfrm>
          <a:prstGeom prst="rect">
            <a:avLst/>
          </a:prstGeom>
          <a:noFill/>
          <a:ln/>
        </p:spPr>
        <p:txBody>
          <a:bodyPr wrap="square" lIns="0" tIns="0" rIns="0" bIns="0" rtlCol="0" anchor="ctr"/>
          <a:lstStyle/>
          <a:p>
            <a:pPr indent="0" marL="0">
              <a:buNone/>
            </a:pPr>
            <a:r>
              <a:rPr lang="en-US" sz="1100" dirty="0">
                <a:solidFill>
                  <a:srgbClr val="FDE68A"/>
                </a:solidFill>
              </a:rPr>
              <a:t>✅ SÍ</a:t>
            </a:r>
            <a:endParaRPr lang="en-US" sz="1100" dirty="0"/>
          </a:p>
        </p:txBody>
      </p:sp>
      <p:sp>
        <p:nvSpPr>
          <p:cNvPr id="16" name="Shape 14"/>
          <p:cNvSpPr/>
          <p:nvPr/>
        </p:nvSpPr>
        <p:spPr>
          <a:xfrm>
            <a:off x="274320" y="2103120"/>
            <a:ext cx="8412480" cy="402336"/>
          </a:xfrm>
          <a:prstGeom prst="rect">
            <a:avLst/>
          </a:prstGeom>
          <a:solidFill>
            <a:srgbClr val="0F1E3D"/>
          </a:solidFill>
          <a:ln w="6350">
            <a:solidFill>
              <a:srgbClr val="1E3A5F"/>
            </a:solidFill>
            <a:prstDash val="solid"/>
          </a:ln>
        </p:spPr>
      </p:sp>
      <p:sp>
        <p:nvSpPr>
          <p:cNvPr id="17" name="Text 15"/>
          <p:cNvSpPr/>
          <p:nvPr/>
        </p:nvSpPr>
        <p:spPr>
          <a:xfrm>
            <a:off x="365760" y="2103120"/>
            <a:ext cx="2834640" cy="402336"/>
          </a:xfrm>
          <a:prstGeom prst="rect">
            <a:avLst/>
          </a:prstGeom>
          <a:noFill/>
          <a:ln/>
        </p:spPr>
        <p:txBody>
          <a:bodyPr wrap="square" lIns="0" tIns="0" rIns="0" bIns="0" rtlCol="0" anchor="ctr"/>
          <a:lstStyle/>
          <a:p>
            <a:pPr indent="0" marL="0">
              <a:buNone/>
            </a:pPr>
            <a:r>
              <a:rPr lang="en-US" sz="1150" dirty="0">
                <a:solidFill>
                  <a:srgbClr val="BFDBFE"/>
                </a:solidFill>
              </a:rPr>
              <a:t>Stateful</a:t>
            </a:r>
            <a:endParaRPr lang="en-US" sz="1150" dirty="0"/>
          </a:p>
        </p:txBody>
      </p:sp>
      <p:sp>
        <p:nvSpPr>
          <p:cNvPr id="18" name="Text 16"/>
          <p:cNvSpPr/>
          <p:nvPr/>
        </p:nvSpPr>
        <p:spPr>
          <a:xfrm>
            <a:off x="3291840" y="2103120"/>
            <a:ext cx="2560320" cy="402336"/>
          </a:xfrm>
          <a:prstGeom prst="rect">
            <a:avLst/>
          </a:prstGeom>
          <a:noFill/>
          <a:ln/>
        </p:spPr>
        <p:txBody>
          <a:bodyPr wrap="square" lIns="0" tIns="0" rIns="0" bIns="0" rtlCol="0" anchor="ctr"/>
          <a:lstStyle/>
          <a:p>
            <a:pPr indent="0" marL="0">
              <a:buNone/>
            </a:pPr>
            <a:r>
              <a:rPr lang="en-US" sz="1100" dirty="0">
                <a:solidFill>
                  <a:srgbClr val="BFDBFE"/>
                </a:solidFill>
              </a:rPr>
              <a:t>No (sin límite de firmas)</a:t>
            </a:r>
            <a:endParaRPr lang="en-US" sz="1100" dirty="0"/>
          </a:p>
        </p:txBody>
      </p:sp>
      <p:sp>
        <p:nvSpPr>
          <p:cNvPr id="19" name="Text 17"/>
          <p:cNvSpPr/>
          <p:nvPr/>
        </p:nvSpPr>
        <p:spPr>
          <a:xfrm>
            <a:off x="5943600" y="2103120"/>
            <a:ext cx="2560320" cy="402336"/>
          </a:xfrm>
          <a:prstGeom prst="rect">
            <a:avLst/>
          </a:prstGeom>
          <a:noFill/>
          <a:ln/>
        </p:spPr>
        <p:txBody>
          <a:bodyPr wrap="square" lIns="0" tIns="0" rIns="0" bIns="0" rtlCol="0" anchor="ctr"/>
          <a:lstStyle/>
          <a:p>
            <a:pPr indent="0" marL="0">
              <a:buNone/>
            </a:pPr>
            <a:r>
              <a:rPr lang="en-US" sz="1100" dirty="0">
                <a:solidFill>
                  <a:srgbClr val="FDE68A"/>
                </a:solidFill>
              </a:rPr>
              <a:t>Sí (hay que llevar índice)</a:t>
            </a:r>
            <a:endParaRPr lang="en-US" sz="1100" dirty="0"/>
          </a:p>
        </p:txBody>
      </p:sp>
      <p:sp>
        <p:nvSpPr>
          <p:cNvPr id="20" name="Shape 18"/>
          <p:cNvSpPr/>
          <p:nvPr/>
        </p:nvSpPr>
        <p:spPr>
          <a:xfrm>
            <a:off x="274320" y="2523744"/>
            <a:ext cx="8412480" cy="402336"/>
          </a:xfrm>
          <a:prstGeom prst="rect">
            <a:avLst/>
          </a:prstGeom>
          <a:solidFill>
            <a:srgbClr val="080E1A"/>
          </a:solidFill>
          <a:ln w="6350">
            <a:solidFill>
              <a:srgbClr val="1E3A5F"/>
            </a:solidFill>
            <a:prstDash val="solid"/>
          </a:ln>
        </p:spPr>
      </p:sp>
      <p:sp>
        <p:nvSpPr>
          <p:cNvPr id="21" name="Text 19"/>
          <p:cNvSpPr/>
          <p:nvPr/>
        </p:nvSpPr>
        <p:spPr>
          <a:xfrm>
            <a:off x="365760" y="2523744"/>
            <a:ext cx="2834640" cy="402336"/>
          </a:xfrm>
          <a:prstGeom prst="rect">
            <a:avLst/>
          </a:prstGeom>
          <a:noFill/>
          <a:ln/>
        </p:spPr>
        <p:txBody>
          <a:bodyPr wrap="square" lIns="0" tIns="0" rIns="0" bIns="0" rtlCol="0" anchor="ctr"/>
          <a:lstStyle/>
          <a:p>
            <a:pPr indent="0" marL="0">
              <a:buNone/>
            </a:pPr>
            <a:r>
              <a:rPr lang="en-US" sz="1150" dirty="0">
                <a:solidFill>
                  <a:srgbClr val="BFDBFE"/>
                </a:solidFill>
              </a:rPr>
              <a:t>Tamaño de firma</a:t>
            </a:r>
            <a:endParaRPr lang="en-US" sz="1150" dirty="0"/>
          </a:p>
        </p:txBody>
      </p:sp>
      <p:sp>
        <p:nvSpPr>
          <p:cNvPr id="22" name="Text 20"/>
          <p:cNvSpPr/>
          <p:nvPr/>
        </p:nvSpPr>
        <p:spPr>
          <a:xfrm>
            <a:off x="3291840" y="2523744"/>
            <a:ext cx="2560320" cy="402336"/>
          </a:xfrm>
          <a:prstGeom prst="rect">
            <a:avLst/>
          </a:prstGeom>
          <a:noFill/>
          <a:ln/>
        </p:spPr>
        <p:txBody>
          <a:bodyPr wrap="square" lIns="0" tIns="0" rIns="0" bIns="0" rtlCol="0" anchor="ctr"/>
          <a:lstStyle/>
          <a:p>
            <a:pPr indent="0" marL="0">
              <a:buNone/>
            </a:pPr>
            <a:r>
              <a:rPr lang="en-US" sz="1100" dirty="0">
                <a:solidFill>
                  <a:srgbClr val="BFDBFE"/>
                </a:solidFill>
              </a:rPr>
              <a:t>~64 bytes (muy compacto)</a:t>
            </a:r>
            <a:endParaRPr lang="en-US" sz="1100" dirty="0"/>
          </a:p>
        </p:txBody>
      </p:sp>
      <p:sp>
        <p:nvSpPr>
          <p:cNvPr id="23" name="Text 21"/>
          <p:cNvSpPr/>
          <p:nvPr/>
        </p:nvSpPr>
        <p:spPr>
          <a:xfrm>
            <a:off x="5943600" y="2523744"/>
            <a:ext cx="2560320" cy="402336"/>
          </a:xfrm>
          <a:prstGeom prst="rect">
            <a:avLst/>
          </a:prstGeom>
          <a:noFill/>
          <a:ln/>
        </p:spPr>
        <p:txBody>
          <a:bodyPr wrap="square" lIns="0" tIns="0" rIns="0" bIns="0" rtlCol="0" anchor="ctr"/>
          <a:lstStyle/>
          <a:p>
            <a:pPr indent="0" marL="0">
              <a:buNone/>
            </a:pPr>
            <a:r>
              <a:rPr lang="en-US" sz="1100" dirty="0">
                <a:solidFill>
                  <a:srgbClr val="FDE68A"/>
                </a:solidFill>
              </a:rPr>
              <a:t>~2-3 KB (mucho mayor)</a:t>
            </a:r>
            <a:endParaRPr lang="en-US" sz="1100" dirty="0"/>
          </a:p>
        </p:txBody>
      </p:sp>
      <p:sp>
        <p:nvSpPr>
          <p:cNvPr id="24" name="Shape 22"/>
          <p:cNvSpPr/>
          <p:nvPr/>
        </p:nvSpPr>
        <p:spPr>
          <a:xfrm>
            <a:off x="274320" y="2944368"/>
            <a:ext cx="8412480" cy="402336"/>
          </a:xfrm>
          <a:prstGeom prst="rect">
            <a:avLst/>
          </a:prstGeom>
          <a:solidFill>
            <a:srgbClr val="0F1E3D"/>
          </a:solidFill>
          <a:ln w="6350">
            <a:solidFill>
              <a:srgbClr val="1E3A5F"/>
            </a:solidFill>
            <a:prstDash val="solid"/>
          </a:ln>
        </p:spPr>
      </p:sp>
      <p:sp>
        <p:nvSpPr>
          <p:cNvPr id="25" name="Text 23"/>
          <p:cNvSpPr/>
          <p:nvPr/>
        </p:nvSpPr>
        <p:spPr>
          <a:xfrm>
            <a:off x="365760" y="2944368"/>
            <a:ext cx="2834640" cy="402336"/>
          </a:xfrm>
          <a:prstGeom prst="rect">
            <a:avLst/>
          </a:prstGeom>
          <a:noFill/>
          <a:ln/>
        </p:spPr>
        <p:txBody>
          <a:bodyPr wrap="square" lIns="0" tIns="0" rIns="0" bIns="0" rtlCol="0" anchor="ctr"/>
          <a:lstStyle/>
          <a:p>
            <a:pPr indent="0" marL="0">
              <a:buNone/>
            </a:pPr>
            <a:r>
              <a:rPr lang="en-US" sz="1150" dirty="0">
                <a:solidFill>
                  <a:srgbClr val="BFDBFE"/>
                </a:solidFill>
              </a:rPr>
              <a:t>Tamaño clave pública</a:t>
            </a:r>
            <a:endParaRPr lang="en-US" sz="1150" dirty="0"/>
          </a:p>
        </p:txBody>
      </p:sp>
      <p:sp>
        <p:nvSpPr>
          <p:cNvPr id="26" name="Text 24"/>
          <p:cNvSpPr/>
          <p:nvPr/>
        </p:nvSpPr>
        <p:spPr>
          <a:xfrm>
            <a:off x="3291840" y="2944368"/>
            <a:ext cx="2560320" cy="402336"/>
          </a:xfrm>
          <a:prstGeom prst="rect">
            <a:avLst/>
          </a:prstGeom>
          <a:noFill/>
          <a:ln/>
        </p:spPr>
        <p:txBody>
          <a:bodyPr wrap="square" lIns="0" tIns="0" rIns="0" bIns="0" rtlCol="0" anchor="ctr"/>
          <a:lstStyle/>
          <a:p>
            <a:pPr indent="0" marL="0">
              <a:buNone/>
            </a:pPr>
            <a:r>
              <a:rPr lang="en-US" sz="1100" dirty="0">
                <a:solidFill>
                  <a:srgbClr val="BFDBFE"/>
                </a:solidFill>
              </a:rPr>
              <a:t>33-65 bytes</a:t>
            </a:r>
            <a:endParaRPr lang="en-US" sz="1100" dirty="0"/>
          </a:p>
        </p:txBody>
      </p:sp>
      <p:sp>
        <p:nvSpPr>
          <p:cNvPr id="27" name="Text 25"/>
          <p:cNvSpPr/>
          <p:nvPr/>
        </p:nvSpPr>
        <p:spPr>
          <a:xfrm>
            <a:off x="5943600" y="2944368"/>
            <a:ext cx="2560320" cy="402336"/>
          </a:xfrm>
          <a:prstGeom prst="rect">
            <a:avLst/>
          </a:prstGeom>
          <a:noFill/>
          <a:ln/>
        </p:spPr>
        <p:txBody>
          <a:bodyPr wrap="square" lIns="0" tIns="0" rIns="0" bIns="0" rtlCol="0" anchor="ctr"/>
          <a:lstStyle/>
          <a:p>
            <a:pPr indent="0" marL="0">
              <a:buNone/>
            </a:pPr>
            <a:r>
              <a:rPr lang="en-US" sz="1100" dirty="0">
                <a:solidFill>
                  <a:srgbClr val="FDE68A"/>
                </a:solidFill>
              </a:rPr>
              <a:t>~64 bytes (solo la raíz)</a:t>
            </a:r>
            <a:endParaRPr lang="en-US" sz="1100" dirty="0"/>
          </a:p>
        </p:txBody>
      </p:sp>
      <p:sp>
        <p:nvSpPr>
          <p:cNvPr id="28" name="Shape 26"/>
          <p:cNvSpPr/>
          <p:nvPr/>
        </p:nvSpPr>
        <p:spPr>
          <a:xfrm>
            <a:off x="274320" y="3364992"/>
            <a:ext cx="8412480" cy="402336"/>
          </a:xfrm>
          <a:prstGeom prst="rect">
            <a:avLst/>
          </a:prstGeom>
          <a:solidFill>
            <a:srgbClr val="080E1A"/>
          </a:solidFill>
          <a:ln w="6350">
            <a:solidFill>
              <a:srgbClr val="1E3A5F"/>
            </a:solidFill>
            <a:prstDash val="solid"/>
          </a:ln>
        </p:spPr>
      </p:sp>
      <p:sp>
        <p:nvSpPr>
          <p:cNvPr id="29" name="Text 27"/>
          <p:cNvSpPr/>
          <p:nvPr/>
        </p:nvSpPr>
        <p:spPr>
          <a:xfrm>
            <a:off x="365760" y="3364992"/>
            <a:ext cx="2834640" cy="402336"/>
          </a:xfrm>
          <a:prstGeom prst="rect">
            <a:avLst/>
          </a:prstGeom>
          <a:noFill/>
          <a:ln/>
        </p:spPr>
        <p:txBody>
          <a:bodyPr wrap="square" lIns="0" tIns="0" rIns="0" bIns="0" rtlCol="0" anchor="ctr"/>
          <a:lstStyle/>
          <a:p>
            <a:pPr indent="0" marL="0">
              <a:buNone/>
            </a:pPr>
            <a:r>
              <a:rPr lang="en-US" sz="1150" dirty="0">
                <a:solidFill>
                  <a:srgbClr val="BFDBFE"/>
                </a:solidFill>
              </a:rPr>
              <a:t>Velocidad de firma</a:t>
            </a:r>
            <a:endParaRPr lang="en-US" sz="1150" dirty="0"/>
          </a:p>
        </p:txBody>
      </p:sp>
      <p:sp>
        <p:nvSpPr>
          <p:cNvPr id="30" name="Text 28"/>
          <p:cNvSpPr/>
          <p:nvPr/>
        </p:nvSpPr>
        <p:spPr>
          <a:xfrm>
            <a:off x="3291840" y="3364992"/>
            <a:ext cx="2560320" cy="402336"/>
          </a:xfrm>
          <a:prstGeom prst="rect">
            <a:avLst/>
          </a:prstGeom>
          <a:noFill/>
          <a:ln/>
        </p:spPr>
        <p:txBody>
          <a:bodyPr wrap="square" lIns="0" tIns="0" rIns="0" bIns="0" rtlCol="0" anchor="ctr"/>
          <a:lstStyle/>
          <a:p>
            <a:pPr indent="0" marL="0">
              <a:buNone/>
            </a:pPr>
            <a:r>
              <a:rPr lang="en-US" sz="1100" dirty="0">
                <a:solidFill>
                  <a:srgbClr val="BFDBFE"/>
                </a:solidFill>
              </a:rPr>
              <a:t>Muy rápida</a:t>
            </a:r>
            <a:endParaRPr lang="en-US" sz="1100" dirty="0"/>
          </a:p>
        </p:txBody>
      </p:sp>
      <p:sp>
        <p:nvSpPr>
          <p:cNvPr id="31" name="Text 29"/>
          <p:cNvSpPr/>
          <p:nvPr/>
        </p:nvSpPr>
        <p:spPr>
          <a:xfrm>
            <a:off x="5943600" y="3364992"/>
            <a:ext cx="2560320" cy="402336"/>
          </a:xfrm>
          <a:prstGeom prst="rect">
            <a:avLst/>
          </a:prstGeom>
          <a:noFill/>
          <a:ln/>
        </p:spPr>
        <p:txBody>
          <a:bodyPr wrap="square" lIns="0" tIns="0" rIns="0" bIns="0" rtlCol="0" anchor="ctr"/>
          <a:lstStyle/>
          <a:p>
            <a:pPr indent="0" marL="0">
              <a:buNone/>
            </a:pPr>
            <a:r>
              <a:rPr lang="en-US" sz="1100" dirty="0">
                <a:solidFill>
                  <a:srgbClr val="FDE68A"/>
                </a:solidFill>
              </a:rPr>
              <a:t>Lenta (construye árbol)</a:t>
            </a:r>
            <a:endParaRPr lang="en-US" sz="1100" dirty="0"/>
          </a:p>
        </p:txBody>
      </p:sp>
      <p:sp>
        <p:nvSpPr>
          <p:cNvPr id="32" name="Shape 30"/>
          <p:cNvSpPr/>
          <p:nvPr/>
        </p:nvSpPr>
        <p:spPr>
          <a:xfrm>
            <a:off x="274320" y="3785616"/>
            <a:ext cx="8412480" cy="402336"/>
          </a:xfrm>
          <a:prstGeom prst="rect">
            <a:avLst/>
          </a:prstGeom>
          <a:solidFill>
            <a:srgbClr val="0F1E3D"/>
          </a:solidFill>
          <a:ln w="6350">
            <a:solidFill>
              <a:srgbClr val="1E3A5F"/>
            </a:solidFill>
            <a:prstDash val="solid"/>
          </a:ln>
        </p:spPr>
      </p:sp>
      <p:sp>
        <p:nvSpPr>
          <p:cNvPr id="33" name="Text 31"/>
          <p:cNvSpPr/>
          <p:nvPr/>
        </p:nvSpPr>
        <p:spPr>
          <a:xfrm>
            <a:off x="365760" y="3785616"/>
            <a:ext cx="2834640" cy="402336"/>
          </a:xfrm>
          <a:prstGeom prst="rect">
            <a:avLst/>
          </a:prstGeom>
          <a:noFill/>
          <a:ln/>
        </p:spPr>
        <p:txBody>
          <a:bodyPr wrap="square" lIns="0" tIns="0" rIns="0" bIns="0" rtlCol="0" anchor="ctr"/>
          <a:lstStyle/>
          <a:p>
            <a:pPr indent="0" marL="0">
              <a:buNone/>
            </a:pPr>
            <a:r>
              <a:rPr lang="en-US" sz="1150" dirty="0">
                <a:solidFill>
                  <a:srgbClr val="BFDBFE"/>
                </a:solidFill>
              </a:rPr>
              <a:t>Velocidad verificación</a:t>
            </a:r>
            <a:endParaRPr lang="en-US" sz="1150" dirty="0"/>
          </a:p>
        </p:txBody>
      </p:sp>
      <p:sp>
        <p:nvSpPr>
          <p:cNvPr id="34" name="Text 32"/>
          <p:cNvSpPr/>
          <p:nvPr/>
        </p:nvSpPr>
        <p:spPr>
          <a:xfrm>
            <a:off x="3291840" y="3785616"/>
            <a:ext cx="2560320" cy="402336"/>
          </a:xfrm>
          <a:prstGeom prst="rect">
            <a:avLst/>
          </a:prstGeom>
          <a:noFill/>
          <a:ln/>
        </p:spPr>
        <p:txBody>
          <a:bodyPr wrap="square" lIns="0" tIns="0" rIns="0" bIns="0" rtlCol="0" anchor="ctr"/>
          <a:lstStyle/>
          <a:p>
            <a:pPr indent="0" marL="0">
              <a:buNone/>
            </a:pPr>
            <a:r>
              <a:rPr lang="en-US" sz="1100" dirty="0">
                <a:solidFill>
                  <a:srgbClr val="BFDBFE"/>
                </a:solidFill>
              </a:rPr>
              <a:t>Rápida</a:t>
            </a:r>
            <a:endParaRPr lang="en-US" sz="1100" dirty="0"/>
          </a:p>
        </p:txBody>
      </p:sp>
      <p:sp>
        <p:nvSpPr>
          <p:cNvPr id="35" name="Text 33"/>
          <p:cNvSpPr/>
          <p:nvPr/>
        </p:nvSpPr>
        <p:spPr>
          <a:xfrm>
            <a:off x="5943600" y="3785616"/>
            <a:ext cx="2560320" cy="402336"/>
          </a:xfrm>
          <a:prstGeom prst="rect">
            <a:avLst/>
          </a:prstGeom>
          <a:noFill/>
          <a:ln/>
        </p:spPr>
        <p:txBody>
          <a:bodyPr wrap="square" lIns="0" tIns="0" rIns="0" bIns="0" rtlCol="0" anchor="ctr"/>
          <a:lstStyle/>
          <a:p>
            <a:pPr indent="0" marL="0">
              <a:buNone/>
            </a:pPr>
            <a:r>
              <a:rPr lang="en-US" sz="1100" dirty="0">
                <a:solidFill>
                  <a:srgbClr val="FDE68A"/>
                </a:solidFill>
              </a:rPr>
              <a:t>Rápida (solo auth_path)</a:t>
            </a:r>
            <a:endParaRPr lang="en-US" sz="1100" dirty="0"/>
          </a:p>
        </p:txBody>
      </p:sp>
      <p:sp>
        <p:nvSpPr>
          <p:cNvPr id="36" name="Shape 34"/>
          <p:cNvSpPr/>
          <p:nvPr/>
        </p:nvSpPr>
        <p:spPr>
          <a:xfrm>
            <a:off x="274320" y="4206240"/>
            <a:ext cx="8412480" cy="402336"/>
          </a:xfrm>
          <a:prstGeom prst="rect">
            <a:avLst/>
          </a:prstGeom>
          <a:solidFill>
            <a:srgbClr val="080E1A"/>
          </a:solidFill>
          <a:ln w="6350">
            <a:solidFill>
              <a:srgbClr val="1E3A5F"/>
            </a:solidFill>
            <a:prstDash val="solid"/>
          </a:ln>
        </p:spPr>
      </p:sp>
      <p:sp>
        <p:nvSpPr>
          <p:cNvPr id="37" name="Text 35"/>
          <p:cNvSpPr/>
          <p:nvPr/>
        </p:nvSpPr>
        <p:spPr>
          <a:xfrm>
            <a:off x="365760" y="4206240"/>
            <a:ext cx="2834640" cy="402336"/>
          </a:xfrm>
          <a:prstGeom prst="rect">
            <a:avLst/>
          </a:prstGeom>
          <a:noFill/>
          <a:ln/>
        </p:spPr>
        <p:txBody>
          <a:bodyPr wrap="square" lIns="0" tIns="0" rIns="0" bIns="0" rtlCol="0" anchor="ctr"/>
          <a:lstStyle/>
          <a:p>
            <a:pPr indent="0" marL="0">
              <a:buNone/>
            </a:pPr>
            <a:r>
              <a:rPr lang="en-US" sz="1150" dirty="0">
                <a:solidFill>
                  <a:srgbClr val="BFDBFE"/>
                </a:solidFill>
              </a:rPr>
              <a:t>Estándar NIST</a:t>
            </a:r>
            <a:endParaRPr lang="en-US" sz="1150" dirty="0"/>
          </a:p>
        </p:txBody>
      </p:sp>
      <p:sp>
        <p:nvSpPr>
          <p:cNvPr id="38" name="Text 36"/>
          <p:cNvSpPr/>
          <p:nvPr/>
        </p:nvSpPr>
        <p:spPr>
          <a:xfrm>
            <a:off x="3291840" y="4206240"/>
            <a:ext cx="2560320" cy="402336"/>
          </a:xfrm>
          <a:prstGeom prst="rect">
            <a:avLst/>
          </a:prstGeom>
          <a:noFill/>
          <a:ln/>
        </p:spPr>
        <p:txBody>
          <a:bodyPr wrap="square" lIns="0" tIns="0" rIns="0" bIns="0" rtlCol="0" anchor="ctr"/>
          <a:lstStyle/>
          <a:p>
            <a:pPr indent="0" marL="0">
              <a:buNone/>
            </a:pPr>
            <a:r>
              <a:rPr lang="en-US" sz="1100" dirty="0">
                <a:solidFill>
                  <a:srgbClr val="BFDBFE"/>
                </a:solidFill>
              </a:rPr>
              <a:t>Sí (FIPS 186)</a:t>
            </a:r>
            <a:endParaRPr lang="en-US" sz="1100" dirty="0"/>
          </a:p>
        </p:txBody>
      </p:sp>
      <p:sp>
        <p:nvSpPr>
          <p:cNvPr id="39" name="Text 37"/>
          <p:cNvSpPr/>
          <p:nvPr/>
        </p:nvSpPr>
        <p:spPr>
          <a:xfrm>
            <a:off x="5943600" y="4206240"/>
            <a:ext cx="2560320" cy="402336"/>
          </a:xfrm>
          <a:prstGeom prst="rect">
            <a:avLst/>
          </a:prstGeom>
          <a:noFill/>
          <a:ln/>
        </p:spPr>
        <p:txBody>
          <a:bodyPr wrap="square" lIns="0" tIns="0" rIns="0" bIns="0" rtlCol="0" anchor="ctr"/>
          <a:lstStyle/>
          <a:p>
            <a:pPr indent="0" marL="0">
              <a:buNone/>
            </a:pPr>
            <a:r>
              <a:rPr lang="en-US" sz="1100" dirty="0">
                <a:solidFill>
                  <a:srgbClr val="FDE68A"/>
                </a:solidFill>
              </a:rPr>
              <a:t>Sí (SP 800-208, 2022)</a:t>
            </a:r>
            <a:endParaRPr lang="en-US" sz="1100" dirty="0"/>
          </a:p>
        </p:txBody>
      </p:sp>
      <p:sp>
        <p:nvSpPr>
          <p:cNvPr id="40" name="Shape 38"/>
          <p:cNvSpPr/>
          <p:nvPr/>
        </p:nvSpPr>
        <p:spPr>
          <a:xfrm>
            <a:off x="274320" y="4626864"/>
            <a:ext cx="8412480" cy="402336"/>
          </a:xfrm>
          <a:prstGeom prst="rect">
            <a:avLst/>
          </a:prstGeom>
          <a:solidFill>
            <a:srgbClr val="0F1E3D"/>
          </a:solidFill>
          <a:ln w="6350">
            <a:solidFill>
              <a:srgbClr val="1E3A5F"/>
            </a:solidFill>
            <a:prstDash val="solid"/>
          </a:ln>
        </p:spPr>
      </p:sp>
      <p:sp>
        <p:nvSpPr>
          <p:cNvPr id="41" name="Text 39"/>
          <p:cNvSpPr/>
          <p:nvPr/>
        </p:nvSpPr>
        <p:spPr>
          <a:xfrm>
            <a:off x="365760" y="4626864"/>
            <a:ext cx="2834640" cy="402336"/>
          </a:xfrm>
          <a:prstGeom prst="rect">
            <a:avLst/>
          </a:prstGeom>
          <a:noFill/>
          <a:ln/>
        </p:spPr>
        <p:txBody>
          <a:bodyPr wrap="square" lIns="0" tIns="0" rIns="0" bIns="0" rtlCol="0" anchor="ctr"/>
          <a:lstStyle/>
          <a:p>
            <a:pPr indent="0" marL="0">
              <a:buNone/>
            </a:pPr>
            <a:r>
              <a:rPr lang="en-US" sz="1150" dirty="0">
                <a:solidFill>
                  <a:srgbClr val="BFDBFE"/>
                </a:solidFill>
              </a:rPr>
              <a:t>Uso ideal / Paper 2025</a:t>
            </a:r>
            <a:endParaRPr lang="en-US" sz="1150" dirty="0"/>
          </a:p>
        </p:txBody>
      </p:sp>
      <p:sp>
        <p:nvSpPr>
          <p:cNvPr id="42" name="Text 40"/>
          <p:cNvSpPr/>
          <p:nvPr/>
        </p:nvSpPr>
        <p:spPr>
          <a:xfrm>
            <a:off x="3291840" y="4626864"/>
            <a:ext cx="2560320" cy="402336"/>
          </a:xfrm>
          <a:prstGeom prst="rect">
            <a:avLst/>
          </a:prstGeom>
          <a:noFill/>
          <a:ln/>
        </p:spPr>
        <p:txBody>
          <a:bodyPr wrap="square" lIns="0" tIns="0" rIns="0" bIns="0" rtlCol="0" anchor="ctr"/>
          <a:lstStyle/>
          <a:p>
            <a:pPr indent="0" marL="0">
              <a:buNone/>
            </a:pPr>
            <a:r>
              <a:rPr lang="en-US" sz="1100" dirty="0">
                <a:solidFill>
                  <a:srgbClr val="BFDBFE"/>
                </a:solidFill>
              </a:rPr>
              <a:t>Internet en general</a:t>
            </a:r>
          </a:p>
          <a:p>
            <a:pPr indent="0" marL="0">
              <a:buNone/>
            </a:pPr>
            <a:r>
              <a:rPr lang="en-US" sz="800" dirty="0">
                <a:solidFill>
                  <a:srgbClr val="10B981"/>
                </a:solidFill>
              </a:rPr>
              <a:t>Firma ~64 B | Verif. rápida</a:t>
            </a:r>
            <a:endParaRPr lang="en-US" sz="1100" dirty="0"/>
          </a:p>
        </p:txBody>
      </p:sp>
      <p:sp>
        <p:nvSpPr>
          <p:cNvPr id="43" name="Text 41"/>
          <p:cNvSpPr/>
          <p:nvPr/>
        </p:nvSpPr>
        <p:spPr>
          <a:xfrm>
            <a:off x="5943600" y="4626864"/>
            <a:ext cx="2560320" cy="402336"/>
          </a:xfrm>
          <a:prstGeom prst="rect">
            <a:avLst/>
          </a:prstGeom>
          <a:noFill/>
          <a:ln/>
        </p:spPr>
        <p:txBody>
          <a:bodyPr wrap="square" lIns="0" tIns="0" rIns="0" bIns="0" rtlCol="0" anchor="ctr"/>
          <a:lstStyle/>
          <a:p>
            <a:pPr indent="0" marL="0">
              <a:buNone/>
            </a:pPr>
            <a:r>
              <a:rPr lang="en-US" sz="1100" dirty="0">
                <a:solidFill>
                  <a:srgbClr val="FDE68A"/>
                </a:solidFill>
              </a:rPr>
              <a:t>Firmware, PKI, bajo volumen</a:t>
            </a:r>
          </a:p>
          <a:p>
            <a:pPr indent="0" marL="0">
              <a:buNone/>
            </a:pPr>
            <a:r>
              <a:rPr lang="en-US" sz="800" dirty="0">
                <a:solidFill>
                  <a:srgbClr val="10B981"/>
                </a:solidFill>
              </a:rPr>
              <a:t>Firma ~2,22 KiB | Agreg. pqSNARK → 2-3 MB</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80E1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D4ED8"/>
          </a:solidFill>
          <a:ln w="12700">
            <a:solidFill>
              <a:srgbClr val="333333"/>
            </a:solidFill>
            <a:prstDash val="solid"/>
          </a:ln>
        </p:spPr>
      </p:sp>
      <p:sp>
        <p:nvSpPr>
          <p:cNvPr id="3" name="Text 1"/>
          <p:cNvSpPr/>
          <p:nvPr/>
        </p:nvSpPr>
        <p:spPr>
          <a:xfrm>
            <a:off x="365760" y="256032"/>
            <a:ext cx="8412480" cy="594360"/>
          </a:xfrm>
          <a:prstGeom prst="rect">
            <a:avLst/>
          </a:prstGeom>
          <a:noFill/>
          <a:ln/>
        </p:spPr>
        <p:txBody>
          <a:bodyPr wrap="square" lIns="0" tIns="0" rIns="0" bIns="0" rtlCol="0" anchor="ctr"/>
          <a:lstStyle/>
          <a:p>
            <a:pPr indent="0" marL="0">
              <a:buNone/>
            </a:pPr>
            <a:r>
              <a:rPr lang="en-US" sz="2600" b="1" dirty="0">
                <a:solidFill>
                  <a:srgbClr val="F8FAFC"/>
                </a:solidFill>
                <a:latin typeface="Arial" pitchFamily="34" charset="0"/>
                <a:ea typeface="Arial" pitchFamily="34" charset="-122"/>
                <a:cs typeface="Arial" pitchFamily="34" charset="-120"/>
              </a:rPr>
              <a:t>Lean Ethereum y la resistencia cuántica</a:t>
            </a:r>
            <a:endParaRPr lang="en-US" sz="2600" dirty="0"/>
          </a:p>
        </p:txBody>
      </p:sp>
      <p:sp>
        <p:nvSpPr>
          <p:cNvPr id="4" name="Text 2"/>
          <p:cNvSpPr/>
          <p:nvPr/>
        </p:nvSpPr>
        <p:spPr>
          <a:xfrm>
            <a:off x="365760" y="1051560"/>
            <a:ext cx="8412480" cy="502920"/>
          </a:xfrm>
          <a:prstGeom prst="rect">
            <a:avLst/>
          </a:prstGeom>
          <a:noFill/>
          <a:ln/>
        </p:spPr>
        <p:txBody>
          <a:bodyPr wrap="square" lIns="0" tIns="0" rIns="0" bIns="0" rtlCol="0" anchor="ctr"/>
          <a:lstStyle/>
          <a:p>
            <a:pPr indent="0" marL="0">
              <a:buNone/>
            </a:pPr>
            <a:r>
              <a:rPr lang="en-US" sz="1250" dirty="0">
                <a:solidFill>
                  <a:srgbClr val="BFDBFE"/>
                </a:solidFill>
              </a:rPr>
              <a:t>Vitalik Buterin presentó en DevConnect Buenos Aires (nov. 2024) el framework 'Lean Ethereum' — un rediseño de la capa base de Ethereum enfocado en simplicidad y seguridad post-cuántica.</a:t>
            </a:r>
            <a:endParaRPr lang="en-US" sz="1250" dirty="0"/>
          </a:p>
        </p:txBody>
      </p:sp>
      <p:sp>
        <p:nvSpPr>
          <p:cNvPr id="5" name="Shape 3"/>
          <p:cNvSpPr/>
          <p:nvPr/>
        </p:nvSpPr>
        <p:spPr>
          <a:xfrm>
            <a:off x="365760" y="1691640"/>
            <a:ext cx="4114800" cy="1325880"/>
          </a:xfrm>
          <a:prstGeom prst="rect">
            <a:avLst/>
          </a:prstGeom>
          <a:solidFill>
            <a:srgbClr val="0F1E3D"/>
          </a:solidFill>
          <a:ln w="19050">
            <a:solidFill>
              <a:srgbClr val="F59E0B"/>
            </a:solidFill>
            <a:prstDash val="solid"/>
          </a:ln>
          <a:effectLst>
            <a:outerShdw sx="100000" sy="100000" kx="0" ky="0" algn="bl" rotWithShape="0" blurRad="101600" dist="38100" dir="8100000">
              <a:srgbClr val="000000">
                <a:alpha val="30000"/>
              </a:srgbClr>
            </a:outerShdw>
          </a:effectLst>
        </p:spPr>
      </p:sp>
      <p:sp>
        <p:nvSpPr>
          <p:cNvPr id="6" name="Text 4"/>
          <p:cNvSpPr/>
          <p:nvPr/>
        </p:nvSpPr>
        <p:spPr>
          <a:xfrm>
            <a:off x="365760" y="1691640"/>
            <a:ext cx="594360" cy="132588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7" name="Text 5"/>
          <p:cNvSpPr/>
          <p:nvPr/>
        </p:nvSpPr>
        <p:spPr>
          <a:xfrm>
            <a:off x="987552" y="1764792"/>
            <a:ext cx="3383280" cy="384048"/>
          </a:xfrm>
          <a:prstGeom prst="rect">
            <a:avLst/>
          </a:prstGeom>
          <a:noFill/>
          <a:ln/>
        </p:spPr>
        <p:txBody>
          <a:bodyPr wrap="square" lIns="0" tIns="0" rIns="0" bIns="0" rtlCol="0" anchor="ctr"/>
          <a:lstStyle/>
          <a:p>
            <a:pPr indent="0" marL="0">
              <a:buNone/>
            </a:pPr>
            <a:r>
              <a:rPr lang="en-US" sz="1250" b="1" dirty="0">
                <a:solidFill>
                  <a:srgbClr val="F59E0B"/>
                </a:solidFill>
              </a:rPr>
              <a:t>Reemplazar BLS por firmas basadas en hash</a:t>
            </a:r>
            <a:endParaRPr lang="en-US" sz="1250" dirty="0"/>
          </a:p>
        </p:txBody>
      </p:sp>
      <p:sp>
        <p:nvSpPr>
          <p:cNvPr id="8" name="Text 6"/>
          <p:cNvSpPr/>
          <p:nvPr/>
        </p:nvSpPr>
        <p:spPr>
          <a:xfrm>
            <a:off x="987552" y="2148840"/>
            <a:ext cx="3383280" cy="804672"/>
          </a:xfrm>
          <a:prstGeom prst="rect">
            <a:avLst/>
          </a:prstGeom>
          <a:noFill/>
          <a:ln/>
        </p:spPr>
        <p:txBody>
          <a:bodyPr wrap="square" lIns="0" tIns="0" rIns="0" bIns="0" rtlCol="0" anchor="ctr"/>
          <a:lstStyle/>
          <a:p>
            <a:pPr indent="0" marL="0">
              <a:buNone/>
            </a:pPr>
            <a:r>
              <a:rPr lang="en-US" sz="1100" dirty="0">
                <a:solidFill>
                  <a:srgbClr val="BFDBFE"/>
                </a:solidFill>
              </a:rPr>
              <a:t>Las firmas BLS actuales usan curvas elípticas (vulnerables a cuántica). Vitalik propone variantes Winternitz — la misma familia que XMSS.</a:t>
            </a:r>
            <a:endParaRPr lang="en-US" sz="1100" dirty="0"/>
          </a:p>
          <a:p>
            <a:pPr indent="0" marL="0">
              <a:buNone/>
            </a:pPr>
            <a:r>
              <a:rPr lang="en-US" sz="1100" dirty="0">
                <a:solidFill>
                  <a:srgbClr val="BFDBFE"/>
                </a:solidFill>
              </a:rPr>
              <a:t>El desafío: 10.000 validadores generan ~22 GB de firmas sin agregación. La solución no puede usar álgebra de curvas elípticas.</a:t>
            </a:r>
            <a:endParaRPr lang="en-US" sz="1100" dirty="0"/>
          </a:p>
        </p:txBody>
      </p:sp>
      <p:sp>
        <p:nvSpPr>
          <p:cNvPr id="9" name="Shape 7"/>
          <p:cNvSpPr/>
          <p:nvPr/>
        </p:nvSpPr>
        <p:spPr>
          <a:xfrm>
            <a:off x="4800600" y="1691640"/>
            <a:ext cx="4114800" cy="1325880"/>
          </a:xfrm>
          <a:prstGeom prst="rect">
            <a:avLst/>
          </a:prstGeom>
          <a:solidFill>
            <a:srgbClr val="0F1E3D"/>
          </a:solidFill>
          <a:ln w="19050">
            <a:solidFill>
              <a:srgbClr val="3B82F6"/>
            </a:solidFill>
            <a:prstDash val="solid"/>
          </a:ln>
          <a:effectLst>
            <a:outerShdw sx="100000" sy="100000" kx="0" ky="0" algn="bl" rotWithShape="0" blurRad="101600" dist="38100" dir="8100000">
              <a:srgbClr val="000000">
                <a:alpha val="30000"/>
              </a:srgbClr>
            </a:outerShdw>
          </a:effectLst>
        </p:spPr>
      </p:sp>
      <p:sp>
        <p:nvSpPr>
          <p:cNvPr id="10" name="Text 8"/>
          <p:cNvSpPr/>
          <p:nvPr/>
        </p:nvSpPr>
        <p:spPr>
          <a:xfrm>
            <a:off x="4800600" y="1691640"/>
            <a:ext cx="594360" cy="132588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1" name="Text 9"/>
          <p:cNvSpPr/>
          <p:nvPr/>
        </p:nvSpPr>
        <p:spPr>
          <a:xfrm>
            <a:off x="5422392" y="1764792"/>
            <a:ext cx="3383280" cy="384048"/>
          </a:xfrm>
          <a:prstGeom prst="rect">
            <a:avLst/>
          </a:prstGeom>
          <a:noFill/>
          <a:ln/>
        </p:spPr>
        <p:txBody>
          <a:bodyPr wrap="square" lIns="0" tIns="0" rIns="0" bIns="0" rtlCol="0" anchor="ctr"/>
          <a:lstStyle/>
          <a:p>
            <a:pPr indent="0" marL="0">
              <a:buNone/>
            </a:pPr>
            <a:r>
              <a:rPr lang="en-US" sz="1250" b="1" dirty="0">
                <a:solidFill>
                  <a:srgbClr val="3B82F6"/>
                </a:solidFill>
              </a:rPr>
              <a:t>STARKs para agregación de firmas</a:t>
            </a:r>
            <a:endParaRPr lang="en-US" sz="1250" dirty="0"/>
          </a:p>
        </p:txBody>
      </p:sp>
      <p:sp>
        <p:nvSpPr>
          <p:cNvPr id="12" name="Text 10"/>
          <p:cNvSpPr/>
          <p:nvPr/>
        </p:nvSpPr>
        <p:spPr>
          <a:xfrm>
            <a:off x="5422392" y="2148840"/>
            <a:ext cx="3383280" cy="804672"/>
          </a:xfrm>
          <a:prstGeom prst="rect">
            <a:avLst/>
          </a:prstGeom>
          <a:noFill/>
          <a:ln/>
        </p:spPr>
        <p:txBody>
          <a:bodyPr wrap="square" lIns="0" tIns="0" rIns="0" bIns="0" rtlCol="0" anchor="ctr"/>
          <a:lstStyle/>
          <a:p>
            <a:pPr indent="0" marL="0">
              <a:buNone/>
            </a:pPr>
            <a:r>
              <a:rPr lang="en-US" sz="1100" dirty="0">
                <a:solidFill>
                  <a:srgbClr val="BFDBFE"/>
                </a:solidFill>
              </a:rPr>
              <a:t>Para compensar el tamaño mayor de las firmas hash, se usarán STARKs (pruebas de conocimiento cero) para agregar miles de firmas eficientemente. Los STARKs también son resistentes a cuántica.</a:t>
            </a:r>
            <a:endParaRPr lang="en-US" sz="1100" dirty="0"/>
          </a:p>
          <a:p>
            <a:pPr indent="0" marL="0">
              <a:buNone/>
            </a:pPr>
            <a:r>
              <a:rPr lang="en-US" sz="1100" dirty="0">
                <a:solidFill>
                  <a:srgbClr val="BFDBFE"/>
                </a:solidFill>
              </a:rPr>
              <a:t>La solución: pqSNARKs comprimen miles de firmas XMSS en una prueba de 2-3 MB, sin importar cuántos firmantes.</a:t>
            </a:r>
            <a:endParaRPr lang="en-US" sz="1100" dirty="0"/>
          </a:p>
        </p:txBody>
      </p:sp>
      <p:sp>
        <p:nvSpPr>
          <p:cNvPr id="13" name="Shape 11"/>
          <p:cNvSpPr/>
          <p:nvPr/>
        </p:nvSpPr>
        <p:spPr>
          <a:xfrm>
            <a:off x="365760" y="3154680"/>
            <a:ext cx="4114800" cy="1325880"/>
          </a:xfrm>
          <a:prstGeom prst="rect">
            <a:avLst/>
          </a:prstGeom>
          <a:solidFill>
            <a:srgbClr val="0F1E3D"/>
          </a:solidFill>
          <a:ln w="19050">
            <a:solidFill>
              <a:srgbClr val="10B981"/>
            </a:solidFill>
            <a:prstDash val="solid"/>
          </a:ln>
          <a:effectLst>
            <a:outerShdw sx="100000" sy="100000" kx="0" ky="0" algn="bl" rotWithShape="0" blurRad="101600" dist="38100" dir="8100000">
              <a:srgbClr val="000000">
                <a:alpha val="30000"/>
              </a:srgbClr>
            </a:outerShdw>
          </a:effectLst>
        </p:spPr>
      </p:sp>
      <p:sp>
        <p:nvSpPr>
          <p:cNvPr id="14" name="Text 12"/>
          <p:cNvSpPr/>
          <p:nvPr/>
        </p:nvSpPr>
        <p:spPr>
          <a:xfrm>
            <a:off x="365760" y="3154680"/>
            <a:ext cx="594360" cy="132588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5" name="Text 13"/>
          <p:cNvSpPr/>
          <p:nvPr/>
        </p:nvSpPr>
        <p:spPr>
          <a:xfrm>
            <a:off x="987552" y="3227832"/>
            <a:ext cx="3383280" cy="384048"/>
          </a:xfrm>
          <a:prstGeom prst="rect">
            <a:avLst/>
          </a:prstGeom>
          <a:noFill/>
          <a:ln/>
        </p:spPr>
        <p:txBody>
          <a:bodyPr wrap="square" lIns="0" tIns="0" rIns="0" bIns="0" rtlCol="0" anchor="ctr"/>
          <a:lstStyle/>
          <a:p>
            <a:pPr indent="0" marL="0">
              <a:buNone/>
            </a:pPr>
            <a:r>
              <a:rPr lang="en-US" sz="1250" b="1" dirty="0">
                <a:solidFill>
                  <a:srgbClr val="10B981"/>
                </a:solidFill>
              </a:rPr>
              <a:t>Beam Chain — rediseño del consenso</a:t>
            </a:r>
            <a:endParaRPr lang="en-US" sz="1250" dirty="0"/>
          </a:p>
        </p:txBody>
      </p:sp>
      <p:sp>
        <p:nvSpPr>
          <p:cNvPr id="16" name="Text 14"/>
          <p:cNvSpPr/>
          <p:nvPr/>
        </p:nvSpPr>
        <p:spPr>
          <a:xfrm>
            <a:off x="987552" y="3611880"/>
            <a:ext cx="3383280" cy="804672"/>
          </a:xfrm>
          <a:prstGeom prst="rect">
            <a:avLst/>
          </a:prstGeom>
          <a:noFill/>
          <a:ln/>
        </p:spPr>
        <p:txBody>
          <a:bodyPr wrap="square" lIns="0" tIns="0" rIns="0" bIns="0" rtlCol="0" anchor="ctr"/>
          <a:lstStyle/>
          <a:p>
            <a:pPr indent="0" marL="0">
              <a:buNone/>
            </a:pPr>
            <a:r>
              <a:rPr lang="en-US" sz="1100" dirty="0">
                <a:solidFill>
                  <a:srgbClr val="BFDBFE"/>
                </a:solidFill>
              </a:rPr>
              <a:t>El Beam Chain reduce el tiempo de finalización a 12 segundos y simplifica la estructura para que la transición a primitivas post-cuánticas sea viable sin sacrificar performance.</a:t>
            </a:r>
            <a:endParaRPr lang="en-US" sz="1100" dirty="0"/>
          </a:p>
        </p:txBody>
      </p:sp>
      <p:sp>
        <p:nvSpPr>
          <p:cNvPr id="17" name="Shape 15"/>
          <p:cNvSpPr/>
          <p:nvPr/>
        </p:nvSpPr>
        <p:spPr>
          <a:xfrm>
            <a:off x="4800600" y="3154680"/>
            <a:ext cx="4114800" cy="1325880"/>
          </a:xfrm>
          <a:prstGeom prst="rect">
            <a:avLst/>
          </a:prstGeom>
          <a:solidFill>
            <a:srgbClr val="0F1E3D"/>
          </a:solidFill>
          <a:ln w="19050">
            <a:solidFill>
              <a:srgbClr val="A78BFA"/>
            </a:solidFill>
            <a:prstDash val="solid"/>
          </a:ln>
          <a:effectLst>
            <a:outerShdw sx="100000" sy="100000" kx="0" ky="0" algn="bl" rotWithShape="0" blurRad="101600" dist="38100" dir="8100000">
              <a:srgbClr val="000000">
                <a:alpha val="30000"/>
              </a:srgbClr>
            </a:outerShdw>
          </a:effectLst>
        </p:spPr>
      </p:sp>
      <p:sp>
        <p:nvSpPr>
          <p:cNvPr id="18" name="Text 16"/>
          <p:cNvSpPr/>
          <p:nvPr/>
        </p:nvSpPr>
        <p:spPr>
          <a:xfrm>
            <a:off x="4800600" y="3154680"/>
            <a:ext cx="594360" cy="132588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9" name="Text 17"/>
          <p:cNvSpPr/>
          <p:nvPr/>
        </p:nvSpPr>
        <p:spPr>
          <a:xfrm>
            <a:off x="5422392" y="3227832"/>
            <a:ext cx="3383280" cy="384048"/>
          </a:xfrm>
          <a:prstGeom prst="rect">
            <a:avLst/>
          </a:prstGeom>
          <a:noFill/>
          <a:ln/>
        </p:spPr>
        <p:txBody>
          <a:bodyPr wrap="square" lIns="0" tIns="0" rIns="0" bIns="0" rtlCol="0" anchor="ctr"/>
          <a:lstStyle/>
          <a:p>
            <a:pPr indent="0" marL="0">
              <a:buNone/>
            </a:pPr>
            <a:r>
              <a:rPr lang="en-US" sz="1250" b="1" dirty="0">
                <a:solidFill>
                  <a:srgbClr val="A78BFA"/>
                </a:solidFill>
              </a:rPr>
              <a:t>Conexión directa con XMSS</a:t>
            </a:r>
            <a:endParaRPr lang="en-US" sz="1250" dirty="0"/>
          </a:p>
        </p:txBody>
      </p:sp>
      <p:sp>
        <p:nvSpPr>
          <p:cNvPr id="20" name="Text 18"/>
          <p:cNvSpPr/>
          <p:nvPr/>
        </p:nvSpPr>
        <p:spPr>
          <a:xfrm>
            <a:off x="5422392" y="3611880"/>
            <a:ext cx="3383280" cy="804672"/>
          </a:xfrm>
          <a:prstGeom prst="rect">
            <a:avLst/>
          </a:prstGeom>
          <a:noFill/>
          <a:ln/>
        </p:spPr>
        <p:txBody>
          <a:bodyPr wrap="square" lIns="0" tIns="0" rIns="0" bIns="0" rtlCol="0" anchor="ctr"/>
          <a:lstStyle/>
          <a:p>
            <a:pPr indent="0" marL="0">
              <a:buNone/>
            </a:pPr>
            <a:r>
              <a:rPr lang="en-US" sz="1100" dirty="0">
                <a:solidFill>
                  <a:srgbClr val="BFDBFE"/>
                </a:solidFill>
              </a:rPr>
              <a:t>XMSS y sus variantes Winternitz son parte de la familia de esquemas que el NIST estandarizó (SP 800-208). Ethereum no usará XMSS textualmente pero sí la misma base matemática.</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80E1A"/>
        </a:solidFill>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6350">
            <a:solidFill>
              <a:srgbClr val="1E3A5F"/>
            </a:solidFill>
            <a:prstDash val="solid"/>
          </a:ln>
        </p:spPr>
      </p:sp>
      <p:sp>
        <p:nvSpPr>
          <p:cNvPr id="3" name="Shape 1"/>
          <p:cNvSpPr/>
          <p:nvPr/>
        </p:nvSpPr>
        <p:spPr>
          <a:xfrm>
            <a:off x="0" y="0"/>
            <a:ext cx="9144000" cy="0"/>
          </a:xfrm>
          <a:prstGeom prst="line">
            <a:avLst/>
          </a:prstGeom>
          <a:noFill/>
          <a:ln w="6350">
            <a:solidFill>
              <a:srgbClr val="1E3A5F"/>
            </a:solidFill>
            <a:prstDash val="solid"/>
          </a:ln>
        </p:spPr>
      </p:sp>
      <p:sp>
        <p:nvSpPr>
          <p:cNvPr id="4" name="Shape 2"/>
          <p:cNvSpPr/>
          <p:nvPr/>
        </p:nvSpPr>
        <p:spPr>
          <a:xfrm>
            <a:off x="1005840" y="0"/>
            <a:ext cx="0" cy="5143500"/>
          </a:xfrm>
          <a:prstGeom prst="line">
            <a:avLst/>
          </a:prstGeom>
          <a:noFill/>
          <a:ln w="6350">
            <a:solidFill>
              <a:srgbClr val="1E3A5F"/>
            </a:solidFill>
            <a:prstDash val="solid"/>
          </a:ln>
        </p:spPr>
      </p:sp>
      <p:sp>
        <p:nvSpPr>
          <p:cNvPr id="5" name="Shape 3"/>
          <p:cNvSpPr/>
          <p:nvPr/>
        </p:nvSpPr>
        <p:spPr>
          <a:xfrm>
            <a:off x="0" y="594360"/>
            <a:ext cx="9144000" cy="0"/>
          </a:xfrm>
          <a:prstGeom prst="line">
            <a:avLst/>
          </a:prstGeom>
          <a:noFill/>
          <a:ln w="6350">
            <a:solidFill>
              <a:srgbClr val="1E3A5F"/>
            </a:solidFill>
            <a:prstDash val="solid"/>
          </a:ln>
        </p:spPr>
      </p:sp>
      <p:sp>
        <p:nvSpPr>
          <p:cNvPr id="6" name="Shape 4"/>
          <p:cNvSpPr/>
          <p:nvPr/>
        </p:nvSpPr>
        <p:spPr>
          <a:xfrm>
            <a:off x="2011680" y="0"/>
            <a:ext cx="0" cy="5143500"/>
          </a:xfrm>
          <a:prstGeom prst="line">
            <a:avLst/>
          </a:prstGeom>
          <a:noFill/>
          <a:ln w="6350">
            <a:solidFill>
              <a:srgbClr val="1E3A5F"/>
            </a:solidFill>
            <a:prstDash val="solid"/>
          </a:ln>
        </p:spPr>
      </p:sp>
      <p:sp>
        <p:nvSpPr>
          <p:cNvPr id="7" name="Shape 5"/>
          <p:cNvSpPr/>
          <p:nvPr/>
        </p:nvSpPr>
        <p:spPr>
          <a:xfrm>
            <a:off x="0" y="1188720"/>
            <a:ext cx="9144000" cy="0"/>
          </a:xfrm>
          <a:prstGeom prst="line">
            <a:avLst/>
          </a:prstGeom>
          <a:noFill/>
          <a:ln w="6350">
            <a:solidFill>
              <a:srgbClr val="1E3A5F"/>
            </a:solidFill>
            <a:prstDash val="solid"/>
          </a:ln>
        </p:spPr>
      </p:sp>
      <p:sp>
        <p:nvSpPr>
          <p:cNvPr id="8" name="Shape 6"/>
          <p:cNvSpPr/>
          <p:nvPr/>
        </p:nvSpPr>
        <p:spPr>
          <a:xfrm>
            <a:off x="3017520" y="0"/>
            <a:ext cx="0" cy="5143500"/>
          </a:xfrm>
          <a:prstGeom prst="line">
            <a:avLst/>
          </a:prstGeom>
          <a:noFill/>
          <a:ln w="6350">
            <a:solidFill>
              <a:srgbClr val="1E3A5F"/>
            </a:solidFill>
            <a:prstDash val="solid"/>
          </a:ln>
        </p:spPr>
      </p:sp>
      <p:sp>
        <p:nvSpPr>
          <p:cNvPr id="9" name="Shape 7"/>
          <p:cNvSpPr/>
          <p:nvPr/>
        </p:nvSpPr>
        <p:spPr>
          <a:xfrm>
            <a:off x="0" y="1783080"/>
            <a:ext cx="9144000" cy="0"/>
          </a:xfrm>
          <a:prstGeom prst="line">
            <a:avLst/>
          </a:prstGeom>
          <a:noFill/>
          <a:ln w="6350">
            <a:solidFill>
              <a:srgbClr val="1E3A5F"/>
            </a:solidFill>
            <a:prstDash val="solid"/>
          </a:ln>
        </p:spPr>
      </p:sp>
      <p:sp>
        <p:nvSpPr>
          <p:cNvPr id="10" name="Shape 8"/>
          <p:cNvSpPr/>
          <p:nvPr/>
        </p:nvSpPr>
        <p:spPr>
          <a:xfrm>
            <a:off x="4023360" y="0"/>
            <a:ext cx="0" cy="5143500"/>
          </a:xfrm>
          <a:prstGeom prst="line">
            <a:avLst/>
          </a:prstGeom>
          <a:noFill/>
          <a:ln w="6350">
            <a:solidFill>
              <a:srgbClr val="1E3A5F"/>
            </a:solidFill>
            <a:prstDash val="solid"/>
          </a:ln>
        </p:spPr>
      </p:sp>
      <p:sp>
        <p:nvSpPr>
          <p:cNvPr id="11" name="Shape 9"/>
          <p:cNvSpPr/>
          <p:nvPr/>
        </p:nvSpPr>
        <p:spPr>
          <a:xfrm>
            <a:off x="0" y="2377440"/>
            <a:ext cx="9144000" cy="0"/>
          </a:xfrm>
          <a:prstGeom prst="line">
            <a:avLst/>
          </a:prstGeom>
          <a:noFill/>
          <a:ln w="6350">
            <a:solidFill>
              <a:srgbClr val="1E3A5F"/>
            </a:solidFill>
            <a:prstDash val="solid"/>
          </a:ln>
        </p:spPr>
      </p:sp>
      <p:sp>
        <p:nvSpPr>
          <p:cNvPr id="12" name="Shape 10"/>
          <p:cNvSpPr/>
          <p:nvPr/>
        </p:nvSpPr>
        <p:spPr>
          <a:xfrm>
            <a:off x="5029200" y="0"/>
            <a:ext cx="0" cy="5143500"/>
          </a:xfrm>
          <a:prstGeom prst="line">
            <a:avLst/>
          </a:prstGeom>
          <a:noFill/>
          <a:ln w="6350">
            <a:solidFill>
              <a:srgbClr val="1E3A5F"/>
            </a:solidFill>
            <a:prstDash val="solid"/>
          </a:ln>
        </p:spPr>
      </p:sp>
      <p:sp>
        <p:nvSpPr>
          <p:cNvPr id="13" name="Shape 11"/>
          <p:cNvSpPr/>
          <p:nvPr/>
        </p:nvSpPr>
        <p:spPr>
          <a:xfrm>
            <a:off x="0" y="2971800"/>
            <a:ext cx="9144000" cy="0"/>
          </a:xfrm>
          <a:prstGeom prst="line">
            <a:avLst/>
          </a:prstGeom>
          <a:noFill/>
          <a:ln w="6350">
            <a:solidFill>
              <a:srgbClr val="1E3A5F"/>
            </a:solidFill>
            <a:prstDash val="solid"/>
          </a:ln>
        </p:spPr>
      </p:sp>
      <p:sp>
        <p:nvSpPr>
          <p:cNvPr id="14" name="Shape 12"/>
          <p:cNvSpPr/>
          <p:nvPr/>
        </p:nvSpPr>
        <p:spPr>
          <a:xfrm>
            <a:off x="6035040" y="0"/>
            <a:ext cx="0" cy="5143500"/>
          </a:xfrm>
          <a:prstGeom prst="line">
            <a:avLst/>
          </a:prstGeom>
          <a:noFill/>
          <a:ln w="6350">
            <a:solidFill>
              <a:srgbClr val="1E3A5F"/>
            </a:solidFill>
            <a:prstDash val="solid"/>
          </a:ln>
        </p:spPr>
      </p:sp>
      <p:sp>
        <p:nvSpPr>
          <p:cNvPr id="15" name="Shape 13"/>
          <p:cNvSpPr/>
          <p:nvPr/>
        </p:nvSpPr>
        <p:spPr>
          <a:xfrm>
            <a:off x="0" y="3566160"/>
            <a:ext cx="9144000" cy="0"/>
          </a:xfrm>
          <a:prstGeom prst="line">
            <a:avLst/>
          </a:prstGeom>
          <a:noFill/>
          <a:ln w="6350">
            <a:solidFill>
              <a:srgbClr val="1E3A5F"/>
            </a:solidFill>
            <a:prstDash val="solid"/>
          </a:ln>
        </p:spPr>
      </p:sp>
      <p:sp>
        <p:nvSpPr>
          <p:cNvPr id="16" name="Shape 14"/>
          <p:cNvSpPr/>
          <p:nvPr/>
        </p:nvSpPr>
        <p:spPr>
          <a:xfrm>
            <a:off x="7040880" y="0"/>
            <a:ext cx="0" cy="5143500"/>
          </a:xfrm>
          <a:prstGeom prst="line">
            <a:avLst/>
          </a:prstGeom>
          <a:noFill/>
          <a:ln w="6350">
            <a:solidFill>
              <a:srgbClr val="1E3A5F"/>
            </a:solidFill>
            <a:prstDash val="solid"/>
          </a:ln>
        </p:spPr>
      </p:sp>
      <p:sp>
        <p:nvSpPr>
          <p:cNvPr id="17" name="Shape 15"/>
          <p:cNvSpPr/>
          <p:nvPr/>
        </p:nvSpPr>
        <p:spPr>
          <a:xfrm>
            <a:off x="0" y="4160520"/>
            <a:ext cx="9144000" cy="0"/>
          </a:xfrm>
          <a:prstGeom prst="line">
            <a:avLst/>
          </a:prstGeom>
          <a:noFill/>
          <a:ln w="6350">
            <a:solidFill>
              <a:srgbClr val="1E3A5F"/>
            </a:solidFill>
            <a:prstDash val="solid"/>
          </a:ln>
        </p:spPr>
      </p:sp>
      <p:sp>
        <p:nvSpPr>
          <p:cNvPr id="18" name="Shape 16"/>
          <p:cNvSpPr/>
          <p:nvPr/>
        </p:nvSpPr>
        <p:spPr>
          <a:xfrm>
            <a:off x="8046720" y="0"/>
            <a:ext cx="0" cy="5143500"/>
          </a:xfrm>
          <a:prstGeom prst="line">
            <a:avLst/>
          </a:prstGeom>
          <a:noFill/>
          <a:ln w="6350">
            <a:solidFill>
              <a:srgbClr val="1E3A5F"/>
            </a:solidFill>
            <a:prstDash val="solid"/>
          </a:ln>
        </p:spPr>
      </p:sp>
      <p:sp>
        <p:nvSpPr>
          <p:cNvPr id="19" name="Shape 17"/>
          <p:cNvSpPr/>
          <p:nvPr/>
        </p:nvSpPr>
        <p:spPr>
          <a:xfrm>
            <a:off x="0" y="4754880"/>
            <a:ext cx="9144000" cy="0"/>
          </a:xfrm>
          <a:prstGeom prst="line">
            <a:avLst/>
          </a:prstGeom>
          <a:noFill/>
          <a:ln w="6350">
            <a:solidFill>
              <a:srgbClr val="1E3A5F"/>
            </a:solidFill>
            <a:prstDash val="solid"/>
          </a:ln>
        </p:spPr>
      </p:sp>
      <p:sp>
        <p:nvSpPr>
          <p:cNvPr id="20" name="Shape 18"/>
          <p:cNvSpPr/>
          <p:nvPr/>
        </p:nvSpPr>
        <p:spPr>
          <a:xfrm>
            <a:off x="9052560" y="0"/>
            <a:ext cx="0" cy="5143500"/>
          </a:xfrm>
          <a:prstGeom prst="line">
            <a:avLst/>
          </a:prstGeom>
          <a:noFill/>
          <a:ln w="6350">
            <a:solidFill>
              <a:srgbClr val="1E3A5F"/>
            </a:solidFill>
            <a:prstDash val="solid"/>
          </a:ln>
        </p:spPr>
      </p:sp>
      <p:sp>
        <p:nvSpPr>
          <p:cNvPr id="21" name="Shape 19"/>
          <p:cNvSpPr/>
          <p:nvPr/>
        </p:nvSpPr>
        <p:spPr>
          <a:xfrm>
            <a:off x="0" y="5349240"/>
            <a:ext cx="9144000" cy="0"/>
          </a:xfrm>
          <a:prstGeom prst="line">
            <a:avLst/>
          </a:prstGeom>
          <a:noFill/>
          <a:ln w="6350">
            <a:solidFill>
              <a:srgbClr val="1E3A5F"/>
            </a:solidFill>
            <a:prstDash val="solid"/>
          </a:ln>
        </p:spPr>
      </p:sp>
      <p:sp>
        <p:nvSpPr>
          <p:cNvPr id="22" name="Shape 20"/>
          <p:cNvSpPr/>
          <p:nvPr/>
        </p:nvSpPr>
        <p:spPr>
          <a:xfrm>
            <a:off x="1828800" y="274320"/>
            <a:ext cx="5486400" cy="4572000"/>
          </a:xfrm>
          <a:prstGeom prst="ellipse">
            <a:avLst/>
          </a:prstGeom>
          <a:solidFill>
            <a:srgbClr val="2563EB">
              <a:alpha val="7000"/>
            </a:srgbClr>
          </a:solidFill>
          <a:ln w="12700">
            <a:solidFill>
              <a:srgbClr val="333333"/>
            </a:solidFill>
            <a:prstDash val="solid"/>
          </a:ln>
        </p:spPr>
      </p:sp>
      <p:sp>
        <p:nvSpPr>
          <p:cNvPr id="23" name="Text 21"/>
          <p:cNvSpPr/>
          <p:nvPr/>
        </p:nvSpPr>
        <p:spPr>
          <a:xfrm>
            <a:off x="457200" y="274320"/>
            <a:ext cx="8229600" cy="457200"/>
          </a:xfrm>
          <a:prstGeom prst="rect">
            <a:avLst/>
          </a:prstGeom>
          <a:noFill/>
          <a:ln/>
        </p:spPr>
        <p:txBody>
          <a:bodyPr wrap="square" lIns="0" tIns="0" rIns="0" bIns="0" rtlCol="0" anchor="ctr"/>
          <a:lstStyle/>
          <a:p>
            <a:pPr algn="ctr" indent="0" marL="0">
              <a:buNone/>
            </a:pPr>
            <a:r>
              <a:rPr lang="en-US" sz="1400" b="1" spc="300" kern="0" dirty="0">
                <a:solidFill>
                  <a:srgbClr val="64748B"/>
                </a:solidFill>
              </a:rPr>
              <a:t>Conclusiones</a:t>
            </a:r>
            <a:endParaRPr lang="en-US" sz="1400" dirty="0"/>
          </a:p>
        </p:txBody>
      </p:sp>
      <p:sp>
        <p:nvSpPr>
          <p:cNvPr id="24" name="Shape 22"/>
          <p:cNvSpPr/>
          <p:nvPr/>
        </p:nvSpPr>
        <p:spPr>
          <a:xfrm>
            <a:off x="457200" y="960120"/>
            <a:ext cx="3931920" cy="1600200"/>
          </a:xfrm>
          <a:prstGeom prst="rect">
            <a:avLst/>
          </a:prstGeom>
          <a:solidFill>
            <a:srgbClr val="0F1E3D">
              <a:alpha val="80000"/>
            </a:srgbClr>
          </a:solidFill>
          <a:ln w="19050">
            <a:solidFill>
              <a:srgbClr val="F59E0B"/>
            </a:solidFill>
            <a:prstDash val="solid"/>
          </a:ln>
          <a:effectLst>
            <a:outerShdw sx="100000" sy="100000" kx="0" ky="0" algn="bl" rotWithShape="0" blurRad="101600" dist="38100" dir="8100000">
              <a:srgbClr val="000000">
                <a:alpha val="30000"/>
              </a:srgbClr>
            </a:outerShdw>
          </a:effectLst>
        </p:spPr>
      </p:sp>
      <p:sp>
        <p:nvSpPr>
          <p:cNvPr id="25" name="Shape 23"/>
          <p:cNvSpPr/>
          <p:nvPr/>
        </p:nvSpPr>
        <p:spPr>
          <a:xfrm>
            <a:off x="457200" y="960120"/>
            <a:ext cx="3931920" cy="411480"/>
          </a:xfrm>
          <a:prstGeom prst="rect">
            <a:avLst/>
          </a:prstGeom>
          <a:solidFill>
            <a:srgbClr val="F59E0B">
              <a:alpha val="75000"/>
            </a:srgbClr>
          </a:solidFill>
          <a:ln w="12700">
            <a:solidFill>
              <a:srgbClr val="333333"/>
            </a:solidFill>
            <a:prstDash val="solid"/>
          </a:ln>
        </p:spPr>
      </p:sp>
      <p:sp>
        <p:nvSpPr>
          <p:cNvPr id="26" name="Text 24"/>
          <p:cNvSpPr/>
          <p:nvPr/>
        </p:nvSpPr>
        <p:spPr>
          <a:xfrm>
            <a:off x="566928" y="960120"/>
            <a:ext cx="3712464" cy="411480"/>
          </a:xfrm>
          <a:prstGeom prst="rect">
            <a:avLst/>
          </a:prstGeom>
          <a:noFill/>
          <a:ln/>
        </p:spPr>
        <p:txBody>
          <a:bodyPr wrap="square" lIns="0" tIns="0" rIns="0" bIns="0" rtlCol="0" anchor="ctr"/>
          <a:lstStyle/>
          <a:p>
            <a:pPr indent="0" marL="0">
              <a:buNone/>
            </a:pPr>
            <a:r>
              <a:rPr lang="en-US" sz="1350" b="1" dirty="0">
                <a:solidFill>
                  <a:srgbClr val="F8FAFC"/>
                </a:solidFill>
              </a:rPr>
              <a:t>XMSS se basa en hash</a:t>
            </a:r>
            <a:endParaRPr lang="en-US" sz="1350" dirty="0"/>
          </a:p>
        </p:txBody>
      </p:sp>
      <p:sp>
        <p:nvSpPr>
          <p:cNvPr id="27" name="Text 25"/>
          <p:cNvSpPr/>
          <p:nvPr/>
        </p:nvSpPr>
        <p:spPr>
          <a:xfrm>
            <a:off x="594360" y="1417320"/>
            <a:ext cx="3657600" cy="1078992"/>
          </a:xfrm>
          <a:prstGeom prst="rect">
            <a:avLst/>
          </a:prstGeom>
          <a:noFill/>
          <a:ln/>
        </p:spPr>
        <p:txBody>
          <a:bodyPr wrap="square" lIns="0" tIns="0" rIns="0" bIns="0" rtlCol="0" anchor="ctr"/>
          <a:lstStyle/>
          <a:p>
            <a:pPr indent="0" marL="0">
              <a:buNone/>
            </a:pPr>
            <a:r>
              <a:rPr lang="en-US" sz="1200" dirty="0">
                <a:solidFill>
                  <a:srgbClr val="BFDBFE"/>
                </a:solidFill>
              </a:rPr>
              <a:t>La única suposición de seguridad es la resistencia de SHA-256 — mucho más sólida que el problema del logaritmo discreto.</a:t>
            </a:r>
            <a:endParaRPr lang="en-US" sz="1200" dirty="0"/>
          </a:p>
        </p:txBody>
      </p:sp>
      <p:sp>
        <p:nvSpPr>
          <p:cNvPr id="28" name="Shape 26"/>
          <p:cNvSpPr/>
          <p:nvPr/>
        </p:nvSpPr>
        <p:spPr>
          <a:xfrm>
            <a:off x="4709160" y="960120"/>
            <a:ext cx="3931920" cy="1600200"/>
          </a:xfrm>
          <a:prstGeom prst="rect">
            <a:avLst/>
          </a:prstGeom>
          <a:solidFill>
            <a:srgbClr val="0F1E3D">
              <a:alpha val="80000"/>
            </a:srgbClr>
          </a:solidFill>
          <a:ln w="19050">
            <a:solidFill>
              <a:srgbClr val="10B981"/>
            </a:solidFill>
            <a:prstDash val="solid"/>
          </a:ln>
          <a:effectLst>
            <a:outerShdw sx="100000" sy="100000" kx="0" ky="0" algn="bl" rotWithShape="0" blurRad="101600" dist="38100" dir="8100000">
              <a:srgbClr val="000000">
                <a:alpha val="30000"/>
              </a:srgbClr>
            </a:outerShdw>
          </a:effectLst>
        </p:spPr>
      </p:sp>
      <p:sp>
        <p:nvSpPr>
          <p:cNvPr id="29" name="Shape 27"/>
          <p:cNvSpPr/>
          <p:nvPr/>
        </p:nvSpPr>
        <p:spPr>
          <a:xfrm>
            <a:off x="4709160" y="960120"/>
            <a:ext cx="3931920" cy="411480"/>
          </a:xfrm>
          <a:prstGeom prst="rect">
            <a:avLst/>
          </a:prstGeom>
          <a:solidFill>
            <a:srgbClr val="10B981">
              <a:alpha val="75000"/>
            </a:srgbClr>
          </a:solidFill>
          <a:ln w="12700">
            <a:solidFill>
              <a:srgbClr val="333333"/>
            </a:solidFill>
            <a:prstDash val="solid"/>
          </a:ln>
        </p:spPr>
      </p:sp>
      <p:sp>
        <p:nvSpPr>
          <p:cNvPr id="30" name="Text 28"/>
          <p:cNvSpPr/>
          <p:nvPr/>
        </p:nvSpPr>
        <p:spPr>
          <a:xfrm>
            <a:off x="4818888" y="960120"/>
            <a:ext cx="3712464" cy="411480"/>
          </a:xfrm>
          <a:prstGeom prst="rect">
            <a:avLst/>
          </a:prstGeom>
          <a:noFill/>
          <a:ln/>
        </p:spPr>
        <p:txBody>
          <a:bodyPr wrap="square" lIns="0" tIns="0" rIns="0" bIns="0" rtlCol="0" anchor="ctr"/>
          <a:lstStyle/>
          <a:p>
            <a:pPr indent="0" marL="0">
              <a:buNone/>
            </a:pPr>
            <a:r>
              <a:rPr lang="en-US" sz="1350" b="1" dirty="0">
                <a:solidFill>
                  <a:srgbClr val="F8FAFC"/>
                </a:solidFill>
              </a:rPr>
              <a:t>El árbol de Merkle es el corazón</a:t>
            </a:r>
            <a:endParaRPr lang="en-US" sz="1350" dirty="0"/>
          </a:p>
        </p:txBody>
      </p:sp>
      <p:sp>
        <p:nvSpPr>
          <p:cNvPr id="31" name="Text 29"/>
          <p:cNvSpPr/>
          <p:nvPr/>
        </p:nvSpPr>
        <p:spPr>
          <a:xfrm>
            <a:off x="4846320" y="1417320"/>
            <a:ext cx="3657600" cy="1078992"/>
          </a:xfrm>
          <a:prstGeom prst="rect">
            <a:avLst/>
          </a:prstGeom>
          <a:noFill/>
          <a:ln/>
        </p:spPr>
        <p:txBody>
          <a:bodyPr wrap="square" lIns="0" tIns="0" rIns="0" bIns="0" rtlCol="0" anchor="ctr"/>
          <a:lstStyle/>
          <a:p>
            <a:pPr indent="0" marL="0">
              <a:buNone/>
            </a:pPr>
            <a:r>
              <a:rPr lang="en-US" sz="1200" dirty="0">
                <a:solidFill>
                  <a:srgbClr val="BFDBFE"/>
                </a:solidFill>
              </a:rPr>
              <a:t>Permite usar miles de claves OTS de un solo uso bajo una única clave pública de solo 64 bytes.</a:t>
            </a:r>
            <a:endParaRPr lang="en-US" sz="1200" dirty="0"/>
          </a:p>
        </p:txBody>
      </p:sp>
      <p:sp>
        <p:nvSpPr>
          <p:cNvPr id="32" name="Shape 30"/>
          <p:cNvSpPr/>
          <p:nvPr/>
        </p:nvSpPr>
        <p:spPr>
          <a:xfrm>
            <a:off x="457200" y="2743200"/>
            <a:ext cx="3931920" cy="1600200"/>
          </a:xfrm>
          <a:prstGeom prst="rect">
            <a:avLst/>
          </a:prstGeom>
          <a:solidFill>
            <a:srgbClr val="0F1E3D">
              <a:alpha val="80000"/>
            </a:srgbClr>
          </a:solidFill>
          <a:ln w="19050">
            <a:solidFill>
              <a:srgbClr val="EF4444"/>
            </a:solidFill>
            <a:prstDash val="solid"/>
          </a:ln>
          <a:effectLst>
            <a:outerShdw sx="100000" sy="100000" kx="0" ky="0" algn="bl" rotWithShape="0" blurRad="101600" dist="38100" dir="8100000">
              <a:srgbClr val="000000">
                <a:alpha val="30000"/>
              </a:srgbClr>
            </a:outerShdw>
          </a:effectLst>
        </p:spPr>
      </p:sp>
      <p:sp>
        <p:nvSpPr>
          <p:cNvPr id="33" name="Shape 31"/>
          <p:cNvSpPr/>
          <p:nvPr/>
        </p:nvSpPr>
        <p:spPr>
          <a:xfrm>
            <a:off x="457200" y="2743200"/>
            <a:ext cx="3931920" cy="411480"/>
          </a:xfrm>
          <a:prstGeom prst="rect">
            <a:avLst/>
          </a:prstGeom>
          <a:solidFill>
            <a:srgbClr val="EF4444">
              <a:alpha val="75000"/>
            </a:srgbClr>
          </a:solidFill>
          <a:ln w="12700">
            <a:solidFill>
              <a:srgbClr val="333333"/>
            </a:solidFill>
            <a:prstDash val="solid"/>
          </a:ln>
        </p:spPr>
      </p:sp>
      <p:sp>
        <p:nvSpPr>
          <p:cNvPr id="34" name="Text 32"/>
          <p:cNvSpPr/>
          <p:nvPr/>
        </p:nvSpPr>
        <p:spPr>
          <a:xfrm>
            <a:off x="566928" y="2743200"/>
            <a:ext cx="3712464" cy="411480"/>
          </a:xfrm>
          <a:prstGeom prst="rect">
            <a:avLst/>
          </a:prstGeom>
          <a:noFill/>
          <a:ln/>
        </p:spPr>
        <p:txBody>
          <a:bodyPr wrap="square" lIns="0" tIns="0" rIns="0" bIns="0" rtlCol="0" anchor="ctr"/>
          <a:lstStyle/>
          <a:p>
            <a:pPr indent="0" marL="0">
              <a:buNone/>
            </a:pPr>
            <a:r>
              <a:rPr lang="en-US" sz="1350" b="1" dirty="0">
                <a:solidFill>
                  <a:srgbClr val="F8FAFC"/>
                </a:solidFill>
              </a:rPr>
              <a:t>El estado es crítico</a:t>
            </a:r>
            <a:endParaRPr lang="en-US" sz="1350" dirty="0"/>
          </a:p>
        </p:txBody>
      </p:sp>
      <p:sp>
        <p:nvSpPr>
          <p:cNvPr id="35" name="Text 33"/>
          <p:cNvSpPr/>
          <p:nvPr/>
        </p:nvSpPr>
        <p:spPr>
          <a:xfrm>
            <a:off x="594360" y="3200400"/>
            <a:ext cx="3657600" cy="1078992"/>
          </a:xfrm>
          <a:prstGeom prst="rect">
            <a:avLst/>
          </a:prstGeom>
          <a:noFill/>
          <a:ln/>
        </p:spPr>
        <p:txBody>
          <a:bodyPr wrap="square" lIns="0" tIns="0" rIns="0" bIns="0" rtlCol="0" anchor="ctr"/>
          <a:lstStyle/>
          <a:p>
            <a:pPr indent="0" marL="0">
              <a:buNone/>
            </a:pPr>
            <a:r>
              <a:rPr lang="en-US" sz="1200" dirty="0">
                <a:solidFill>
                  <a:srgbClr val="BFDBFE"/>
                </a:solidFill>
              </a:rPr>
              <a:t>La gestión del índice es la responsabilidad operativa central. Una falla aquí puede comprometer toda la seguridad.</a:t>
            </a:r>
            <a:endParaRPr lang="en-US" sz="1200" dirty="0"/>
          </a:p>
        </p:txBody>
      </p:sp>
      <p:sp>
        <p:nvSpPr>
          <p:cNvPr id="36" name="Shape 34"/>
          <p:cNvSpPr/>
          <p:nvPr/>
        </p:nvSpPr>
        <p:spPr>
          <a:xfrm>
            <a:off x="4709160" y="2743200"/>
            <a:ext cx="3931920" cy="1600200"/>
          </a:xfrm>
          <a:prstGeom prst="rect">
            <a:avLst/>
          </a:prstGeom>
          <a:solidFill>
            <a:srgbClr val="0F1E3D">
              <a:alpha val="80000"/>
            </a:srgbClr>
          </a:solidFill>
          <a:ln w="19050">
            <a:solidFill>
              <a:srgbClr val="A78BFA"/>
            </a:solidFill>
            <a:prstDash val="solid"/>
          </a:ln>
          <a:effectLst>
            <a:outerShdw sx="100000" sy="100000" kx="0" ky="0" algn="bl" rotWithShape="0" blurRad="101600" dist="38100" dir="8100000">
              <a:srgbClr val="000000">
                <a:alpha val="30000"/>
              </a:srgbClr>
            </a:outerShdw>
          </a:effectLst>
        </p:spPr>
      </p:sp>
      <p:sp>
        <p:nvSpPr>
          <p:cNvPr id="37" name="Shape 35"/>
          <p:cNvSpPr/>
          <p:nvPr/>
        </p:nvSpPr>
        <p:spPr>
          <a:xfrm>
            <a:off x="4709160" y="2743200"/>
            <a:ext cx="3931920" cy="411480"/>
          </a:xfrm>
          <a:prstGeom prst="rect">
            <a:avLst/>
          </a:prstGeom>
          <a:solidFill>
            <a:srgbClr val="A78BFA">
              <a:alpha val="75000"/>
            </a:srgbClr>
          </a:solidFill>
          <a:ln w="12700">
            <a:solidFill>
              <a:srgbClr val="333333"/>
            </a:solidFill>
            <a:prstDash val="solid"/>
          </a:ln>
        </p:spPr>
      </p:sp>
      <p:sp>
        <p:nvSpPr>
          <p:cNvPr id="38" name="Text 36"/>
          <p:cNvSpPr/>
          <p:nvPr/>
        </p:nvSpPr>
        <p:spPr>
          <a:xfrm>
            <a:off x="4818888" y="2743200"/>
            <a:ext cx="3712464" cy="411480"/>
          </a:xfrm>
          <a:prstGeom prst="rect">
            <a:avLst/>
          </a:prstGeom>
          <a:noFill/>
          <a:ln/>
        </p:spPr>
        <p:txBody>
          <a:bodyPr wrap="square" lIns="0" tIns="0" rIns="0" bIns="0" rtlCol="0" anchor="ctr"/>
          <a:lstStyle/>
          <a:p>
            <a:pPr indent="0" marL="0">
              <a:buNone/>
            </a:pPr>
            <a:r>
              <a:rPr lang="en-US" sz="1350" b="1" dirty="0">
                <a:solidFill>
                  <a:srgbClr val="F8FAFC"/>
                </a:solidFill>
              </a:rPr>
              <a:t>El futuro es post-cuántico</a:t>
            </a:r>
            <a:endParaRPr lang="en-US" sz="1350" dirty="0"/>
          </a:p>
        </p:txBody>
      </p:sp>
      <p:sp>
        <p:nvSpPr>
          <p:cNvPr id="39" name="Text 37"/>
          <p:cNvSpPr/>
          <p:nvPr/>
        </p:nvSpPr>
        <p:spPr>
          <a:xfrm>
            <a:off x="4846320" y="3200400"/>
            <a:ext cx="3657600" cy="1078992"/>
          </a:xfrm>
          <a:prstGeom prst="rect">
            <a:avLst/>
          </a:prstGeom>
          <a:noFill/>
          <a:ln/>
        </p:spPr>
        <p:txBody>
          <a:bodyPr wrap="square" lIns="0" tIns="0" rIns="0" bIns="0" rtlCol="0" anchor="ctr"/>
          <a:lstStyle/>
          <a:p>
            <a:pPr indent="0" marL="0">
              <a:buNone/>
            </a:pPr>
            <a:r>
              <a:rPr lang="en-US" sz="1200" dirty="0">
                <a:solidFill>
                  <a:srgbClr val="BFDBFE"/>
                </a:solidFill>
              </a:rPr>
              <a:t>El NIST lo estandarizó en 2022. Lean Ethereum lo está adoptando. Quien diseña sistemas hoy debe considerarlo.</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E3D"/>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3B82F6"/>
          </a:solidFill>
          <a:ln w="12700">
            <a:solidFill>
              <a:srgbClr val="333333"/>
            </a:solidFill>
            <a:prstDash val="solid"/>
          </a:ln>
        </p:spPr>
      </p:sp>
      <p:sp>
        <p:nvSpPr>
          <p:cNvPr id="3" name="Title"/>
          <p:cNvSpPr/>
          <p:nvPr/>
        </p:nvSpPr>
        <p:spPr>
          <a:xfrm>
            <a:off x="274320" y="137160"/>
            <a:ext cx="8412480" cy="411480"/>
          </a:xfrm>
          <a:prstGeom prst="rect">
            <a:avLst/>
          </a:prstGeom>
          <a:noFill/>
          <a:ln/>
        </p:spPr>
        <p:txBody>
          <a:bodyPr wrap="square" lIns="0" tIns="0" rIns="0" bIns="0" rtlCol="0" anchor="ctr"/>
          <a:lstStyle/>
          <a:p>
            <a:pPr indent="0" marL="0">
              <a:buNone/>
            </a:pPr>
            <a:r>
              <a:rPr lang="es-ES" sz="2200" b="1" dirty="0">
                <a:solidFill>
                  <a:srgbClr val="F8FAFC"/>
                </a:solidFill>
                <a:latin typeface="Arial" pitchFamily="34" charset="0"/>
              </a:rPr>
              <a:t>Ejemplo: Winternitz OTS con 4 bits</a:t>
            </a:r>
          </a:p>
        </p:txBody>
      </p:sp>
      <p:sp>
        <p:nvSpPr>
          <p:cNvPr id="4" name="Subtitle"/>
          <p:cNvSpPr/>
          <p:nvPr/>
        </p:nvSpPr>
        <p:spPr>
          <a:xfrm>
            <a:off x="274320" y="500000"/>
            <a:ext cx="8412480" cy="280000"/>
          </a:xfrm>
          <a:prstGeom prst="rect">
            <a:avLst/>
          </a:prstGeom>
          <a:noFill/>
          <a:ln/>
        </p:spPr>
        <p:txBody>
          <a:bodyPr wrap="square" lIns="0" tIns="0" rIns="0" bIns="0" rtlCol="0" anchor="ctr"/>
          <a:lstStyle/>
          <a:p>
            <a:pPr indent="0" marL="0">
              <a:buNone/>
            </a:pPr>
            <a:r>
              <a:rPr lang="es-ES" sz="1200" dirty="0">
                <a:solidFill>
                  <a:srgbClr val="64748B"/>
                </a:solidFill>
              </a:rPr>
              <a:t>Paso 1 — Clave privada, cadenas de hash y clave pública</a:t>
            </a:r>
          </a:p>
        </p:txBody>
      </p:sp>
      <p:sp>
        <p:nvSpPr>
          <p:cNvPr id="5" name="Line"/>
          <p:cNvSpPr/>
          <p:nvPr/>
        </p:nvSpPr>
        <p:spPr>
          <a:xfrm>
            <a:off x="274320" y="780000"/>
            <a:ext cx="8412480" cy="0"/>
          </a:xfrm>
          <a:prstGeom prst="line">
            <a:avLst/>
          </a:prstGeom>
          <a:noFill/>
          <a:ln w="12700">
            <a:solidFill>
              <a:srgbClr val="1E3A5F"/>
            </a:solidFill>
            <a:prstDash val="solid"/>
          </a:ln>
        </p:spPr>
      </p:sp>
      <p:sp>
        <p:nvSpPr>
          <p:cNvPr id="10" name="Card1BG"/>
          <p:cNvSpPr/>
          <p:nvPr/>
        </p:nvSpPr>
        <p:spPr>
          <a:xfrm>
            <a:off x="274320" y="870000"/>
            <a:ext cx="8412480" cy="680000"/>
          </a:xfrm>
          <a:prstGeom prst="rect">
            <a:avLst/>
          </a:prstGeom>
          <a:solidFill>
            <a:srgbClr val="080E1A"/>
          </a:solidFill>
          <a:ln w="19050">
            <a:solidFill>
              <a:srgbClr val="F59E0B"/>
            </a:solidFill>
            <a:prstDash val="solid"/>
          </a:ln>
        </p:spPr>
      </p:sp>
      <p:sp>
        <p:nvSpPr>
          <p:cNvPr id="11" name="Card1Title"/>
          <p:cNvSpPr/>
          <p:nvPr/>
        </p:nvSpPr>
        <p:spPr>
          <a:xfrm>
            <a:off x="380000" y="900000"/>
            <a:ext cx="8200000" cy="280000"/>
          </a:xfrm>
          <a:prstGeom prst="rect">
            <a:avLst/>
          </a:prstGeom>
          <a:noFill/>
          <a:ln/>
        </p:spPr>
        <p:txBody>
          <a:bodyPr wrap="square" lIns="0" tIns="0" rIns="0" bIns="0" rtlCol="0" anchor="ctr"/>
          <a:lstStyle/>
          <a:p>
            <a:pPr indent="0" marL="0">
              <a:buNone/>
            </a:pPr>
            <a:r>
              <a:rPr lang="es-ES" sz="1300" b="1" dirty="0">
                <a:solidFill>
                  <a:srgbClr val="F59E0B"/>
                </a:solidFill>
              </a:rPr>
              <a:t>Clave privada (4 valores aleatorios)</a:t>
            </a:r>
          </a:p>
        </p:txBody>
      </p:sp>
      <p:sp>
        <p:nvSpPr>
          <p:cNvPr id="12" name="Card1Body"/>
          <p:cNvSpPr/>
          <p:nvPr/>
        </p:nvSpPr>
        <p:spPr>
          <a:xfrm>
            <a:off x="380000" y="1180000"/>
            <a:ext cx="8200000" cy="320000"/>
          </a:xfrm>
          <a:prstGeom prst="rect">
            <a:avLst/>
          </a:prstGeom>
          <a:noFill/>
          <a:ln/>
        </p:spPr>
        <p:txBody>
          <a:bodyPr wrap="square" lIns="0" tIns="0" rIns="0" bIns="0" rtlCol="0" anchor="ctr"/>
          <a:lstStyle/>
          <a:p>
            <a:pPr indent="0" marL="0">
              <a:buNone/>
            </a:pPr>
            <a:r>
              <a:rPr lang="es-ES" sz="1200" dirty="0">
                <a:solidFill>
                  <a:srgbClr val="BFDBFE"/>
                </a:solidFill>
                <a:latin typeface="Consolas"/>
              </a:rPr>
              <a:t>sk₀ = [ s₁ , s₂ , s₃ , s₄ ]</a:t>
            </a:r>
          </a:p>
        </p:txBody>
      </p:sp>
      <p:sp>
        <p:nvSpPr>
          <p:cNvPr id="20" name="Card2BG"/>
          <p:cNvSpPr/>
          <p:nvPr/>
        </p:nvSpPr>
        <p:spPr>
          <a:xfrm>
            <a:off x="274320" y="1680000"/>
            <a:ext cx="8412480" cy="1550000"/>
          </a:xfrm>
          <a:prstGeom prst="rect">
            <a:avLst/>
          </a:prstGeom>
          <a:solidFill>
            <a:srgbClr val="080E1A"/>
          </a:solidFill>
          <a:ln w="19050">
            <a:solidFill>
              <a:srgbClr val="3B82F6"/>
            </a:solidFill>
            <a:prstDash val="solid"/>
          </a:ln>
        </p:spPr>
      </p:sp>
      <p:sp>
        <p:nvSpPr>
          <p:cNvPr id="21" name="Card2Title"/>
          <p:cNvSpPr/>
          <p:nvPr/>
        </p:nvSpPr>
        <p:spPr>
          <a:xfrm>
            <a:off x="380000" y="1720000"/>
            <a:ext cx="8200000" cy="280000"/>
          </a:xfrm>
          <a:prstGeom prst="rect">
            <a:avLst/>
          </a:prstGeom>
          <a:noFill/>
          <a:ln/>
        </p:spPr>
        <p:txBody>
          <a:bodyPr wrap="square" lIns="0" tIns="0" rIns="0" bIns="0" rtlCol="0" anchor="ctr"/>
          <a:lstStyle/>
          <a:p>
            <a:pPr indent="0" marL="0">
              <a:buNone/>
            </a:pPr>
            <a:r>
              <a:rPr lang="es-ES" sz="1300" b="1" dirty="0">
                <a:solidFill>
                  <a:srgbClr val="3B82F6"/>
                </a:solidFill>
              </a:rPr>
              <a:t>Cadena de hash (w=2, un paso por valor)</a:t>
            </a:r>
          </a:p>
        </p:txBody>
      </p:sp>
      <p:sp>
        <p:nvSpPr>
          <p:cNvPr id="22" name="Card2Body"/>
          <p:cNvSpPr/>
          <p:nvPr/>
        </p:nvSpPr>
        <p:spPr>
          <a:xfrm>
            <a:off x="380000" y="2020000"/>
            <a:ext cx="8200000" cy="1150000"/>
          </a:xfrm>
          <a:prstGeom prst="rect">
            <a:avLst/>
          </a:prstGeom>
          <a:noFill/>
          <a:ln/>
        </p:spPr>
        <p:txBody>
          <a:bodyPr wrap="square" lIns="0" tIns="0" rIns="0" bIns="0" rtlCol="0" anchor="t"/>
          <a:lstStyle/>
          <a:p>
            <a:pPr indent="0" marL="0">
              <a:buNone/>
              <a:lnSpc>
                <a:spcPts val="2400"/>
              </a:lnSpc>
            </a:pPr>
            <a:r>
              <a:rPr lang="es-ES" sz="1200" dirty="0">
                <a:solidFill>
                  <a:srgbClr val="FDE68A"/>
                </a:solidFill>
                <a:latin typeface="Consolas"/>
              </a:rPr>
              <a:t>s₁</a:t>
            </a:r>
            <a:r>
              <a:rPr lang="es-ES" sz="1200" dirty="0">
                <a:solidFill>
                  <a:srgbClr val="BFDBFE"/>
                </a:solidFill>
                <a:latin typeface="Consolas"/>
              </a:rPr>
              <a:t xml:space="preserve">  →  Hash(s₁)  =  </a:t>
            </a:r>
            <a:r>
              <a:rPr lang="es-ES" sz="1200" dirty="0">
                <a:solidFill>
                  <a:srgbClr val="10B981"/>
                </a:solidFill>
                <a:latin typeface="Consolas"/>
              </a:rPr>
              <a:t>p₁</a:t>
            </a:r>
          </a:p>
          <a:p>
            <a:pPr indent="0" marL="0">
              <a:buNone/>
              <a:lnSpc>
                <a:spcPts val="2400"/>
              </a:lnSpc>
            </a:pPr>
            <a:r>
              <a:rPr lang="es-ES" sz="1200" dirty="0">
                <a:solidFill>
                  <a:srgbClr val="FDE68A"/>
                </a:solidFill>
                <a:latin typeface="Consolas"/>
              </a:rPr>
              <a:t>s₂</a:t>
            </a:r>
            <a:r>
              <a:rPr lang="es-ES" sz="1200" dirty="0">
                <a:solidFill>
                  <a:srgbClr val="BFDBFE"/>
                </a:solidFill>
                <a:latin typeface="Consolas"/>
              </a:rPr>
              <a:t xml:space="preserve">  →  Hash(s₂)  =  </a:t>
            </a:r>
            <a:r>
              <a:rPr lang="es-ES" sz="1200" dirty="0">
                <a:solidFill>
                  <a:srgbClr val="10B981"/>
                </a:solidFill>
                <a:latin typeface="Consolas"/>
              </a:rPr>
              <a:t>p₂</a:t>
            </a:r>
          </a:p>
          <a:p>
            <a:pPr indent="0" marL="0">
              <a:buNone/>
              <a:lnSpc>
                <a:spcPts val="2400"/>
              </a:lnSpc>
            </a:pPr>
            <a:r>
              <a:rPr lang="es-ES" sz="1200" dirty="0">
                <a:solidFill>
                  <a:srgbClr val="FDE68A"/>
                </a:solidFill>
                <a:latin typeface="Consolas"/>
              </a:rPr>
              <a:t>s₃</a:t>
            </a:r>
            <a:r>
              <a:rPr lang="es-ES" sz="1200" dirty="0">
                <a:solidFill>
                  <a:srgbClr val="BFDBFE"/>
                </a:solidFill>
                <a:latin typeface="Consolas"/>
              </a:rPr>
              <a:t xml:space="preserve">  →  Hash(s₃)  =  </a:t>
            </a:r>
            <a:r>
              <a:rPr lang="es-ES" sz="1200" dirty="0">
                <a:solidFill>
                  <a:srgbClr val="10B981"/>
                </a:solidFill>
                <a:latin typeface="Consolas"/>
              </a:rPr>
              <a:t>p₃</a:t>
            </a:r>
          </a:p>
          <a:p>
            <a:pPr indent="0" marL="0">
              <a:buNone/>
              <a:lnSpc>
                <a:spcPts val="2400"/>
              </a:lnSpc>
            </a:pPr>
            <a:r>
              <a:rPr lang="es-ES" sz="1200" dirty="0">
                <a:solidFill>
                  <a:srgbClr val="FDE68A"/>
                </a:solidFill>
                <a:latin typeface="Consolas"/>
              </a:rPr>
              <a:t>s₄</a:t>
            </a:r>
            <a:r>
              <a:rPr lang="es-ES" sz="1200" dirty="0">
                <a:solidFill>
                  <a:srgbClr val="BFDBFE"/>
                </a:solidFill>
                <a:latin typeface="Consolas"/>
              </a:rPr>
              <a:t xml:space="preserve">  →  Hash(s₄)  =  </a:t>
            </a:r>
            <a:r>
              <a:rPr lang="es-ES" sz="1200" dirty="0">
                <a:solidFill>
                  <a:srgbClr val="10B981"/>
                </a:solidFill>
                <a:latin typeface="Consolas"/>
              </a:rPr>
              <a:t>p₄</a:t>
            </a:r>
          </a:p>
        </p:txBody>
      </p:sp>
      <p:sp>
        <p:nvSpPr>
          <p:cNvPr id="30" name="Card3BG"/>
          <p:cNvSpPr/>
          <p:nvPr/>
        </p:nvSpPr>
        <p:spPr>
          <a:xfrm>
            <a:off x="274320" y="3360000"/>
            <a:ext cx="8412480" cy="680000"/>
          </a:xfrm>
          <a:prstGeom prst="rect">
            <a:avLst/>
          </a:prstGeom>
          <a:solidFill>
            <a:srgbClr val="080E1A"/>
          </a:solidFill>
          <a:ln w="19050">
            <a:solidFill>
              <a:srgbClr val="10B981"/>
            </a:solidFill>
            <a:prstDash val="solid"/>
          </a:ln>
        </p:spPr>
      </p:sp>
      <p:sp>
        <p:nvSpPr>
          <p:cNvPr id="31" name="Card3Title"/>
          <p:cNvSpPr/>
          <p:nvPr/>
        </p:nvSpPr>
        <p:spPr>
          <a:xfrm>
            <a:off x="380000" y="3390000"/>
            <a:ext cx="8200000" cy="280000"/>
          </a:xfrm>
          <a:prstGeom prst="rect">
            <a:avLst/>
          </a:prstGeom>
          <a:noFill/>
          <a:ln/>
        </p:spPr>
        <p:txBody>
          <a:bodyPr wrap="square" lIns="0" tIns="0" rIns="0" bIns="0" rtlCol="0" anchor="ctr"/>
          <a:lstStyle/>
          <a:p>
            <a:pPr indent="0" marL="0">
              <a:buNone/>
            </a:pPr>
            <a:r>
              <a:rPr lang="es-ES" sz="1300" b="1" dirty="0">
                <a:solidFill>
                  <a:srgbClr val="10B981"/>
                </a:solidFill>
              </a:rPr>
              <a:t>Clave pública de esta OTS</a:t>
            </a:r>
          </a:p>
        </p:txBody>
      </p:sp>
      <p:sp>
        <p:nvSpPr>
          <p:cNvPr id="32" name="Card3Body"/>
          <p:cNvSpPr/>
          <p:nvPr/>
        </p:nvSpPr>
        <p:spPr>
          <a:xfrm>
            <a:off x="380000" y="3670000"/>
            <a:ext cx="8200000" cy="320000"/>
          </a:xfrm>
          <a:prstGeom prst="rect">
            <a:avLst/>
          </a:prstGeom>
          <a:noFill/>
          <a:ln/>
        </p:spPr>
        <p:txBody>
          <a:bodyPr wrap="square" lIns="0" tIns="0" rIns="0" bIns="0" rtlCol="0" anchor="ctr"/>
          <a:lstStyle/>
          <a:p>
            <a:pPr indent="0" marL="0">
              <a:buNone/>
            </a:pPr>
            <a:r>
              <a:rPr lang="es-ES" sz="1200" dirty="0">
                <a:solidFill>
                  <a:srgbClr val="BFDBFE"/>
                </a:solidFill>
                <a:latin typeface="Consolas"/>
              </a:rPr>
              <a:t>pk₀ = [ p₁ , p₂ , p₃ , p₄ ]</a:t>
            </a:r>
          </a:p>
        </p:txBody>
      </p:sp>
      <p:sp>
        <p:nvSpPr>
          <p:cNvPr id="40" name="Footer"/>
          <p:cNvSpPr/>
          <p:nvPr/>
        </p:nvSpPr>
        <p:spPr>
          <a:xfrm>
            <a:off x="274320" y="4200000"/>
            <a:ext cx="8412480" cy="400000"/>
          </a:xfrm>
          <a:prstGeom prst="rect">
            <a:avLst/>
          </a:prstGeom>
          <a:noFill/>
          <a:ln/>
        </p:spPr>
        <p:txBody>
          <a:bodyPr wrap="square" lIns="0" tIns="0" rIns="0" bIns="0" rtlCol="0" anchor="ctr"/>
          <a:lstStyle/>
          <a:p>
            <a:pPr indent="0" marL="0">
              <a:buNone/>
            </a:pPr>
            <a:r>
              <a:rPr lang="es-ES" sz="1050" dirty="0">
                <a:solidFill>
                  <a:srgbClr val="64748B"/>
                </a:solidFill>
              </a:rPr>
              <a:t>Cada OTS tiene su propia sk y pk. La pk se hashea para formar una hoja del árbol de Merkle.</a:t>
            </a:r>
          </a:p>
        </p:txBody>
      </p:sp>
      <p:sp>
        <p:nvSpPr>
          <p:cNvPr id="90" name="BadgeBG"/>
          <p:cNvSpPr/>
          <p:nvPr/>
        </p:nvSpPr>
        <p:spPr>
          <a:xfrm>
            <a:off x="7300000" y="100000"/>
            <a:ext cx="380000" cy="380000"/>
          </a:xfrm>
          <a:prstGeom prst="rect">
            <a:avLst/>
          </a:prstGeom>
          <a:solidFill>
            <a:srgbClr val="3B82F6">
              <a:alpha val="75000"/>
            </a:srgbClr>
          </a:solidFill>
          <a:ln w="12700">
            <a:solidFill>
              <a:srgbClr val="333333"/>
            </a:solidFill>
            <a:prstDash val="solid"/>
          </a:ln>
        </p:spPr>
      </p:sp>
      <p:sp>
        <p:nvSpPr>
          <p:cNvPr id="91" name="BadgeLetter"/>
          <p:cNvSpPr/>
          <p:nvPr/>
        </p:nvSpPr>
        <p:spPr>
          <a:xfrm>
            <a:off x="7300000" y="100000"/>
            <a:ext cx="380000" cy="380000"/>
          </a:xfrm>
          <a:prstGeom prst="rect">
            <a:avLst/>
          </a:prstGeom>
          <a:noFill/>
          <a:ln/>
        </p:spPr>
        <p:txBody>
          <a:bodyPr wrap="square" lIns="0" tIns="0" rIns="0" bIns="0" rtlCol="0" anchor="ctr"/>
          <a:lstStyle/>
          <a:p>
            <a:pPr algn="ctr" indent="0" marL="0">
              <a:buNone/>
            </a:pPr>
            <a:r>
              <a:rPr lang="en-US" sz="1800" b="1" dirty="0">
                <a:solidFill>
                  <a:srgbClr val="F8FAFC"/>
                </a:solidFill>
                <a:latin typeface="Arial Black" pitchFamily="34" charset="0"/>
              </a:rPr>
              <a:t>B</a:t>
            </a:r>
          </a:p>
        </p:txBody>
      </p:sp>
      <p:sp>
        <p:nvSpPr>
          <p:cNvPr id="92" name="BadgeLabel"/>
          <p:cNvSpPr/>
          <p:nvPr/>
        </p:nvSpPr>
        <p:spPr>
          <a:xfrm>
            <a:off x="7720000" y="100000"/>
            <a:ext cx="1300000" cy="380000"/>
          </a:xfrm>
          <a:prstGeom prst="rect">
            <a:avLst/>
          </a:prstGeom>
          <a:noFill/>
          <a:ln/>
        </p:spPr>
        <p:txBody>
          <a:bodyPr wrap="square" lIns="0" tIns="0" rIns="0" bIns="0" rtlCol="0" anchor="ctr"/>
          <a:lstStyle/>
          <a:p>
            <a:pPr indent="0" marL="0">
              <a:buNone/>
            </a:pPr>
            <a:r>
              <a:rPr lang="es-ES" sz="1100" b="1" dirty="0">
                <a:solidFill>
                  <a:srgbClr val="3B82F6"/>
                </a:solidFill>
              </a:rPr>
              <a:t>Firma OTS</a:t>
            </a:r>
          </a:p>
          <a:p>
            <a:pPr indent="0" marL="0">
              <a:buNone/>
            </a:pPr>
            <a:r>
              <a:rPr lang="es-ES" sz="800" dirty="0">
                <a:solidFill>
                  <a:srgbClr val="64748B"/>
                </a:solidFill>
              </a:rPr>
              <a:t>Detalle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E3D"/>
        </a:solidFill>
      </p:bgPr>
    </p:bg>
    <p:spTree>
      <p:nvGrpSpPr>
        <p:cNvPr id="1" name=""/>
        <p:cNvGrpSpPr/>
        <p:nvPr/>
      </p:nvGrpSpPr>
      <p:grpSpPr>
        <a:xfrm>
          <a:off x="0" y="0"/>
          <a:ext cx="0" cy="0"/>
          <a:chOff x="0" y="0"/>
          <a:chExt cx="0" cy="0"/>
        </a:xfrm>
      </p:grpSpPr>
      <p:sp>
        <p:nvSpPr>
          <p:cNvPr id="2" name="Bar"/>
          <p:cNvSpPr/>
          <p:nvPr/>
        </p:nvSpPr>
        <p:spPr>
          <a:xfrm>
            <a:off x="0" y="0"/>
            <a:ext cx="73152" cy="5143500"/>
          </a:xfrm>
          <a:prstGeom prst="rect">
            <a:avLst/>
          </a:prstGeom>
          <a:solidFill>
            <a:srgbClr val="3B82F6"/>
          </a:solidFill>
          <a:ln w="12700">
            <a:solidFill>
              <a:srgbClr val="333333"/>
            </a:solidFill>
            <a:prstDash val="solid"/>
          </a:ln>
        </p:spPr>
      </p:sp>
      <p:sp>
        <p:nvSpPr>
          <p:cNvPr id="3" name="Title"/>
          <p:cNvSpPr/>
          <p:nvPr/>
        </p:nvSpPr>
        <p:spPr>
          <a:xfrm>
            <a:off x="274320" y="137160"/>
            <a:ext cx="8412480" cy="350000"/>
          </a:xfrm>
          <a:prstGeom prst="rect">
            <a:avLst/>
          </a:prstGeom>
          <a:noFill/>
          <a:ln/>
        </p:spPr>
        <p:txBody>
          <a:bodyPr wrap="square" lIns="0" tIns="0" rIns="0" bIns="0" rtlCol="0" anchor="ctr"/>
          <a:lstStyle/>
          <a:p>
            <a:pPr indent="0" marL="0">
              <a:buNone/>
            </a:pPr>
            <a:r>
              <a:rPr lang="es-ES" sz="2200" b="1" dirty="0">
                <a:solidFill>
                  <a:srgbClr val="F8FAFC"/>
                </a:solidFill>
                <a:latin typeface="Arial" pitchFamily="34" charset="0"/>
              </a:rPr>
              <a:t>Ejemplo: Winternitz OTS con 4 bits</a:t>
            </a:r>
          </a:p>
        </p:txBody>
      </p:sp>
      <p:sp>
        <p:nvSpPr>
          <p:cNvPr id="4" name="Sub"/>
          <p:cNvSpPr/>
          <p:nvPr/>
        </p:nvSpPr>
        <p:spPr>
          <a:xfrm>
            <a:off x="274320" y="460000"/>
            <a:ext cx="8412480" cy="250000"/>
          </a:xfrm>
          <a:prstGeom prst="rect">
            <a:avLst/>
          </a:prstGeom>
          <a:noFill/>
          <a:ln/>
        </p:spPr>
        <p:txBody>
          <a:bodyPr wrap="square" lIns="0" tIns="0" rIns="0" bIns="0" rtlCol="0" anchor="ctr"/>
          <a:lstStyle/>
          <a:p>
            <a:pPr indent="0" marL="0">
              <a:buNone/>
            </a:pPr>
            <a:r>
              <a:rPr lang="es-ES" sz="1200" dirty="0">
                <a:solidFill>
                  <a:srgbClr val="64748B"/>
                </a:solidFill>
              </a:rPr>
              <a:t>Paso 2 — Firmar: qué se revela según cada bit del mensaje</a:t>
            </a:r>
          </a:p>
        </p:txBody>
      </p:sp>
      <p:sp>
        <p:nvSpPr>
          <p:cNvPr id="5" name="Line"/>
          <p:cNvSpPr/>
          <p:nvPr/>
        </p:nvSpPr>
        <p:spPr>
          <a:xfrm>
            <a:off x="274320" y="720000"/>
            <a:ext cx="8412480" cy="0"/>
          </a:xfrm>
          <a:prstGeom prst="line">
            <a:avLst/>
          </a:prstGeom>
          <a:noFill/>
          <a:ln w="12700">
            <a:solidFill>
              <a:srgbClr val="1E3A5F"/>
            </a:solidFill>
            <a:prstDash val="solid"/>
          </a:ln>
        </p:spPr>
      </p:sp>
      <p:sp>
        <p:nvSpPr>
          <p:cNvPr id="10" name="MsgBG"/>
          <p:cNvSpPr/>
          <p:nvPr/>
        </p:nvSpPr>
        <p:spPr>
          <a:xfrm>
            <a:off x="274320" y="800000"/>
            <a:ext cx="8412480" cy="350000"/>
          </a:xfrm>
          <a:prstGeom prst="rect">
            <a:avLst/>
          </a:prstGeom>
          <a:solidFill>
            <a:srgbClr val="0A0F1A"/>
          </a:solidFill>
          <a:ln w="12700">
            <a:solidFill>
              <a:srgbClr val="3B82F6"/>
            </a:solidFill>
            <a:prstDash val="solid"/>
          </a:ln>
        </p:spPr>
      </p:sp>
      <p:sp>
        <p:nvSpPr>
          <p:cNvPr id="11" name="MsgTxt"/>
          <p:cNvSpPr/>
          <p:nvPr/>
        </p:nvSpPr>
        <p:spPr>
          <a:xfrm>
            <a:off x="274320" y="800000"/>
            <a:ext cx="8412480" cy="350000"/>
          </a:xfrm>
          <a:prstGeom prst="rect">
            <a:avLst/>
          </a:prstGeom>
          <a:noFill/>
          <a:ln/>
        </p:spPr>
        <p:txBody>
          <a:bodyPr wrap="square" lIns="101600" tIns="0" rIns="101600" bIns="0" rtlCol="0" anchor="ctr"/>
          <a:lstStyle/>
          <a:p>
            <a:pPr algn="ctr" indent="0" marL="0">
              <a:buNone/>
            </a:pPr>
            <a:r>
              <a:rPr lang="es-ES" sz="1200" dirty="0">
                <a:solidFill>
                  <a:srgbClr val="FDE68A"/>
                </a:solidFill>
                <a:latin typeface="Consolas"/>
              </a:rPr>
              <a:t>Hash del mensaje   m = 1  0  1  1    (4 bits)</a:t>
            </a:r>
          </a:p>
        </p:txBody>
      </p:sp>
      <p:sp>
        <p:nvSpPr>
          <p:cNvPr id="20" name="RuleBG"/>
          <p:cNvSpPr/>
          <p:nvPr/>
        </p:nvSpPr>
        <p:spPr>
          <a:xfrm>
            <a:off x="274320" y="1250000"/>
            <a:ext cx="4000000" cy="700000"/>
          </a:xfrm>
          <a:prstGeom prst="rect">
            <a:avLst/>
          </a:prstGeom>
          <a:solidFill>
            <a:srgbClr val="080E1A"/>
          </a:solidFill>
          <a:ln w="19050">
            <a:solidFill>
              <a:srgbClr val="3B82F6"/>
            </a:solidFill>
            <a:prstDash val="solid"/>
          </a:ln>
        </p:spPr>
      </p:sp>
      <p:sp>
        <p:nvSpPr>
          <p:cNvPr id="21" name="RuleTitle"/>
          <p:cNvSpPr/>
          <p:nvPr/>
        </p:nvSpPr>
        <p:spPr>
          <a:xfrm>
            <a:off x="380000" y="1280000"/>
            <a:ext cx="3800000" cy="250000"/>
          </a:xfrm>
          <a:prstGeom prst="rect">
            <a:avLst/>
          </a:prstGeom>
          <a:noFill/>
          <a:ln/>
        </p:spPr>
        <p:txBody>
          <a:bodyPr wrap="square" lIns="0" tIns="0" rIns="0" bIns="0" rtlCol="0" anchor="ctr"/>
          <a:lstStyle/>
          <a:p>
            <a:pPr indent="0" marL="0">
              <a:buNone/>
            </a:pPr>
            <a:r>
              <a:rPr lang="es-ES" sz="1200" b="1" dirty="0">
                <a:solidFill>
                  <a:srgbClr val="3B82F6"/>
                </a:solidFill>
              </a:rPr>
              <a:t>Regla de firma</a:t>
            </a:r>
          </a:p>
        </p:txBody>
      </p:sp>
      <p:sp>
        <p:nvSpPr>
          <p:cNvPr id="22" name="RuleBody"/>
          <p:cNvSpPr/>
          <p:nvPr/>
        </p:nvSpPr>
        <p:spPr>
          <a:xfrm>
            <a:off x="380000" y="1520000"/>
            <a:ext cx="3800000" cy="400000"/>
          </a:xfrm>
          <a:prstGeom prst="rect">
            <a:avLst/>
          </a:prstGeom>
          <a:noFill/>
          <a:ln/>
        </p:spPr>
        <p:txBody>
          <a:bodyPr wrap="square" lIns="0" tIns="0" rIns="0" bIns="0" rtlCol="0" anchor="t"/>
          <a:lstStyle/>
          <a:p>
            <a:pPr indent="0" marL="0">
              <a:buNone/>
              <a:lnSpc>
                <a:spcPts val="2000"/>
              </a:lnSpc>
            </a:pPr>
            <a:r>
              <a:rPr lang="es-ES" sz="1050" dirty="0">
                <a:solidFill>
                  <a:srgbClr val="BFDBFE"/>
                </a:solidFill>
              </a:rPr>
              <a:t xml:space="preserve">Bit = 0  →  revelar secreto (0 pasos): </a:t>
            </a:r>
            <a:r>
              <a:rPr lang="es-ES" sz="1050" b="1" dirty="0">
                <a:solidFill>
                  <a:srgbClr val="FDE68A"/>
                </a:solidFill>
                <a:latin typeface="Consolas"/>
              </a:rPr>
              <a:t>s</a:t>
            </a:r>
          </a:p>
          <a:p>
            <a:pPr indent="0" marL="0">
              <a:buNone/>
              <a:lnSpc>
                <a:spcPts val="2000"/>
              </a:lnSpc>
            </a:pPr>
            <a:r>
              <a:rPr lang="es-ES" sz="1050" dirty="0">
                <a:solidFill>
                  <a:srgbClr val="BFDBFE"/>
                </a:solidFill>
              </a:rPr>
              <a:t xml:space="preserve">Bit = 1  →  revelar hash (1 paso): </a:t>
            </a:r>
            <a:r>
              <a:rPr lang="es-ES" sz="1050" b="1" dirty="0">
                <a:solidFill>
                  <a:srgbClr val="10B981"/>
                </a:solidFill>
                <a:latin typeface="Consolas"/>
              </a:rPr>
              <a:t>Hash(s)</a:t>
            </a:r>
          </a:p>
        </p:txBody>
      </p:sp>
      <p:sp>
        <p:nvSpPr>
          <p:cNvPr id="30" name="SignBG"/>
          <p:cNvSpPr/>
          <p:nvPr/>
        </p:nvSpPr>
        <p:spPr>
          <a:xfrm>
            <a:off x="4480000" y="1250000"/>
            <a:ext cx="4206720" cy="700000"/>
          </a:xfrm>
          <a:prstGeom prst="rect">
            <a:avLst/>
          </a:prstGeom>
          <a:solidFill>
            <a:srgbClr val="080E1A"/>
          </a:solidFill>
          <a:ln w="19050">
            <a:solidFill>
              <a:srgbClr val="F59E0B"/>
            </a:solidFill>
            <a:prstDash val="solid"/>
          </a:ln>
        </p:spPr>
      </p:sp>
      <p:sp>
        <p:nvSpPr>
          <p:cNvPr id="31" name="SignTitle"/>
          <p:cNvSpPr/>
          <p:nvPr/>
        </p:nvSpPr>
        <p:spPr>
          <a:xfrm>
            <a:off x="4580000" y="1280000"/>
            <a:ext cx="4000000" cy="250000"/>
          </a:xfrm>
          <a:prstGeom prst="rect">
            <a:avLst/>
          </a:prstGeom>
          <a:noFill/>
          <a:ln/>
        </p:spPr>
        <p:txBody>
          <a:bodyPr wrap="square" lIns="0" tIns="0" rIns="0" bIns="0" rtlCol="0" anchor="ctr"/>
          <a:lstStyle/>
          <a:p>
            <a:pPr indent="0" marL="0">
              <a:buNone/>
            </a:pPr>
            <a:r>
              <a:rPr lang="es-ES" sz="1200" b="1" dirty="0">
                <a:solidFill>
                  <a:srgbClr val="F59E0B"/>
                </a:solidFill>
              </a:rPr>
              <a:t>Aplicando al mensaje  1 0 1 1</a:t>
            </a:r>
          </a:p>
        </p:txBody>
      </p:sp>
      <p:sp>
        <p:nvSpPr>
          <p:cNvPr id="32" name="SignBody"/>
          <p:cNvSpPr/>
          <p:nvPr/>
        </p:nvSpPr>
        <p:spPr>
          <a:xfrm>
            <a:off x="4580000" y="1520000"/>
            <a:ext cx="4000000" cy="400000"/>
          </a:xfrm>
          <a:prstGeom prst="rect">
            <a:avLst/>
          </a:prstGeom>
          <a:noFill/>
          <a:ln/>
        </p:spPr>
        <p:txBody>
          <a:bodyPr wrap="square" lIns="0" tIns="0" rIns="0" bIns="0" rtlCol="0" anchor="t"/>
          <a:lstStyle/>
          <a:p>
            <a:pPr indent="0" marL="0">
              <a:buNone/>
              <a:lnSpc>
                <a:spcPts val="1800"/>
              </a:lnSpc>
            </a:pPr>
            <a:r>
              <a:rPr lang="es-ES" sz="1000" dirty="0">
                <a:solidFill>
                  <a:srgbClr val="BFDBFE"/>
                </a:solidFill>
                <a:latin typeface="Consolas"/>
              </a:rPr>
              <a:t xml:space="preserve">Bit1=1 → Hash(s₁) = </a:t>
            </a:r>
            <a:r>
              <a:rPr lang="es-ES" sz="1000" b="1" dirty="0">
                <a:solidFill>
                  <a:srgbClr val="10B981"/>
                </a:solidFill>
                <a:latin typeface="Consolas"/>
              </a:rPr>
              <a:t>p₁</a:t>
            </a:r>
          </a:p>
          <a:p>
            <a:pPr indent="0" marL="0">
              <a:buNone/>
              <a:lnSpc>
                <a:spcPts val="1800"/>
              </a:lnSpc>
            </a:pPr>
            <a:r>
              <a:rPr lang="es-ES" sz="1000" dirty="0">
                <a:solidFill>
                  <a:srgbClr val="BFDBFE"/>
                </a:solidFill>
                <a:latin typeface="Consolas"/>
              </a:rPr>
              <a:t xml:space="preserve">Bit2=0 → </a:t>
            </a:r>
            <a:r>
              <a:rPr lang="es-ES" sz="1000" b="1" dirty="0">
                <a:solidFill>
                  <a:srgbClr val="FDE68A"/>
                </a:solidFill>
                <a:latin typeface="Consolas"/>
              </a:rPr>
              <a:t>s₂</a:t>
            </a:r>
          </a:p>
          <a:p>
            <a:pPr indent="0" marL="0">
              <a:buNone/>
              <a:lnSpc>
                <a:spcPts val="1800"/>
              </a:lnSpc>
            </a:pPr>
            <a:r>
              <a:rPr lang="es-ES" sz="1000" dirty="0">
                <a:solidFill>
                  <a:srgbClr val="BFDBFE"/>
                </a:solidFill>
                <a:latin typeface="Consolas"/>
              </a:rPr>
              <a:t xml:space="preserve">Bit3=1 → Hash(s₃) = </a:t>
            </a:r>
            <a:r>
              <a:rPr lang="es-ES" sz="1000" b="1" dirty="0">
                <a:solidFill>
                  <a:srgbClr val="10B981"/>
                </a:solidFill>
                <a:latin typeface="Consolas"/>
              </a:rPr>
              <a:t>p₃</a:t>
            </a:r>
          </a:p>
          <a:p>
            <a:pPr indent="0" marL="0">
              <a:buNone/>
              <a:lnSpc>
                <a:spcPts val="1800"/>
              </a:lnSpc>
            </a:pPr>
            <a:r>
              <a:rPr lang="es-ES" sz="1000" dirty="0">
                <a:solidFill>
                  <a:srgbClr val="BFDBFE"/>
                </a:solidFill>
                <a:latin typeface="Consolas"/>
              </a:rPr>
              <a:t xml:space="preserve">Bit4=1 → Hash(s₄) = </a:t>
            </a:r>
            <a:r>
              <a:rPr lang="es-ES" sz="1000" b="1" dirty="0">
                <a:solidFill>
                  <a:srgbClr val="10B981"/>
                </a:solidFill>
                <a:latin typeface="Consolas"/>
              </a:rPr>
              <a:t>p₄</a:t>
            </a:r>
          </a:p>
        </p:txBody>
      </p:sp>
      <p:sp>
        <p:nvSpPr>
          <p:cNvPr id="40" name="ChainBG"/>
          <p:cNvSpPr/>
          <p:nvPr/>
        </p:nvSpPr>
        <p:spPr>
          <a:xfrm>
            <a:off x="274320" y="2100000"/>
            <a:ext cx="8412480" cy="1900000"/>
          </a:xfrm>
          <a:prstGeom prst="rect">
            <a:avLst/>
          </a:prstGeom>
          <a:solidFill>
            <a:srgbClr val="080E1A"/>
          </a:solidFill>
          <a:ln w="12700">
            <a:solidFill>
              <a:srgbClr val="1E3A5F"/>
            </a:solidFill>
            <a:prstDash val="solid"/>
          </a:ln>
        </p:spPr>
      </p:sp>
      <p:sp>
        <p:nvSpPr>
          <p:cNvPr id="41" name="ChainHdr"/>
          <p:cNvSpPr/>
          <p:nvPr/>
        </p:nvSpPr>
        <p:spPr>
          <a:xfrm>
            <a:off x="380000" y="2140000"/>
            <a:ext cx="8200000" cy="280000"/>
          </a:xfrm>
          <a:prstGeom prst="rect">
            <a:avLst/>
          </a:prstGeom>
          <a:noFill/>
          <a:ln/>
        </p:spPr>
        <p:txBody>
          <a:bodyPr wrap="square" lIns="0" tIns="0" rIns="0" bIns="0" rtlCol="0" anchor="ctr"/>
          <a:lstStyle/>
          <a:p>
            <a:pPr indent="0" marL="0">
              <a:buNone/>
            </a:pPr>
            <a:r>
              <a:rPr lang="es-ES" sz="1000" b="1" dirty="0">
                <a:solidFill>
                  <a:srgbClr val="F8FAFC"/>
                </a:solidFill>
              </a:rPr>
              <a:t>Secreto                          Hash                           Público            Qué se revela</a:t>
            </a:r>
          </a:p>
        </p:txBody>
      </p:sp>
      <p:sp>
        <p:nvSpPr>
          <p:cNvPr id="42" name="ChainRows"/>
          <p:cNvSpPr/>
          <p:nvPr/>
        </p:nvSpPr>
        <p:spPr>
          <a:xfrm>
            <a:off x="380000" y="2440000"/>
            <a:ext cx="8200000" cy="1500000"/>
          </a:xfrm>
          <a:prstGeom prst="rect">
            <a:avLst/>
          </a:prstGeom>
          <a:noFill/>
          <a:ln/>
        </p:spPr>
        <p:txBody>
          <a:bodyPr wrap="square" lIns="0" tIns="0" rIns="0" bIns="0" rtlCol="0" anchor="t"/>
          <a:lstStyle/>
          <a:p>
            <a:pPr indent="0" marL="0">
              <a:buNone/>
              <a:lnSpc>
                <a:spcPts val="2800"/>
              </a:lnSpc>
            </a:pPr>
            <a:r>
              <a:rPr lang="es-ES" sz="1100" dirty="0">
                <a:solidFill>
                  <a:srgbClr val="FDE68A"/>
                </a:solidFill>
                <a:latin typeface="Consolas"/>
              </a:rPr>
              <a:t>s₁</a:t>
            </a:r>
            <a:r>
              <a:rPr lang="es-ES" sz="1100" dirty="0">
                <a:solidFill>
                  <a:srgbClr val="64748B"/>
                </a:solidFill>
                <a:latin typeface="Consolas"/>
              </a:rPr>
              <a:t xml:space="preserve">  ─── Hash ───►  </a:t>
            </a:r>
            <a:r>
              <a:rPr lang="es-ES" sz="1100" dirty="0">
                <a:solidFill>
                  <a:srgbClr val="10B981"/>
                </a:solidFill>
                <a:latin typeface="Consolas"/>
              </a:rPr>
              <a:t>p₁</a:t>
            </a:r>
            <a:r>
              <a:rPr lang="es-ES" sz="1100" dirty="0">
                <a:solidFill>
                  <a:srgbClr val="64748B"/>
                </a:solidFill>
                <a:latin typeface="Consolas"/>
              </a:rPr>
              <a:t xml:space="preserve">          </a:t>
            </a:r>
            <a:r>
              <a:rPr lang="es-ES" sz="1100" dirty="0">
                <a:solidFill>
                  <a:srgbClr val="BFDBFE"/>
                </a:solidFill>
              </a:rPr>
              <a:t xml:space="preserve">bit=1 → revelo </a:t>
            </a:r>
            <a:r>
              <a:rPr lang="es-ES" sz="1100" b="1" dirty="0">
                <a:solidFill>
                  <a:srgbClr val="10B981"/>
                </a:solidFill>
                <a:latin typeface="Consolas"/>
              </a:rPr>
              <a:t>p₁</a:t>
            </a:r>
          </a:p>
          <a:p>
            <a:pPr indent="0" marL="0">
              <a:buNone/>
              <a:lnSpc>
                <a:spcPts val="2800"/>
              </a:lnSpc>
            </a:pPr>
            <a:r>
              <a:rPr lang="es-ES" sz="1100" dirty="0">
                <a:solidFill>
                  <a:srgbClr val="FDE68A"/>
                </a:solidFill>
                <a:latin typeface="Consolas"/>
              </a:rPr>
              <a:t>s₂</a:t>
            </a:r>
            <a:r>
              <a:rPr lang="es-ES" sz="1100" dirty="0">
                <a:solidFill>
                  <a:srgbClr val="64748B"/>
                </a:solidFill>
                <a:latin typeface="Consolas"/>
              </a:rPr>
              <a:t xml:space="preserve">  ─── Hash ───►  </a:t>
            </a:r>
            <a:r>
              <a:rPr lang="es-ES" sz="1100" dirty="0">
                <a:solidFill>
                  <a:srgbClr val="10B981"/>
                </a:solidFill>
                <a:latin typeface="Consolas"/>
              </a:rPr>
              <a:t>p₂</a:t>
            </a:r>
            <a:r>
              <a:rPr lang="es-ES" sz="1100" dirty="0">
                <a:solidFill>
                  <a:srgbClr val="64748B"/>
                </a:solidFill>
                <a:latin typeface="Consolas"/>
              </a:rPr>
              <a:t xml:space="preserve">          </a:t>
            </a:r>
            <a:r>
              <a:rPr lang="es-ES" sz="1100" dirty="0">
                <a:solidFill>
                  <a:srgbClr val="BFDBFE"/>
                </a:solidFill>
              </a:rPr>
              <a:t xml:space="preserve">bit=0 → revelo </a:t>
            </a:r>
            <a:r>
              <a:rPr lang="es-ES" sz="1100" b="1" dirty="0">
                <a:solidFill>
                  <a:srgbClr val="FDE68A"/>
                </a:solidFill>
                <a:latin typeface="Consolas"/>
              </a:rPr>
              <a:t>s₂</a:t>
            </a:r>
          </a:p>
          <a:p>
            <a:pPr indent="0" marL="0">
              <a:buNone/>
              <a:lnSpc>
                <a:spcPts val="2800"/>
              </a:lnSpc>
            </a:pPr>
            <a:r>
              <a:rPr lang="es-ES" sz="1100" dirty="0">
                <a:solidFill>
                  <a:srgbClr val="FDE68A"/>
                </a:solidFill>
                <a:latin typeface="Consolas"/>
              </a:rPr>
              <a:t>s₃</a:t>
            </a:r>
            <a:r>
              <a:rPr lang="es-ES" sz="1100" dirty="0">
                <a:solidFill>
                  <a:srgbClr val="64748B"/>
                </a:solidFill>
                <a:latin typeface="Consolas"/>
              </a:rPr>
              <a:t xml:space="preserve">  ─── Hash ───►  </a:t>
            </a:r>
            <a:r>
              <a:rPr lang="es-ES" sz="1100" dirty="0">
                <a:solidFill>
                  <a:srgbClr val="10B981"/>
                </a:solidFill>
                <a:latin typeface="Consolas"/>
              </a:rPr>
              <a:t>p₃</a:t>
            </a:r>
            <a:r>
              <a:rPr lang="es-ES" sz="1100" dirty="0">
                <a:solidFill>
                  <a:srgbClr val="64748B"/>
                </a:solidFill>
                <a:latin typeface="Consolas"/>
              </a:rPr>
              <a:t xml:space="preserve">          </a:t>
            </a:r>
            <a:r>
              <a:rPr lang="es-ES" sz="1100" dirty="0">
                <a:solidFill>
                  <a:srgbClr val="BFDBFE"/>
                </a:solidFill>
              </a:rPr>
              <a:t xml:space="preserve">bit=1 → revelo </a:t>
            </a:r>
            <a:r>
              <a:rPr lang="es-ES" sz="1100" b="1" dirty="0">
                <a:solidFill>
                  <a:srgbClr val="10B981"/>
                </a:solidFill>
                <a:latin typeface="Consolas"/>
              </a:rPr>
              <a:t>p₃</a:t>
            </a:r>
          </a:p>
          <a:p>
            <a:pPr indent="0" marL="0">
              <a:buNone/>
              <a:lnSpc>
                <a:spcPts val="2800"/>
              </a:lnSpc>
            </a:pPr>
            <a:r>
              <a:rPr lang="es-ES" sz="1100" dirty="0">
                <a:solidFill>
                  <a:srgbClr val="FDE68A"/>
                </a:solidFill>
                <a:latin typeface="Consolas"/>
              </a:rPr>
              <a:t>s₄</a:t>
            </a:r>
            <a:r>
              <a:rPr lang="es-ES" sz="1100" dirty="0">
                <a:solidFill>
                  <a:srgbClr val="64748B"/>
                </a:solidFill>
                <a:latin typeface="Consolas"/>
              </a:rPr>
              <a:t xml:space="preserve">  ─── Hash ───►  </a:t>
            </a:r>
            <a:r>
              <a:rPr lang="es-ES" sz="1100" dirty="0">
                <a:solidFill>
                  <a:srgbClr val="10B981"/>
                </a:solidFill>
                <a:latin typeface="Consolas"/>
              </a:rPr>
              <a:t>p₄</a:t>
            </a:r>
            <a:r>
              <a:rPr lang="es-ES" sz="1100" dirty="0">
                <a:solidFill>
                  <a:srgbClr val="64748B"/>
                </a:solidFill>
                <a:latin typeface="Consolas"/>
              </a:rPr>
              <a:t xml:space="preserve">          </a:t>
            </a:r>
            <a:r>
              <a:rPr lang="es-ES" sz="1100" dirty="0">
                <a:solidFill>
                  <a:srgbClr val="BFDBFE"/>
                </a:solidFill>
              </a:rPr>
              <a:t xml:space="preserve">bit=1 → revelo </a:t>
            </a:r>
            <a:r>
              <a:rPr lang="es-ES" sz="1100" b="1" dirty="0">
                <a:solidFill>
                  <a:srgbClr val="10B981"/>
                </a:solidFill>
                <a:latin typeface="Consolas"/>
              </a:rPr>
              <a:t>p₄</a:t>
            </a:r>
          </a:p>
        </p:txBody>
      </p:sp>
      <p:sp>
        <p:nvSpPr>
          <p:cNvPr id="50" name="ResBG"/>
          <p:cNvSpPr/>
          <p:nvPr/>
        </p:nvSpPr>
        <p:spPr>
          <a:xfrm>
            <a:off x="274320" y="4150000"/>
            <a:ext cx="8412480" cy="450000"/>
          </a:xfrm>
          <a:prstGeom prst="rect">
            <a:avLst/>
          </a:prstGeom>
          <a:solidFill>
            <a:srgbClr val="080E1A"/>
          </a:solidFill>
          <a:ln w="19050">
            <a:solidFill>
              <a:srgbClr val="10B981"/>
            </a:solidFill>
            <a:prstDash val="solid"/>
          </a:ln>
        </p:spPr>
      </p:sp>
      <p:sp>
        <p:nvSpPr>
          <p:cNvPr id="51" name="ResTxt"/>
          <p:cNvSpPr/>
          <p:nvPr/>
        </p:nvSpPr>
        <p:spPr>
          <a:xfrm>
            <a:off x="274320" y="4150000"/>
            <a:ext cx="8412480" cy="450000"/>
          </a:xfrm>
          <a:prstGeom prst="rect">
            <a:avLst/>
          </a:prstGeom>
          <a:noFill/>
          <a:ln/>
        </p:spPr>
        <p:txBody>
          <a:bodyPr wrap="square" lIns="101600" tIns="0" rIns="101600" bIns="0" rtlCol="0" anchor="ctr"/>
          <a:lstStyle/>
          <a:p>
            <a:pPr algn="ctr" indent="0" marL="0">
              <a:buNone/>
            </a:pPr>
            <a:r>
              <a:rPr lang="es-ES" sz="1400" b="1" dirty="0">
                <a:solidFill>
                  <a:srgbClr val="10B981"/>
                </a:solidFill>
              </a:rPr>
              <a:t xml:space="preserve">Firma = [ </a:t>
            </a:r>
            <a:r>
              <a:rPr lang="es-ES" sz="1400" b="1" dirty="0">
                <a:solidFill>
                  <a:srgbClr val="10B981"/>
                </a:solidFill>
                <a:latin typeface="Consolas"/>
              </a:rPr>
              <a:t>p₁</a:t>
            </a:r>
            <a:r>
              <a:rPr lang="es-ES" sz="1400" b="1" dirty="0">
                <a:solidFill>
                  <a:srgbClr val="10B981"/>
                </a:solidFill>
              </a:rPr>
              <a:t xml:space="preserve"> , </a:t>
            </a:r>
            <a:r>
              <a:rPr lang="es-ES" sz="1400" b="1" dirty="0">
                <a:solidFill>
                  <a:srgbClr val="FDE68A"/>
                </a:solidFill>
                <a:latin typeface="Consolas"/>
              </a:rPr>
              <a:t>s₂</a:t>
            </a:r>
            <a:r>
              <a:rPr lang="es-ES" sz="1400" b="1" dirty="0">
                <a:solidFill>
                  <a:srgbClr val="10B981"/>
                </a:solidFill>
              </a:rPr>
              <a:t xml:space="preserve"> , </a:t>
            </a:r>
            <a:r>
              <a:rPr lang="es-ES" sz="1400" b="1" dirty="0">
                <a:solidFill>
                  <a:srgbClr val="10B981"/>
                </a:solidFill>
                <a:latin typeface="Consolas"/>
              </a:rPr>
              <a:t>p₃</a:t>
            </a:r>
            <a:r>
              <a:rPr lang="es-ES" sz="1400" b="1" dirty="0">
                <a:solidFill>
                  <a:srgbClr val="10B981"/>
                </a:solidFill>
              </a:rPr>
              <a:t xml:space="preserve"> , </a:t>
            </a:r>
            <a:r>
              <a:rPr lang="es-ES" sz="1400" b="1" dirty="0">
                <a:solidFill>
                  <a:srgbClr val="10B981"/>
                </a:solidFill>
                <a:latin typeface="Consolas"/>
              </a:rPr>
              <a:t>p₄</a:t>
            </a:r>
            <a:r>
              <a:rPr lang="es-ES" sz="1400" b="1" dirty="0">
                <a:solidFill>
                  <a:srgbClr val="10B981"/>
                </a:solidFill>
              </a:rPr>
              <a:t xml:space="preserve"> ]</a:t>
            </a:r>
          </a:p>
        </p:txBody>
      </p:sp>
      <p:sp>
        <p:nvSpPr>
          <p:cNvPr id="60" name="Foot"/>
          <p:cNvSpPr/>
          <p:nvPr/>
        </p:nvSpPr>
        <p:spPr>
          <a:xfrm>
            <a:off x="274320" y="4700000"/>
            <a:ext cx="8412480" cy="300000"/>
          </a:xfrm>
          <a:prstGeom prst="rect">
            <a:avLst/>
          </a:prstGeom>
          <a:noFill/>
          <a:ln/>
        </p:spPr>
        <p:txBody>
          <a:bodyPr wrap="square" lIns="0" tIns="0" rIns="0" bIns="0" rtlCol="0" anchor="ctr"/>
          <a:lstStyle/>
          <a:p>
            <a:pPr indent="0" marL="0">
              <a:buNone/>
            </a:pPr>
            <a:r>
              <a:rPr lang="es-ES" sz="1050" dirty="0">
                <a:solidFill>
                  <a:srgbClr val="64748B"/>
                </a:solidFill>
              </a:rPr>
              <a:t>Notar: s₂ (amarillo) es el secreto puro. Los demás (verde) ya son hashes = valores públicos.</a:t>
            </a:r>
          </a:p>
        </p:txBody>
      </p:sp>
      <p:sp>
        <p:nvSpPr>
          <p:cNvPr id="90" name="BadgeBG"/>
          <p:cNvSpPr/>
          <p:nvPr/>
        </p:nvSpPr>
        <p:spPr>
          <a:xfrm>
            <a:off x="7300000" y="100000"/>
            <a:ext cx="380000" cy="380000"/>
          </a:xfrm>
          <a:prstGeom prst="rect">
            <a:avLst/>
          </a:prstGeom>
          <a:solidFill>
            <a:srgbClr val="3B82F6">
              <a:alpha val="75000"/>
            </a:srgbClr>
          </a:solidFill>
          <a:ln w="12700">
            <a:solidFill>
              <a:srgbClr val="333333"/>
            </a:solidFill>
            <a:prstDash val="solid"/>
          </a:ln>
        </p:spPr>
      </p:sp>
      <p:sp>
        <p:nvSpPr>
          <p:cNvPr id="91" name="BadgeLetter"/>
          <p:cNvSpPr/>
          <p:nvPr/>
        </p:nvSpPr>
        <p:spPr>
          <a:xfrm>
            <a:off x="7300000" y="100000"/>
            <a:ext cx="380000" cy="380000"/>
          </a:xfrm>
          <a:prstGeom prst="rect">
            <a:avLst/>
          </a:prstGeom>
          <a:noFill/>
          <a:ln/>
        </p:spPr>
        <p:txBody>
          <a:bodyPr wrap="square" lIns="0" tIns="0" rIns="0" bIns="0" rtlCol="0" anchor="ctr"/>
          <a:lstStyle/>
          <a:p>
            <a:pPr algn="ctr" indent="0" marL="0">
              <a:buNone/>
            </a:pPr>
            <a:r>
              <a:rPr lang="en-US" sz="1800" b="1" dirty="0">
                <a:solidFill>
                  <a:srgbClr val="F8FAFC"/>
                </a:solidFill>
                <a:latin typeface="Arial Black" pitchFamily="34" charset="0"/>
              </a:rPr>
              <a:t>B</a:t>
            </a:r>
          </a:p>
        </p:txBody>
      </p:sp>
      <p:sp>
        <p:nvSpPr>
          <p:cNvPr id="92" name="BadgeLabel"/>
          <p:cNvSpPr/>
          <p:nvPr/>
        </p:nvSpPr>
        <p:spPr>
          <a:xfrm>
            <a:off x="7720000" y="100000"/>
            <a:ext cx="1300000" cy="380000"/>
          </a:xfrm>
          <a:prstGeom prst="rect">
            <a:avLst/>
          </a:prstGeom>
          <a:noFill/>
          <a:ln/>
        </p:spPr>
        <p:txBody>
          <a:bodyPr wrap="square" lIns="0" tIns="0" rIns="0" bIns="0" rtlCol="0" anchor="ctr"/>
          <a:lstStyle/>
          <a:p>
            <a:pPr indent="0" marL="0">
              <a:buNone/>
            </a:pPr>
            <a:r>
              <a:rPr lang="es-ES" sz="1100" b="1" dirty="0">
                <a:solidFill>
                  <a:srgbClr val="3B82F6"/>
                </a:solidFill>
              </a:rPr>
              <a:t>Firma OTS</a:t>
            </a:r>
          </a:p>
          <a:p>
            <a:pPr indent="0" marL="0">
              <a:buNone/>
            </a:pPr>
            <a:r>
              <a:rPr lang="es-ES" sz="800" dirty="0">
                <a:solidFill>
                  <a:srgbClr val="64748B"/>
                </a:solidFill>
              </a:rPr>
              <a:t>Detalle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E3D"/>
        </a:solidFill>
      </p:bgPr>
    </p:bg>
    <p:spTree>
      <p:nvGrpSpPr>
        <p:cNvPr id="1" name=""/>
        <p:cNvGrpSpPr/>
        <p:nvPr/>
      </p:nvGrpSpPr>
      <p:grpSpPr>
        <a:xfrm>
          <a:off x="0" y="0"/>
          <a:ext cx="0" cy="0"/>
          <a:chOff x="0" y="0"/>
          <a:chExt cx="0" cy="0"/>
        </a:xfrm>
      </p:grpSpPr>
      <p:sp>
        <p:nvSpPr>
          <p:cNvPr id="2" name="Bar"/>
          <p:cNvSpPr/>
          <p:nvPr/>
        </p:nvSpPr>
        <p:spPr>
          <a:xfrm>
            <a:off x="0" y="0"/>
            <a:ext cx="73152" cy="5143500"/>
          </a:xfrm>
          <a:prstGeom prst="rect">
            <a:avLst/>
          </a:prstGeom>
          <a:solidFill>
            <a:srgbClr val="3B82F6"/>
          </a:solidFill>
          <a:ln w="12700">
            <a:solidFill>
              <a:srgbClr val="333333"/>
            </a:solidFill>
            <a:prstDash val="solid"/>
          </a:ln>
        </p:spPr>
      </p:sp>
      <p:sp>
        <p:nvSpPr>
          <p:cNvPr id="3" name="Title"/>
          <p:cNvSpPr/>
          <p:nvPr/>
        </p:nvSpPr>
        <p:spPr>
          <a:xfrm>
            <a:off x="274320" y="137160"/>
            <a:ext cx="8412480" cy="350000"/>
          </a:xfrm>
          <a:prstGeom prst="rect">
            <a:avLst/>
          </a:prstGeom>
          <a:noFill/>
          <a:ln/>
        </p:spPr>
        <p:txBody>
          <a:bodyPr wrap="square" lIns="0" tIns="0" rIns="0" bIns="0" rtlCol="0" anchor="ctr"/>
          <a:lstStyle/>
          <a:p>
            <a:pPr indent="0" marL="0">
              <a:buNone/>
            </a:pPr>
            <a:r>
              <a:rPr lang="es-ES" sz="2200" b="1" dirty="0">
                <a:solidFill>
                  <a:srgbClr val="F8FAFC"/>
                </a:solidFill>
                <a:latin typeface="Arial" pitchFamily="34" charset="0"/>
              </a:rPr>
              <a:t>Ejemplo: Winternitz OTS con 4 bits</a:t>
            </a:r>
          </a:p>
        </p:txBody>
      </p:sp>
      <p:sp>
        <p:nvSpPr>
          <p:cNvPr id="4" name="Sub"/>
          <p:cNvSpPr/>
          <p:nvPr/>
        </p:nvSpPr>
        <p:spPr>
          <a:xfrm>
            <a:off x="274320" y="460000"/>
            <a:ext cx="8412480" cy="250000"/>
          </a:xfrm>
          <a:prstGeom prst="rect">
            <a:avLst/>
          </a:prstGeom>
          <a:noFill/>
          <a:ln/>
        </p:spPr>
        <p:txBody>
          <a:bodyPr wrap="square" lIns="0" tIns="0" rIns="0" bIns="0" rtlCol="0" anchor="ctr"/>
          <a:lstStyle/>
          <a:p>
            <a:pPr indent="0" marL="0">
              <a:buNone/>
            </a:pPr>
            <a:r>
              <a:rPr lang="es-ES" sz="1200" dirty="0">
                <a:solidFill>
                  <a:srgbClr val="64748B"/>
                </a:solidFill>
              </a:rPr>
              <a:t>Paso 3 — Verificación: el receptor completa las cadenas de hash</a:t>
            </a:r>
          </a:p>
        </p:txBody>
      </p:sp>
      <p:sp>
        <p:nvSpPr>
          <p:cNvPr id="5" name="Line"/>
          <p:cNvSpPr/>
          <p:nvPr/>
        </p:nvSpPr>
        <p:spPr>
          <a:xfrm>
            <a:off x="274320" y="720000"/>
            <a:ext cx="8412480" cy="0"/>
          </a:xfrm>
          <a:prstGeom prst="line">
            <a:avLst/>
          </a:prstGeom>
          <a:noFill/>
          <a:ln w="12700">
            <a:solidFill>
              <a:srgbClr val="1E3A5F"/>
            </a:solidFill>
            <a:prstDash val="solid"/>
          </a:ln>
        </p:spPr>
      </p:sp>
      <p:sp>
        <p:nvSpPr>
          <p:cNvPr id="10" name="CtxBG"/>
          <p:cNvSpPr/>
          <p:nvPr/>
        </p:nvSpPr>
        <p:spPr>
          <a:xfrm>
            <a:off x="274320" y="800000"/>
            <a:ext cx="8412480" cy="550000"/>
          </a:xfrm>
          <a:prstGeom prst="rect">
            <a:avLst/>
          </a:prstGeom>
          <a:solidFill>
            <a:srgbClr val="0A0F1A"/>
          </a:solidFill>
          <a:ln w="12700">
            <a:solidFill>
              <a:srgbClr val="3B82F6"/>
            </a:solidFill>
            <a:prstDash val="solid"/>
          </a:ln>
        </p:spPr>
      </p:sp>
      <p:sp>
        <p:nvSpPr>
          <p:cNvPr id="11" name="CtxTxt"/>
          <p:cNvSpPr/>
          <p:nvPr/>
        </p:nvSpPr>
        <p:spPr>
          <a:xfrm>
            <a:off x="274320" y="800000"/>
            <a:ext cx="8412480" cy="550000"/>
          </a:xfrm>
          <a:prstGeom prst="rect">
            <a:avLst/>
          </a:prstGeom>
          <a:noFill/>
          <a:ln/>
        </p:spPr>
        <p:txBody>
          <a:bodyPr wrap="square" lIns="101600" tIns="50800" rIns="101600" bIns="50800" rtlCol="0" anchor="ctr"/>
          <a:lstStyle/>
          <a:p>
            <a:pPr indent="0" marL="0">
              <a:buNone/>
            </a:pPr>
            <a:r>
              <a:rPr lang="es-ES" sz="1100" dirty="0">
                <a:solidFill>
                  <a:srgbClr val="BFDBFE"/>
                </a:solidFill>
              </a:rPr>
              <a:t xml:space="preserve">El verificador recibe la firma </a:t>
            </a:r>
            <a:r>
              <a:rPr lang="es-ES" sz="1100" b="1" dirty="0">
                <a:solidFill>
                  <a:srgbClr val="10B981"/>
                </a:solidFill>
                <a:latin typeface="Consolas"/>
              </a:rPr>
              <a:t>[ p₁ , s₂ , p₃ , p₄ ]</a:t>
            </a:r>
            <a:r>
              <a:rPr lang="es-ES" sz="1100" dirty="0">
                <a:solidFill>
                  <a:srgbClr val="BFDBFE"/>
                </a:solidFill>
              </a:rPr>
              <a:t xml:space="preserve">  y conoce los bits:  </a:t>
            </a:r>
            <a:r>
              <a:rPr lang="es-ES" sz="1100" b="1" dirty="0">
                <a:solidFill>
                  <a:srgbClr val="FDE68A"/>
                </a:solidFill>
                <a:latin typeface="Consolas"/>
              </a:rPr>
              <a:t>1 0 1 1</a:t>
            </a:r>
          </a:p>
          <a:p>
            <a:pPr indent="0" marL="0">
              <a:buNone/>
            </a:pPr>
            <a:r>
              <a:rPr lang="es-ES" sz="1100" dirty="0">
                <a:solidFill>
                  <a:srgbClr val="64748B"/>
                </a:solidFill>
              </a:rPr>
              <a:t>Para cada valor, aplica los pasos de hash que faltan para llegar a la clave pública:</a:t>
            </a:r>
          </a:p>
        </p:txBody>
      </p:sp>
      <p:sp>
        <p:nvSpPr>
          <p:cNvPr id="20" name="VerBG"/>
          <p:cNvSpPr/>
          <p:nvPr/>
        </p:nvSpPr>
        <p:spPr>
          <a:xfrm>
            <a:off x="274320" y="1480000"/>
            <a:ext cx="8412480" cy="1700000"/>
          </a:xfrm>
          <a:prstGeom prst="rect">
            <a:avLst/>
          </a:prstGeom>
          <a:solidFill>
            <a:srgbClr val="080E1A"/>
          </a:solidFill>
          <a:ln w="19050">
            <a:solidFill>
              <a:srgbClr val="F59E0B"/>
            </a:solidFill>
            <a:prstDash val="solid"/>
          </a:ln>
        </p:spPr>
      </p:sp>
      <p:sp>
        <p:nvSpPr>
          <p:cNvPr id="21" name="VerRows"/>
          <p:cNvSpPr/>
          <p:nvPr/>
        </p:nvSpPr>
        <p:spPr>
          <a:xfrm>
            <a:off x="380000" y="1540000"/>
            <a:ext cx="8200000" cy="1580000"/>
          </a:xfrm>
          <a:prstGeom prst="rect">
            <a:avLst/>
          </a:prstGeom>
          <a:noFill/>
          <a:ln/>
        </p:spPr>
        <p:txBody>
          <a:bodyPr wrap="square" lIns="0" tIns="0" rIns="0" bIns="0" rtlCol="0" anchor="t"/>
          <a:lstStyle/>
          <a:p>
            <a:pPr indent="0" marL="0">
              <a:buNone/>
              <a:lnSpc>
                <a:spcPts val="3200"/>
              </a:lnSpc>
            </a:pPr>
            <a:r>
              <a:rPr lang="es-ES" sz="1200" b="1" dirty="0">
                <a:solidFill>
                  <a:srgbClr val="FDE68A"/>
                </a:solidFill>
              </a:rPr>
              <a:t xml:space="preserve">Bit 1 = 1: </a:t>
            </a:r>
            <a:r>
              <a:rPr lang="es-ES" sz="1200" dirty="0">
                <a:solidFill>
                  <a:srgbClr val="BFDBFE"/>
                </a:solidFill>
              </a:rPr>
              <a:t xml:space="preserve"> recibió </a:t>
            </a:r>
            <a:r>
              <a:rPr lang="es-ES" sz="1200" dirty="0">
                <a:solidFill>
                  <a:srgbClr val="10B981"/>
                </a:solidFill>
                <a:latin typeface="Consolas"/>
              </a:rPr>
              <a:t>p₁</a:t>
            </a:r>
            <a:r>
              <a:rPr lang="es-ES" sz="1200" dirty="0">
                <a:solidFill>
                  <a:srgbClr val="BFDBFE"/>
                </a:solidFill>
              </a:rPr>
              <a:t xml:space="preserve">   → necesita 0 pasos más   → ya es </a:t>
            </a:r>
            <a:r>
              <a:rPr lang="es-ES" sz="1200" b="1" dirty="0">
                <a:solidFill>
                  <a:srgbClr val="10B981"/>
                </a:solidFill>
                <a:latin typeface="Consolas"/>
              </a:rPr>
              <a:t>p₁  ✓</a:t>
            </a:r>
          </a:p>
          <a:p>
            <a:pPr indent="0" marL="0">
              <a:buNone/>
              <a:lnSpc>
                <a:spcPts val="3200"/>
              </a:lnSpc>
            </a:pPr>
            <a:r>
              <a:rPr lang="es-ES" sz="1200" b="1" dirty="0">
                <a:solidFill>
                  <a:srgbClr val="FDE68A"/>
                </a:solidFill>
              </a:rPr>
              <a:t xml:space="preserve">Bit 2 = 0: </a:t>
            </a:r>
            <a:r>
              <a:rPr lang="es-ES" sz="1200" dirty="0">
                <a:solidFill>
                  <a:srgbClr val="BFDBFE"/>
                </a:solidFill>
              </a:rPr>
              <a:t xml:space="preserve"> recibió </a:t>
            </a:r>
            <a:r>
              <a:rPr lang="es-ES" sz="1200" dirty="0">
                <a:solidFill>
                  <a:srgbClr val="FDE68A"/>
                </a:solidFill>
                <a:latin typeface="Consolas"/>
              </a:rPr>
              <a:t>s₂</a:t>
            </a:r>
            <a:r>
              <a:rPr lang="es-ES" sz="1200" dirty="0">
                <a:solidFill>
                  <a:srgbClr val="BFDBFE"/>
                </a:solidFill>
              </a:rPr>
              <a:t xml:space="preserve">   → aplica 1 Hash          → Hash(s₂) = </a:t>
            </a:r>
            <a:r>
              <a:rPr lang="es-ES" sz="1200" b="1" dirty="0">
                <a:solidFill>
                  <a:srgbClr val="10B981"/>
                </a:solidFill>
                <a:latin typeface="Consolas"/>
              </a:rPr>
              <a:t>p₂  ✓</a:t>
            </a:r>
          </a:p>
          <a:p>
            <a:pPr indent="0" marL="0">
              <a:buNone/>
              <a:lnSpc>
                <a:spcPts val="3200"/>
              </a:lnSpc>
            </a:pPr>
            <a:r>
              <a:rPr lang="es-ES" sz="1200" b="1" dirty="0">
                <a:solidFill>
                  <a:srgbClr val="FDE68A"/>
                </a:solidFill>
              </a:rPr>
              <a:t xml:space="preserve">Bit 3 = 1: </a:t>
            </a:r>
            <a:r>
              <a:rPr lang="es-ES" sz="1200" dirty="0">
                <a:solidFill>
                  <a:srgbClr val="BFDBFE"/>
                </a:solidFill>
              </a:rPr>
              <a:t xml:space="preserve"> recibió </a:t>
            </a:r>
            <a:r>
              <a:rPr lang="es-ES" sz="1200" dirty="0">
                <a:solidFill>
                  <a:srgbClr val="10B981"/>
                </a:solidFill>
                <a:latin typeface="Consolas"/>
              </a:rPr>
              <a:t>p₃</a:t>
            </a:r>
            <a:r>
              <a:rPr lang="es-ES" sz="1200" dirty="0">
                <a:solidFill>
                  <a:srgbClr val="BFDBFE"/>
                </a:solidFill>
              </a:rPr>
              <a:t xml:space="preserve">   → necesita 0 pasos más   → ya es </a:t>
            </a:r>
            <a:r>
              <a:rPr lang="es-ES" sz="1200" b="1" dirty="0">
                <a:solidFill>
                  <a:srgbClr val="10B981"/>
                </a:solidFill>
                <a:latin typeface="Consolas"/>
              </a:rPr>
              <a:t>p₃  ✓</a:t>
            </a:r>
          </a:p>
          <a:p>
            <a:pPr indent="0" marL="0">
              <a:buNone/>
              <a:lnSpc>
                <a:spcPts val="3200"/>
              </a:lnSpc>
            </a:pPr>
            <a:r>
              <a:rPr lang="es-ES" sz="1200" b="1" dirty="0">
                <a:solidFill>
                  <a:srgbClr val="FDE68A"/>
                </a:solidFill>
              </a:rPr>
              <a:t xml:space="preserve">Bit 4 = 1: </a:t>
            </a:r>
            <a:r>
              <a:rPr lang="es-ES" sz="1200" dirty="0">
                <a:solidFill>
                  <a:srgbClr val="BFDBFE"/>
                </a:solidFill>
              </a:rPr>
              <a:t xml:space="preserve"> recibió </a:t>
            </a:r>
            <a:r>
              <a:rPr lang="es-ES" sz="1200" dirty="0">
                <a:solidFill>
                  <a:srgbClr val="10B981"/>
                </a:solidFill>
                <a:latin typeface="Consolas"/>
              </a:rPr>
              <a:t>p₄</a:t>
            </a:r>
            <a:r>
              <a:rPr lang="es-ES" sz="1200" dirty="0">
                <a:solidFill>
                  <a:srgbClr val="BFDBFE"/>
                </a:solidFill>
              </a:rPr>
              <a:t xml:space="preserve">   → necesita 0 pasos más   → ya es </a:t>
            </a:r>
            <a:r>
              <a:rPr lang="es-ES" sz="1200" b="1" dirty="0">
                <a:solidFill>
                  <a:srgbClr val="10B981"/>
                </a:solidFill>
                <a:latin typeface="Consolas"/>
              </a:rPr>
              <a:t>p₄  ✓</a:t>
            </a:r>
          </a:p>
        </p:txBody>
      </p:sp>
      <p:sp>
        <p:nvSpPr>
          <p:cNvPr id="30" name="ResBG"/>
          <p:cNvSpPr/>
          <p:nvPr/>
        </p:nvSpPr>
        <p:spPr>
          <a:xfrm>
            <a:off x="274320" y="3350000"/>
            <a:ext cx="8412480" cy="500000"/>
          </a:xfrm>
          <a:prstGeom prst="rect">
            <a:avLst/>
          </a:prstGeom>
          <a:solidFill>
            <a:srgbClr val="080E1A"/>
          </a:solidFill>
          <a:ln w="19050">
            <a:solidFill>
              <a:srgbClr val="10B981"/>
            </a:solidFill>
            <a:prstDash val="solid"/>
          </a:ln>
        </p:spPr>
      </p:sp>
      <p:sp>
        <p:nvSpPr>
          <p:cNvPr id="31" name="ResTxt"/>
          <p:cNvSpPr/>
          <p:nvPr/>
        </p:nvSpPr>
        <p:spPr>
          <a:xfrm>
            <a:off x="274320" y="3350000"/>
            <a:ext cx="8412480" cy="500000"/>
          </a:xfrm>
          <a:prstGeom prst="rect">
            <a:avLst/>
          </a:prstGeom>
          <a:noFill/>
          <a:ln/>
        </p:spPr>
        <p:txBody>
          <a:bodyPr wrap="square" lIns="101600" tIns="0" rIns="101600" bIns="0" rtlCol="0" anchor="ctr"/>
          <a:lstStyle/>
          <a:p>
            <a:pPr algn="ctr" indent="0" marL="0">
              <a:buNone/>
            </a:pPr>
            <a:r>
              <a:rPr lang="es-ES" sz="1400" b="1" dirty="0">
                <a:solidFill>
                  <a:srgbClr val="10B981"/>
                </a:solidFill>
              </a:rPr>
              <a:t>Todos coinciden con pk₀ = [p₁, p₂, p₃, p₄]   →   FIRMA VÁLIDA  ✓</a:t>
            </a:r>
          </a:p>
        </p:txBody>
      </p:sp>
      <p:sp>
        <p:nvSpPr>
          <p:cNvPr id="40" name="InsightBG"/>
          <p:cNvSpPr/>
          <p:nvPr/>
        </p:nvSpPr>
        <p:spPr>
          <a:xfrm>
            <a:off x="274320" y="4000000"/>
            <a:ext cx="8412480" cy="450000"/>
          </a:xfrm>
          <a:prstGeom prst="rect">
            <a:avLst/>
          </a:prstGeom>
          <a:solidFill>
            <a:srgbClr val="0A1628"/>
          </a:solidFill>
          <a:ln w="12700">
            <a:solidFill>
              <a:srgbClr val="1E3A5F"/>
            </a:solidFill>
            <a:prstDash val="solid"/>
          </a:ln>
        </p:spPr>
      </p:sp>
      <p:sp>
        <p:nvSpPr>
          <p:cNvPr id="41" name="InsightTxt"/>
          <p:cNvSpPr/>
          <p:nvPr/>
        </p:nvSpPr>
        <p:spPr>
          <a:xfrm>
            <a:off x="274320" y="4000000"/>
            <a:ext cx="8412480" cy="450000"/>
          </a:xfrm>
          <a:prstGeom prst="rect">
            <a:avLst/>
          </a:prstGeom>
          <a:noFill/>
          <a:ln/>
        </p:spPr>
        <p:txBody>
          <a:bodyPr wrap="square" lIns="101600" tIns="50800" rIns="101600" bIns="50800" rtlCol="0" anchor="ctr"/>
          <a:lstStyle/>
          <a:p>
            <a:pPr indent="0" marL="0">
              <a:buNone/>
            </a:pPr>
            <a:r>
              <a:rPr lang="es-ES" sz="1100" dirty="0">
                <a:solidFill>
                  <a:srgbClr val="64748B"/>
                </a:solidFill>
              </a:rPr>
              <a:t>El verificador NUNCA vio los secretos s₁, s₃, s₄. Solo necesitó completar la cadena de s₂ (el único bit=0).</a:t>
            </a:r>
          </a:p>
          <a:p>
            <a:pPr indent="0" marL="0">
              <a:buNone/>
            </a:pPr>
            <a:r>
              <a:rPr lang="es-ES" sz="1100" dirty="0">
                <a:solidFill>
                  <a:srgbClr val="64748B"/>
                </a:solidFill>
              </a:rPr>
              <a:t>Si un solo valor no coincide, la firma se rechaza inmediatamente.</a:t>
            </a:r>
          </a:p>
        </p:txBody>
      </p:sp>
      <p:sp>
        <p:nvSpPr>
          <p:cNvPr id="50" name="Foot"/>
          <p:cNvSpPr/>
          <p:nvPr/>
        </p:nvSpPr>
        <p:spPr>
          <a:xfrm>
            <a:off x="274320" y="4600000"/>
            <a:ext cx="8412480" cy="300000"/>
          </a:xfrm>
          <a:prstGeom prst="rect">
            <a:avLst/>
          </a:prstGeom>
          <a:noFill/>
          <a:ln/>
        </p:spPr>
        <p:txBody>
          <a:bodyPr wrap="square" lIns="0" tIns="0" rIns="0" bIns="0" rtlCol="0" anchor="ctr"/>
          <a:lstStyle/>
          <a:p>
            <a:pPr indent="0" marL="0">
              <a:buNone/>
            </a:pPr>
            <a:r>
              <a:rPr lang="es-ES" sz="1050" dirty="0">
                <a:solidFill>
                  <a:srgbClr val="64748B"/>
                </a:solidFill>
              </a:rPr>
              <a:t>La seguridad depende de que Hash es irreversible: de p₁ no se puede obtener s₁.</a:t>
            </a:r>
          </a:p>
        </p:txBody>
      </p:sp>
      <p:sp>
        <p:nvSpPr>
          <p:cNvPr id="90" name="BadgeBG"/>
          <p:cNvSpPr/>
          <p:nvPr/>
        </p:nvSpPr>
        <p:spPr>
          <a:xfrm>
            <a:off x="7300000" y="100000"/>
            <a:ext cx="380000" cy="380000"/>
          </a:xfrm>
          <a:prstGeom prst="rect">
            <a:avLst/>
          </a:prstGeom>
          <a:solidFill>
            <a:srgbClr val="3B82F6">
              <a:alpha val="75000"/>
            </a:srgbClr>
          </a:solidFill>
          <a:ln w="12700">
            <a:solidFill>
              <a:srgbClr val="333333"/>
            </a:solidFill>
            <a:prstDash val="solid"/>
          </a:ln>
        </p:spPr>
      </p:sp>
      <p:sp>
        <p:nvSpPr>
          <p:cNvPr id="91" name="BadgeLetter"/>
          <p:cNvSpPr/>
          <p:nvPr/>
        </p:nvSpPr>
        <p:spPr>
          <a:xfrm>
            <a:off x="7300000" y="100000"/>
            <a:ext cx="380000" cy="380000"/>
          </a:xfrm>
          <a:prstGeom prst="rect">
            <a:avLst/>
          </a:prstGeom>
          <a:noFill/>
          <a:ln/>
        </p:spPr>
        <p:txBody>
          <a:bodyPr wrap="square" lIns="0" tIns="0" rIns="0" bIns="0" rtlCol="0" anchor="ctr"/>
          <a:lstStyle/>
          <a:p>
            <a:pPr algn="ctr" indent="0" marL="0">
              <a:buNone/>
            </a:pPr>
            <a:r>
              <a:rPr lang="en-US" sz="1800" b="1" dirty="0">
                <a:solidFill>
                  <a:srgbClr val="F8FAFC"/>
                </a:solidFill>
                <a:latin typeface="Arial Black" pitchFamily="34" charset="0"/>
              </a:rPr>
              <a:t>B</a:t>
            </a:r>
          </a:p>
        </p:txBody>
      </p:sp>
      <p:sp>
        <p:nvSpPr>
          <p:cNvPr id="92" name="BadgeLabel"/>
          <p:cNvSpPr/>
          <p:nvPr/>
        </p:nvSpPr>
        <p:spPr>
          <a:xfrm>
            <a:off x="7720000" y="100000"/>
            <a:ext cx="1300000" cy="380000"/>
          </a:xfrm>
          <a:prstGeom prst="rect">
            <a:avLst/>
          </a:prstGeom>
          <a:noFill/>
          <a:ln/>
        </p:spPr>
        <p:txBody>
          <a:bodyPr wrap="square" lIns="0" tIns="0" rIns="0" bIns="0" rtlCol="0" anchor="ctr"/>
          <a:lstStyle/>
          <a:p>
            <a:pPr indent="0" marL="0">
              <a:buNone/>
            </a:pPr>
            <a:r>
              <a:rPr lang="es-ES" sz="1100" b="1" dirty="0">
                <a:solidFill>
                  <a:srgbClr val="3B82F6"/>
                </a:solidFill>
              </a:rPr>
              <a:t>Firma OTS</a:t>
            </a:r>
          </a:p>
          <a:p>
            <a:pPr indent="0" marL="0">
              <a:buNone/>
            </a:pPr>
            <a:r>
              <a:rPr lang="es-ES" sz="800" dirty="0">
                <a:solidFill>
                  <a:srgbClr val="64748B"/>
                </a:solidFill>
              </a:rPr>
              <a:t>Detalle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E3D"/>
        </a:solidFill>
      </p:bgPr>
    </p:bg>
    <p:spTree>
      <p:nvGrpSpPr>
        <p:cNvPr id="1" name=""/>
        <p:cNvGrpSpPr/>
        <p:nvPr/>
      </p:nvGrpSpPr>
      <p:grpSpPr>
        <a:xfrm>
          <a:off x="0" y="0"/>
          <a:ext cx="0" cy="0"/>
          <a:chOff x="0" y="0"/>
          <a:chExt cx="0" cy="0"/>
        </a:xfrm>
      </p:grpSpPr>
      <p:sp>
        <p:nvSpPr>
          <p:cNvPr id="2" name="Bar"/>
          <p:cNvSpPr/>
          <p:nvPr/>
        </p:nvSpPr>
        <p:spPr>
          <a:xfrm>
            <a:off x="0" y="0"/>
            <a:ext cx="73152" cy="5143500"/>
          </a:xfrm>
          <a:prstGeom prst="rect">
            <a:avLst/>
          </a:prstGeom>
          <a:solidFill>
            <a:srgbClr val="3B82F6"/>
          </a:solidFill>
          <a:ln w="12700">
            <a:solidFill>
              <a:srgbClr val="333333"/>
            </a:solidFill>
            <a:prstDash val="solid"/>
          </a:ln>
        </p:spPr>
      </p:sp>
      <p:sp>
        <p:nvSpPr>
          <p:cNvPr id="3" name="Title"/>
          <p:cNvSpPr/>
          <p:nvPr/>
        </p:nvSpPr>
        <p:spPr>
          <a:xfrm>
            <a:off x="274320" y="137160"/>
            <a:ext cx="8412480" cy="350000"/>
          </a:xfrm>
          <a:prstGeom prst="rect">
            <a:avLst/>
          </a:prstGeom>
          <a:noFill/>
          <a:ln/>
        </p:spPr>
        <p:txBody>
          <a:bodyPr wrap="square" lIns="0" tIns="0" rIns="0" bIns="0" rtlCol="0" anchor="ctr"/>
          <a:lstStyle/>
          <a:p>
            <a:pPr indent="0" marL="0">
              <a:buNone/>
            </a:pPr>
            <a:r>
              <a:rPr lang="es-ES" sz="2200" b="1" dirty="0">
                <a:solidFill>
                  <a:srgbClr val="F8FAFC"/>
                </a:solidFill>
                <a:latin typeface="Arial" pitchFamily="34" charset="0"/>
              </a:rPr>
              <a:t>Ejemplo: Winternitz OTS con 4 bits</a:t>
            </a:r>
          </a:p>
        </p:txBody>
      </p:sp>
      <p:sp>
        <p:nvSpPr>
          <p:cNvPr id="4" name="Sub"/>
          <p:cNvSpPr/>
          <p:nvPr/>
        </p:nvSpPr>
        <p:spPr>
          <a:xfrm>
            <a:off x="274320" y="460000"/>
            <a:ext cx="8412480" cy="250000"/>
          </a:xfrm>
          <a:prstGeom prst="rect">
            <a:avLst/>
          </a:prstGeom>
          <a:noFill/>
          <a:ln/>
        </p:spPr>
        <p:txBody>
          <a:bodyPr wrap="square" lIns="0" tIns="0" rIns="0" bIns="0" rtlCol="0" anchor="ctr"/>
          <a:lstStyle/>
          <a:p>
            <a:pPr indent="0" marL="0">
              <a:buNone/>
            </a:pPr>
            <a:r>
              <a:rPr lang="es-ES" sz="1200" dirty="0">
                <a:solidFill>
                  <a:srgbClr val="EF4444"/>
                </a:solidFill>
              </a:rPr>
              <a:t>Paso 4 — ¿Por qué solo UNA vez? El peligro de reutilizar</a:t>
            </a:r>
          </a:p>
        </p:txBody>
      </p:sp>
      <p:sp>
        <p:nvSpPr>
          <p:cNvPr id="5" name="Line"/>
          <p:cNvSpPr/>
          <p:nvPr/>
        </p:nvSpPr>
        <p:spPr>
          <a:xfrm>
            <a:off x="274320" y="720000"/>
            <a:ext cx="8412480" cy="0"/>
          </a:xfrm>
          <a:prstGeom prst="line">
            <a:avLst/>
          </a:prstGeom>
          <a:noFill/>
          <a:ln w="12700">
            <a:solidFill>
              <a:srgbClr val="1E3A5F"/>
            </a:solidFill>
            <a:prstDash val="solid"/>
          </a:ln>
        </p:spPr>
      </p:sp>
      <p:sp>
        <p:nvSpPr>
          <p:cNvPr id="10" name="F1BG"/>
          <p:cNvSpPr/>
          <p:nvPr/>
        </p:nvSpPr>
        <p:spPr>
          <a:xfrm>
            <a:off x="274320" y="800000"/>
            <a:ext cx="4050000" cy="550000"/>
          </a:xfrm>
          <a:prstGeom prst="rect">
            <a:avLst/>
          </a:prstGeom>
          <a:solidFill>
            <a:srgbClr val="080E1A"/>
          </a:solidFill>
          <a:ln w="19050">
            <a:solidFill>
              <a:srgbClr val="3B82F6"/>
            </a:solidFill>
            <a:prstDash val="solid"/>
          </a:ln>
        </p:spPr>
      </p:sp>
      <p:sp>
        <p:nvSpPr>
          <p:cNvPr id="11" name="F1Txt"/>
          <p:cNvSpPr/>
          <p:nvPr/>
        </p:nvSpPr>
        <p:spPr>
          <a:xfrm>
            <a:off x="274320" y="800000"/>
            <a:ext cx="4050000" cy="550000"/>
          </a:xfrm>
          <a:prstGeom prst="rect">
            <a:avLst/>
          </a:prstGeom>
          <a:noFill/>
          <a:ln/>
        </p:spPr>
        <p:txBody>
          <a:bodyPr wrap="square" lIns="101600" tIns="50800" rIns="101600" bIns="50800" rtlCol="0" anchor="ctr"/>
          <a:lstStyle/>
          <a:p>
            <a:pPr indent="0" marL="0">
              <a:buNone/>
            </a:pPr>
            <a:r>
              <a:rPr lang="es-ES" sz="1100" b="1" dirty="0">
                <a:solidFill>
                  <a:srgbClr val="3B82F6"/>
                </a:solidFill>
              </a:rPr>
              <a:t>Firma del mensaje 1  (bits: 1 0 1 1)</a:t>
            </a:r>
          </a:p>
          <a:p>
            <a:pPr indent="0" marL="0">
              <a:buNone/>
            </a:pPr>
            <a:r>
              <a:rPr lang="es-ES" sz="1200" dirty="0">
                <a:solidFill>
                  <a:srgbClr val="BFDBFE"/>
                </a:solidFill>
                <a:latin typeface="Consolas"/>
              </a:rPr>
              <a:t xml:space="preserve">Firma₁ = [ </a:t>
            </a:r>
            <a:r>
              <a:rPr lang="es-ES" sz="1200" b="1" dirty="0">
                <a:solidFill>
                  <a:srgbClr val="10B981"/>
                </a:solidFill>
                <a:latin typeface="Consolas"/>
              </a:rPr>
              <a:t>p₁</a:t>
            </a:r>
            <a:r>
              <a:rPr lang="es-ES" sz="1200" dirty="0">
                <a:solidFill>
                  <a:srgbClr val="BFDBFE"/>
                </a:solidFill>
                <a:latin typeface="Consolas"/>
              </a:rPr>
              <a:t xml:space="preserve"> , </a:t>
            </a:r>
            <a:r>
              <a:rPr lang="es-ES" sz="1200" b="1" dirty="0">
                <a:solidFill>
                  <a:srgbClr val="FDE68A"/>
                </a:solidFill>
                <a:latin typeface="Consolas"/>
              </a:rPr>
              <a:t>s₂</a:t>
            </a:r>
            <a:r>
              <a:rPr lang="es-ES" sz="1200" dirty="0">
                <a:solidFill>
                  <a:srgbClr val="BFDBFE"/>
                </a:solidFill>
                <a:latin typeface="Consolas"/>
              </a:rPr>
              <a:t xml:space="preserve"> , </a:t>
            </a:r>
            <a:r>
              <a:rPr lang="es-ES" sz="1200" b="1" dirty="0">
                <a:solidFill>
                  <a:srgbClr val="10B981"/>
                </a:solidFill>
                <a:latin typeface="Consolas"/>
              </a:rPr>
              <a:t>p₃</a:t>
            </a:r>
            <a:r>
              <a:rPr lang="es-ES" sz="1200" dirty="0">
                <a:solidFill>
                  <a:srgbClr val="BFDBFE"/>
                </a:solidFill>
                <a:latin typeface="Consolas"/>
              </a:rPr>
              <a:t xml:space="preserve"> , </a:t>
            </a:r>
            <a:r>
              <a:rPr lang="es-ES" sz="1200" b="1" dirty="0">
                <a:solidFill>
                  <a:srgbClr val="10B981"/>
                </a:solidFill>
                <a:latin typeface="Consolas"/>
              </a:rPr>
              <a:t>p₄</a:t>
            </a:r>
            <a:r>
              <a:rPr lang="es-ES" sz="1200" dirty="0">
                <a:solidFill>
                  <a:srgbClr val="BFDBFE"/>
                </a:solidFill>
                <a:latin typeface="Consolas"/>
              </a:rPr>
              <a:t xml:space="preserve"> ]</a:t>
            </a:r>
          </a:p>
        </p:txBody>
      </p:sp>
      <p:sp>
        <p:nvSpPr>
          <p:cNvPr id="12" name="F2BG"/>
          <p:cNvSpPr/>
          <p:nvPr/>
        </p:nvSpPr>
        <p:spPr>
          <a:xfrm>
            <a:off x="4636800" y="800000"/>
            <a:ext cx="4050000" cy="550000"/>
          </a:xfrm>
          <a:prstGeom prst="rect">
            <a:avLst/>
          </a:prstGeom>
          <a:solidFill>
            <a:srgbClr val="080E1A"/>
          </a:solidFill>
          <a:ln w="19050">
            <a:solidFill>
              <a:srgbClr val="F59E0B"/>
            </a:solidFill>
            <a:prstDash val="solid"/>
          </a:ln>
        </p:spPr>
      </p:sp>
      <p:sp>
        <p:nvSpPr>
          <p:cNvPr id="13" name="F2Txt"/>
          <p:cNvSpPr/>
          <p:nvPr/>
        </p:nvSpPr>
        <p:spPr>
          <a:xfrm>
            <a:off x="4636800" y="800000"/>
            <a:ext cx="4050000" cy="550000"/>
          </a:xfrm>
          <a:prstGeom prst="rect">
            <a:avLst/>
          </a:prstGeom>
          <a:noFill/>
          <a:ln/>
        </p:spPr>
        <p:txBody>
          <a:bodyPr wrap="square" lIns="101600" tIns="50800" rIns="101600" bIns="50800" rtlCol="0" anchor="ctr"/>
          <a:lstStyle/>
          <a:p>
            <a:pPr indent="0" marL="0">
              <a:buNone/>
            </a:pPr>
            <a:r>
              <a:rPr lang="es-ES" sz="1100" b="1" dirty="0">
                <a:solidFill>
                  <a:srgbClr val="F59E0B"/>
                </a:solidFill>
              </a:rPr>
              <a:t>Firma del mensaje 2  (bits: 0 1 1 0)</a:t>
            </a:r>
          </a:p>
          <a:p>
            <a:pPr indent="0" marL="0">
              <a:buNone/>
            </a:pPr>
            <a:r>
              <a:rPr lang="es-ES" sz="1200" dirty="0">
                <a:solidFill>
                  <a:srgbClr val="BFDBFE"/>
                </a:solidFill>
                <a:latin typeface="Consolas"/>
              </a:rPr>
              <a:t xml:space="preserve">Firma₂ = [ </a:t>
            </a:r>
            <a:r>
              <a:rPr lang="es-ES" sz="1200" b="1" dirty="0">
                <a:solidFill>
                  <a:srgbClr val="FDE68A"/>
                </a:solidFill>
                <a:latin typeface="Consolas"/>
              </a:rPr>
              <a:t>s₁</a:t>
            </a:r>
            <a:r>
              <a:rPr lang="es-ES" sz="1200" dirty="0">
                <a:solidFill>
                  <a:srgbClr val="BFDBFE"/>
                </a:solidFill>
                <a:latin typeface="Consolas"/>
              </a:rPr>
              <a:t xml:space="preserve"> , </a:t>
            </a:r>
            <a:r>
              <a:rPr lang="es-ES" sz="1200" b="1" dirty="0">
                <a:solidFill>
                  <a:srgbClr val="10B981"/>
                </a:solidFill>
                <a:latin typeface="Consolas"/>
              </a:rPr>
              <a:t>p₂</a:t>
            </a:r>
            <a:r>
              <a:rPr lang="es-ES" sz="1200" dirty="0">
                <a:solidFill>
                  <a:srgbClr val="BFDBFE"/>
                </a:solidFill>
                <a:latin typeface="Consolas"/>
              </a:rPr>
              <a:t xml:space="preserve"> , </a:t>
            </a:r>
            <a:r>
              <a:rPr lang="es-ES" sz="1200" b="1" dirty="0">
                <a:solidFill>
                  <a:srgbClr val="10B981"/>
                </a:solidFill>
                <a:latin typeface="Consolas"/>
              </a:rPr>
              <a:t>p₃</a:t>
            </a:r>
            <a:r>
              <a:rPr lang="es-ES" sz="1200" dirty="0">
                <a:solidFill>
                  <a:srgbClr val="BFDBFE"/>
                </a:solidFill>
                <a:latin typeface="Consolas"/>
              </a:rPr>
              <a:t xml:space="preserve"> , </a:t>
            </a:r>
            <a:r>
              <a:rPr lang="es-ES" sz="1200" b="1" dirty="0">
                <a:solidFill>
                  <a:srgbClr val="FDE68A"/>
                </a:solidFill>
                <a:latin typeface="Consolas"/>
              </a:rPr>
              <a:t>s₄</a:t>
            </a:r>
            <a:r>
              <a:rPr lang="es-ES" sz="1200" dirty="0">
                <a:solidFill>
                  <a:srgbClr val="BFDBFE"/>
                </a:solidFill>
                <a:latin typeface="Consolas"/>
              </a:rPr>
              <a:t xml:space="preserve"> ]</a:t>
            </a:r>
          </a:p>
        </p:txBody>
      </p:sp>
      <p:sp>
        <p:nvSpPr>
          <p:cNvPr id="20" name="AtkBG"/>
          <p:cNvSpPr/>
          <p:nvPr/>
        </p:nvSpPr>
        <p:spPr>
          <a:xfrm>
            <a:off x="274320" y="1500000"/>
            <a:ext cx="8412480" cy="1800000"/>
          </a:xfrm>
          <a:prstGeom prst="rect">
            <a:avLst/>
          </a:prstGeom>
          <a:solidFill>
            <a:srgbClr val="080E1A"/>
          </a:solidFill>
          <a:ln w="25400">
            <a:solidFill>
              <a:srgbClr val="EF4444"/>
            </a:solidFill>
            <a:prstDash val="solid"/>
          </a:ln>
        </p:spPr>
      </p:sp>
      <p:sp>
        <p:nvSpPr>
          <p:cNvPr id="21" name="AtkTitle"/>
          <p:cNvSpPr/>
          <p:nvPr/>
        </p:nvSpPr>
        <p:spPr>
          <a:xfrm>
            <a:off x="380000" y="1540000"/>
            <a:ext cx="8200000" cy="300000"/>
          </a:xfrm>
          <a:prstGeom prst="rect">
            <a:avLst/>
          </a:prstGeom>
          <a:noFill/>
          <a:ln/>
        </p:spPr>
        <p:txBody>
          <a:bodyPr wrap="square" lIns="0" tIns="0" rIns="0" bIns="0" rtlCol="0" anchor="ctr"/>
          <a:lstStyle/>
          <a:p>
            <a:pPr indent="0" marL="0">
              <a:buNone/>
            </a:pPr>
            <a:r>
              <a:rPr lang="es-ES" sz="1300" b="1" dirty="0">
                <a:solidFill>
                  <a:srgbClr val="EF4444"/>
                </a:solidFill>
              </a:rPr>
              <a:t>El atacante que ve AMBAS firmas obtiene:</a:t>
            </a:r>
          </a:p>
        </p:txBody>
      </p:sp>
      <p:sp>
        <p:nvSpPr>
          <p:cNvPr id="22" name="AtkRows"/>
          <p:cNvSpPr/>
          <p:nvPr/>
        </p:nvSpPr>
        <p:spPr>
          <a:xfrm>
            <a:off x="380000" y="1860000"/>
            <a:ext cx="8200000" cy="1380000"/>
          </a:xfrm>
          <a:prstGeom prst="rect">
            <a:avLst/>
          </a:prstGeom>
          <a:noFill/>
          <a:ln/>
        </p:spPr>
        <p:txBody>
          <a:bodyPr wrap="square" lIns="0" tIns="0" rIns="0" bIns="0" rtlCol="0" anchor="t"/>
          <a:lstStyle/>
          <a:p>
            <a:pPr indent="0" marL="0">
              <a:buNone/>
              <a:lnSpc>
                <a:spcPts val="2800"/>
              </a:lnSpc>
            </a:pPr>
            <a:r>
              <a:rPr lang="es-ES" sz="1100" b="1" dirty="0">
                <a:solidFill>
                  <a:srgbClr val="FDE68A"/>
                </a:solidFill>
              </a:rPr>
              <a:t xml:space="preserve">Posición 1: </a:t>
            </a:r>
            <a:r>
              <a:rPr lang="es-ES" sz="1100" dirty="0">
                <a:solidFill>
                  <a:srgbClr val="BFDBFE"/>
                </a:solidFill>
                <a:latin typeface="Consolas"/>
              </a:rPr>
              <a:t>s₁</a:t>
            </a:r>
            <a:r>
              <a:rPr lang="es-ES" sz="1100" dirty="0">
                <a:solidFill>
                  <a:srgbClr val="64748B"/>
                </a:solidFill>
              </a:rPr>
              <a:t xml:space="preserve"> (de Firma₂)  +  </a:t>
            </a:r>
            <a:r>
              <a:rPr lang="es-ES" sz="1100" dirty="0">
                <a:solidFill>
                  <a:srgbClr val="BFDBFE"/>
                </a:solidFill>
                <a:latin typeface="Consolas"/>
              </a:rPr>
              <a:t>p₁</a:t>
            </a:r>
            <a:r>
              <a:rPr lang="es-ES" sz="1100" dirty="0">
                <a:solidFill>
                  <a:srgbClr val="64748B"/>
                </a:solidFill>
              </a:rPr>
              <a:t xml:space="preserve"> (de Firma₁)   →  </a:t>
            </a:r>
            <a:r>
              <a:rPr lang="es-ES" sz="1100" b="1" dirty="0">
                <a:solidFill>
                  <a:srgbClr val="EF4444"/>
                </a:solidFill>
              </a:rPr>
              <a:t>TIENE TODO</a:t>
            </a:r>
          </a:p>
          <a:p>
            <a:pPr indent="0" marL="0">
              <a:buNone/>
              <a:lnSpc>
                <a:spcPts val="2800"/>
              </a:lnSpc>
            </a:pPr>
            <a:r>
              <a:rPr lang="es-ES" sz="1100" b="1" dirty="0">
                <a:solidFill>
                  <a:srgbClr val="FDE68A"/>
                </a:solidFill>
              </a:rPr>
              <a:t xml:space="preserve">Posición 2: </a:t>
            </a:r>
            <a:r>
              <a:rPr lang="es-ES" sz="1100" dirty="0">
                <a:solidFill>
                  <a:srgbClr val="BFDBFE"/>
                </a:solidFill>
                <a:latin typeface="Consolas"/>
              </a:rPr>
              <a:t>s₂</a:t>
            </a:r>
            <a:r>
              <a:rPr lang="es-ES" sz="1100" dirty="0">
                <a:solidFill>
                  <a:srgbClr val="64748B"/>
                </a:solidFill>
              </a:rPr>
              <a:t xml:space="preserve"> (de Firma₁)  +  </a:t>
            </a:r>
            <a:r>
              <a:rPr lang="es-ES" sz="1100" dirty="0">
                <a:solidFill>
                  <a:srgbClr val="BFDBFE"/>
                </a:solidFill>
                <a:latin typeface="Consolas"/>
              </a:rPr>
              <a:t>p₂</a:t>
            </a:r>
            <a:r>
              <a:rPr lang="es-ES" sz="1100" dirty="0">
                <a:solidFill>
                  <a:srgbClr val="64748B"/>
                </a:solidFill>
              </a:rPr>
              <a:t xml:space="preserve"> (de Firma₂)   →  </a:t>
            </a:r>
            <a:r>
              <a:rPr lang="es-ES" sz="1100" b="1" dirty="0">
                <a:solidFill>
                  <a:srgbClr val="EF4444"/>
                </a:solidFill>
              </a:rPr>
              <a:t>TIENE TODO</a:t>
            </a:r>
          </a:p>
          <a:p>
            <a:pPr indent="0" marL="0">
              <a:buNone/>
              <a:lnSpc>
                <a:spcPts val="2800"/>
              </a:lnSpc>
            </a:pPr>
            <a:r>
              <a:rPr lang="es-ES" sz="1100" b="1" dirty="0">
                <a:solidFill>
                  <a:srgbClr val="FDE68A"/>
                </a:solidFill>
              </a:rPr>
              <a:t xml:space="preserve">Posición 3: </a:t>
            </a:r>
            <a:r>
              <a:rPr lang="es-ES" sz="1100" dirty="0">
                <a:solidFill>
                  <a:srgbClr val="BFDBFE"/>
                </a:solidFill>
                <a:latin typeface="Consolas"/>
              </a:rPr>
              <a:t>p₃</a:t>
            </a:r>
            <a:r>
              <a:rPr lang="es-ES" sz="1100" dirty="0">
                <a:solidFill>
                  <a:srgbClr val="64748B"/>
                </a:solidFill>
              </a:rPr>
              <a:t xml:space="preserve"> (de ambas)  → no obtiene s₃                →  </a:t>
            </a:r>
            <a:r>
              <a:rPr lang="es-ES" sz="1100" dirty="0">
                <a:solidFill>
                  <a:srgbClr val="10B981"/>
                </a:solidFill>
              </a:rPr>
              <a:t>OK (pero innecesario para bit=1)</a:t>
            </a:r>
          </a:p>
          <a:p>
            <a:pPr indent="0" marL="0">
              <a:buNone/>
              <a:lnSpc>
                <a:spcPts val="2800"/>
              </a:lnSpc>
            </a:pPr>
            <a:r>
              <a:rPr lang="es-ES" sz="1100" b="1" dirty="0">
                <a:solidFill>
                  <a:srgbClr val="FDE68A"/>
                </a:solidFill>
              </a:rPr>
              <a:t xml:space="preserve">Posición 4: </a:t>
            </a:r>
            <a:r>
              <a:rPr lang="es-ES" sz="1100" dirty="0">
                <a:solidFill>
                  <a:srgbClr val="BFDBFE"/>
                </a:solidFill>
                <a:latin typeface="Consolas"/>
              </a:rPr>
              <a:t>s₄</a:t>
            </a:r>
            <a:r>
              <a:rPr lang="es-ES" sz="1100" dirty="0">
                <a:solidFill>
                  <a:srgbClr val="64748B"/>
                </a:solidFill>
              </a:rPr>
              <a:t xml:space="preserve"> (de Firma₂)  +  </a:t>
            </a:r>
            <a:r>
              <a:rPr lang="es-ES" sz="1100" dirty="0">
                <a:solidFill>
                  <a:srgbClr val="BFDBFE"/>
                </a:solidFill>
                <a:latin typeface="Consolas"/>
              </a:rPr>
              <a:t>p₄</a:t>
            </a:r>
            <a:r>
              <a:rPr lang="es-ES" sz="1100" dirty="0">
                <a:solidFill>
                  <a:srgbClr val="64748B"/>
                </a:solidFill>
              </a:rPr>
              <a:t xml:space="preserve"> (de Firma₁)   →  </a:t>
            </a:r>
            <a:r>
              <a:rPr lang="es-ES" sz="1100" b="1" dirty="0">
                <a:solidFill>
                  <a:srgbClr val="EF4444"/>
                </a:solidFill>
              </a:rPr>
              <a:t>TIENE TODO</a:t>
            </a:r>
          </a:p>
        </p:txBody>
      </p:sp>
      <p:sp>
        <p:nvSpPr>
          <p:cNvPr id="30" name="DangerBG"/>
          <p:cNvSpPr/>
          <p:nvPr/>
        </p:nvSpPr>
        <p:spPr>
          <a:xfrm>
            <a:off x="274320" y="3450000"/>
            <a:ext cx="8412480" cy="500000"/>
          </a:xfrm>
          <a:prstGeom prst="rect">
            <a:avLst/>
          </a:prstGeom>
          <a:solidFill>
            <a:srgbClr val="1A0505"/>
          </a:solidFill>
          <a:ln w="19050">
            <a:solidFill>
              <a:srgbClr val="EF4444"/>
            </a:solidFill>
            <a:prstDash val="solid"/>
          </a:ln>
        </p:spPr>
      </p:sp>
      <p:sp>
        <p:nvSpPr>
          <p:cNvPr id="31" name="DangerTxt"/>
          <p:cNvSpPr/>
          <p:nvPr/>
        </p:nvSpPr>
        <p:spPr>
          <a:xfrm>
            <a:off x="274320" y="3450000"/>
            <a:ext cx="8412480" cy="500000"/>
          </a:xfrm>
          <a:prstGeom prst="rect">
            <a:avLst/>
          </a:prstGeom>
          <a:noFill/>
          <a:ln/>
        </p:spPr>
        <p:txBody>
          <a:bodyPr wrap="square" lIns="101600" tIns="0" rIns="101600" bIns="0" rtlCol="0" anchor="ctr"/>
          <a:lstStyle/>
          <a:p>
            <a:pPr algn="ctr" indent="0" marL="0">
              <a:buNone/>
            </a:pPr>
            <a:r>
              <a:rPr lang="es-ES" sz="1300" b="1" dirty="0">
                <a:solidFill>
                  <a:srgbClr val="EF4444"/>
                </a:solidFill>
              </a:rPr>
              <a:t>Con s₁, s₂, s₄ y p₃ puede forjar firmas para CUALQUIER mensaje. Seguridad ROTA.</a:t>
            </a:r>
          </a:p>
        </p:txBody>
      </p:sp>
      <p:sp>
        <p:nvSpPr>
          <p:cNvPr id="40" name="Foot"/>
          <p:cNvSpPr/>
          <p:nvPr/>
        </p:nvSpPr>
        <p:spPr>
          <a:xfrm>
            <a:off x="274320" y="4150000"/>
            <a:ext cx="8412480" cy="500000"/>
          </a:xfrm>
          <a:prstGeom prst="rect">
            <a:avLst/>
          </a:prstGeom>
          <a:solidFill>
            <a:srgbClr val="0A1628"/>
          </a:solidFill>
          <a:ln w="12700">
            <a:solidFill>
              <a:srgbClr val="1E3A5F"/>
            </a:solidFill>
            <a:prstDash val="solid"/>
          </a:ln>
        </p:spPr>
      </p:sp>
      <p:sp>
        <p:nvSpPr>
          <p:cNvPr id="41" name="FootTxt"/>
          <p:cNvSpPr/>
          <p:nvPr/>
        </p:nvSpPr>
        <p:spPr>
          <a:xfrm>
            <a:off x="274320" y="4150000"/>
            <a:ext cx="8412480" cy="500000"/>
          </a:xfrm>
          <a:prstGeom prst="rect">
            <a:avLst/>
          </a:prstGeom>
          <a:noFill/>
          <a:ln/>
        </p:spPr>
        <p:txBody>
          <a:bodyPr wrap="square" lIns="101600" tIns="50800" rIns="101600" bIns="50800" rtlCol="0" anchor="ctr"/>
          <a:lstStyle/>
          <a:p>
            <a:pPr indent="0" marL="0">
              <a:buNone/>
            </a:pPr>
            <a:r>
              <a:rPr lang="es-ES" sz="1100" dirty="0">
                <a:solidFill>
                  <a:srgbClr val="64748B"/>
                </a:solidFill>
              </a:rPr>
              <a:t>Por eso XMSS lleva un contador de índice: cada OTS se usa exactamente UNA vez y se descarta.</a:t>
            </a:r>
          </a:p>
          <a:p>
            <a:pPr indent="0" marL="0">
              <a:buNone/>
            </a:pPr>
            <a:r>
              <a:rPr lang="es-ES" sz="1100" dirty="0">
                <a:solidFill>
                  <a:srgbClr val="64748B"/>
                </a:solidFill>
              </a:rPr>
              <a:t>Esto conecta con el Pilar 03 (Estado): el idx DEBE avanzar después de cada firma.</a:t>
            </a:r>
          </a:p>
        </p:txBody>
      </p:sp>
      <p:sp>
        <p:nvSpPr>
          <p:cNvPr id="90" name="BadgeBG"/>
          <p:cNvSpPr/>
          <p:nvPr/>
        </p:nvSpPr>
        <p:spPr>
          <a:xfrm>
            <a:off x="7300000" y="100000"/>
            <a:ext cx="380000" cy="380000"/>
          </a:xfrm>
          <a:prstGeom prst="rect">
            <a:avLst/>
          </a:prstGeom>
          <a:solidFill>
            <a:srgbClr val="3B82F6">
              <a:alpha val="75000"/>
            </a:srgbClr>
          </a:solidFill>
          <a:ln w="12700">
            <a:solidFill>
              <a:srgbClr val="333333"/>
            </a:solidFill>
            <a:prstDash val="solid"/>
          </a:ln>
        </p:spPr>
      </p:sp>
      <p:sp>
        <p:nvSpPr>
          <p:cNvPr id="91" name="BadgeLetter"/>
          <p:cNvSpPr/>
          <p:nvPr/>
        </p:nvSpPr>
        <p:spPr>
          <a:xfrm>
            <a:off x="7300000" y="100000"/>
            <a:ext cx="380000" cy="380000"/>
          </a:xfrm>
          <a:prstGeom prst="rect">
            <a:avLst/>
          </a:prstGeom>
          <a:noFill/>
          <a:ln/>
        </p:spPr>
        <p:txBody>
          <a:bodyPr wrap="square" lIns="0" tIns="0" rIns="0" bIns="0" rtlCol="0" anchor="ctr"/>
          <a:lstStyle/>
          <a:p>
            <a:pPr algn="ctr" indent="0" marL="0">
              <a:buNone/>
            </a:pPr>
            <a:r>
              <a:rPr lang="en-US" sz="1800" b="1" dirty="0">
                <a:solidFill>
                  <a:srgbClr val="F8FAFC"/>
                </a:solidFill>
                <a:latin typeface="Arial Black" pitchFamily="34" charset="0"/>
              </a:rPr>
              <a:t>B</a:t>
            </a:r>
          </a:p>
        </p:txBody>
      </p:sp>
      <p:sp>
        <p:nvSpPr>
          <p:cNvPr id="92" name="BadgeLabel"/>
          <p:cNvSpPr/>
          <p:nvPr/>
        </p:nvSpPr>
        <p:spPr>
          <a:xfrm>
            <a:off x="7720000" y="100000"/>
            <a:ext cx="1300000" cy="380000"/>
          </a:xfrm>
          <a:prstGeom prst="rect">
            <a:avLst/>
          </a:prstGeom>
          <a:noFill/>
          <a:ln/>
        </p:spPr>
        <p:txBody>
          <a:bodyPr wrap="square" lIns="0" tIns="0" rIns="0" bIns="0" rtlCol="0" anchor="ctr"/>
          <a:lstStyle/>
          <a:p>
            <a:pPr indent="0" marL="0">
              <a:buNone/>
            </a:pPr>
            <a:r>
              <a:rPr lang="es-ES" sz="1100" b="1" dirty="0">
                <a:solidFill>
                  <a:srgbClr val="3B82F6"/>
                </a:solidFill>
              </a:rPr>
              <a:t>Firma OTS</a:t>
            </a:r>
          </a:p>
          <a:p>
            <a:pPr indent="0" marL="0">
              <a:buNone/>
            </a:pPr>
            <a:r>
              <a:rPr lang="es-ES" sz="800" dirty="0">
                <a:solidFill>
                  <a:srgbClr val="64748B"/>
                </a:solidFill>
              </a:rPr>
              <a:t>Detalle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E3D"/>
        </a:solidFill>
      </p:bgPr>
    </p:bg>
    <p:spTree>
      <p:nvGrpSpPr>
        <p:cNvPr id="1" name=""/>
        <p:cNvGrpSpPr/>
        <p:nvPr/>
      </p:nvGrpSpPr>
      <p:grpSpPr>
        <a:xfrm>
          <a:off x="0" y="0"/>
          <a:ext cx="0" cy="0"/>
          <a:chOff x="0" y="0"/>
          <a:chExt cx="0" cy="0"/>
        </a:xfrm>
      </p:grpSpPr>
      <p:sp>
        <p:nvSpPr>
          <p:cNvPr id="2" name="Bar"/>
          <p:cNvSpPr/>
          <p:nvPr/>
        </p:nvSpPr>
        <p:spPr>
          <a:xfrm>
            <a:off x="0" y="0"/>
            <a:ext cx="73152" cy="5143500"/>
          </a:xfrm>
          <a:prstGeom prst="rect">
            <a:avLst/>
          </a:prstGeom>
          <a:solidFill>
            <a:srgbClr val="3B82F6"/>
          </a:solidFill>
          <a:ln w="12700">
            <a:solidFill>
              <a:srgbClr val="333333"/>
            </a:solidFill>
            <a:prstDash val="solid"/>
          </a:ln>
        </p:spPr>
      </p:sp>
      <p:sp>
        <p:nvSpPr>
          <p:cNvPr id="3" name="Title"/>
          <p:cNvSpPr/>
          <p:nvPr/>
        </p:nvSpPr>
        <p:spPr>
          <a:xfrm>
            <a:off x="274320" y="137160"/>
            <a:ext cx="8412480" cy="350000"/>
          </a:xfrm>
          <a:prstGeom prst="rect">
            <a:avLst/>
          </a:prstGeom>
          <a:noFill/>
          <a:ln/>
        </p:spPr>
        <p:txBody>
          <a:bodyPr wrap="square" lIns="0" tIns="0" rIns="0" bIns="0" rtlCol="0" anchor="ctr"/>
          <a:lstStyle/>
          <a:p>
            <a:pPr indent="0" marL="0">
              <a:buNone/>
            </a:pPr>
            <a:r>
              <a:rPr lang="es-ES" sz="2200" b="1" dirty="0">
                <a:solidFill>
                  <a:srgbClr val="F8FAFC"/>
                </a:solidFill>
                <a:latin typeface="Arial" pitchFamily="34" charset="0"/>
              </a:rPr>
              <a:t>Del ejemplo al mundo real</a:t>
            </a:r>
          </a:p>
        </p:txBody>
      </p:sp>
      <p:sp>
        <p:nvSpPr>
          <p:cNvPr id="4" name="Sub"/>
          <p:cNvSpPr/>
          <p:nvPr/>
        </p:nvSpPr>
        <p:spPr>
          <a:xfrm>
            <a:off x="274320" y="460000"/>
            <a:ext cx="8412480" cy="250000"/>
          </a:xfrm>
          <a:prstGeom prst="rect">
            <a:avLst/>
          </a:prstGeom>
          <a:noFill/>
          <a:ln/>
        </p:spPr>
        <p:txBody>
          <a:bodyPr wrap="square" lIns="0" tIns="0" rIns="0" bIns="0" rtlCol="0" anchor="ctr"/>
          <a:lstStyle/>
          <a:p>
            <a:pPr indent="0" marL="0">
              <a:buNone/>
            </a:pPr>
            <a:r>
              <a:rPr lang="es-ES" sz="1200" dirty="0">
                <a:solidFill>
                  <a:srgbClr val="64748B"/>
                </a:solidFill>
              </a:rPr>
              <a:t>El mismo mecanismo Winternitz, pero con parámetros de producción</a:t>
            </a:r>
          </a:p>
        </p:txBody>
      </p:sp>
      <p:sp>
        <p:nvSpPr>
          <p:cNvPr id="5" name="Line"/>
          <p:cNvSpPr/>
          <p:nvPr/>
        </p:nvSpPr>
        <p:spPr>
          <a:xfrm>
            <a:off x="274320" y="720000"/>
            <a:ext cx="8412480" cy="0"/>
          </a:xfrm>
          <a:prstGeom prst="line">
            <a:avLst/>
          </a:prstGeom>
          <a:noFill/>
          <a:ln w="12700">
            <a:solidFill>
              <a:srgbClr val="1E3A5F"/>
            </a:solidFill>
            <a:prstDash val="solid"/>
          </a:ln>
        </p:spPr>
      </p:sp>
      <p:sp>
        <p:nvSpPr>
          <p:cNvPr id="10" name="MsgBG"/>
          <p:cNvSpPr/>
          <p:nvPr/>
        </p:nvSpPr>
        <p:spPr>
          <a:xfrm>
            <a:off x="274320" y="800000"/>
            <a:ext cx="8412480" cy="500000"/>
          </a:xfrm>
          <a:prstGeom prst="rect">
            <a:avLst/>
          </a:prstGeom>
          <a:solidFill>
            <a:srgbClr val="0A0F1A"/>
          </a:solidFill>
          <a:ln w="12700">
            <a:solidFill>
              <a:srgbClr val="3B82F6"/>
            </a:solidFill>
            <a:prstDash val="solid"/>
          </a:ln>
        </p:spPr>
      </p:sp>
      <p:sp>
        <p:nvSpPr>
          <p:cNvPr id="11" name="MsgTxt"/>
          <p:cNvSpPr/>
          <p:nvPr/>
        </p:nvSpPr>
        <p:spPr>
          <a:xfrm>
            <a:off x="274320" y="800000"/>
            <a:ext cx="8412480" cy="500000"/>
          </a:xfrm>
          <a:prstGeom prst="rect">
            <a:avLst/>
          </a:prstGeom>
          <a:noFill/>
          <a:ln/>
        </p:spPr>
        <p:txBody>
          <a:bodyPr wrap="square" lIns="101600" tIns="50800" rIns="101600" bIns="50800" rtlCol="0" anchor="ctr"/>
          <a:lstStyle/>
          <a:p>
            <a:pPr indent="0" marL="0">
              <a:buNone/>
            </a:pPr>
            <a:r>
              <a:rPr lang="es-ES" sz="1100" dirty="0">
                <a:solidFill>
                  <a:srgbClr val="64748B"/>
                </a:solidFill>
              </a:rPr>
              <a:t xml:space="preserve">En la vida real, el mensaje a firmar es algo como: </a:t>
            </a:r>
            <a:r>
              <a:rPr lang="es-ES" sz="1100" dirty="0">
                <a:solidFill>
                  <a:srgbClr val="FDE68A"/>
                </a:solidFill>
                <a:latin typeface="Consolas"/>
              </a:rPr>
              <a:t>“Transfiero 100 ETH a 0x7f8B...d4e2”</a:t>
            </a:r>
          </a:p>
          <a:p>
            <a:pPr indent="0" marL="0">
              <a:buNone/>
            </a:pPr>
            <a:r>
              <a:rPr lang="es-ES" sz="1100" dirty="0">
                <a:solidFill>
                  <a:srgbClr val="BFDBFE"/>
                </a:solidFill>
              </a:rPr>
              <a:t xml:space="preserve">Se hashea con SHA-256 → </a:t>
            </a:r>
            <a:r>
              <a:rPr lang="es-ES" sz="1100" b="1" dirty="0">
                <a:solidFill>
                  <a:srgbClr val="FDE68A"/>
                </a:solidFill>
                <a:latin typeface="Consolas"/>
              </a:rPr>
              <a:t>256 bits</a:t>
            </a:r>
            <a:r>
              <a:rPr lang="es-ES" sz="1100" dirty="0">
                <a:solidFill>
                  <a:srgbClr val="BFDBFE"/>
                </a:solidFill>
              </a:rPr>
              <a:t xml:space="preserve"> (en nuestro ejemplo usamos solo 4)</a:t>
            </a:r>
          </a:p>
        </p:txBody>
      </p:sp>
      <p:sp>
        <p:nvSpPr>
          <p:cNvPr id="20" name="TblHdrBG"/>
          <p:cNvSpPr/>
          <p:nvPr/>
        </p:nvSpPr>
        <p:spPr>
          <a:xfrm>
            <a:off x="274320" y="1450000"/>
            <a:ext cx="8412480" cy="350000"/>
          </a:xfrm>
          <a:prstGeom prst="rect">
            <a:avLst/>
          </a:prstGeom>
          <a:solidFill>
            <a:srgbClr val="1E3A5F"/>
          </a:solidFill>
          <a:ln w="12700">
            <a:solidFill>
              <a:srgbClr val="3B82F6"/>
            </a:solidFill>
            <a:prstDash val="solid"/>
          </a:ln>
        </p:spPr>
      </p:sp>
      <p:sp>
        <p:nvSpPr>
          <p:cNvPr id="21" name="TblHdrTxt"/>
          <p:cNvSpPr/>
          <p:nvPr/>
        </p:nvSpPr>
        <p:spPr>
          <a:xfrm>
            <a:off x="274320" y="1450000"/>
            <a:ext cx="8412480" cy="350000"/>
          </a:xfrm>
          <a:prstGeom prst="rect">
            <a:avLst/>
          </a:prstGeom>
          <a:noFill/>
          <a:ln/>
        </p:spPr>
        <p:txBody>
          <a:bodyPr wrap="square" lIns="101600" tIns="0" rIns="101600" bIns="0" rtlCol="0" anchor="ctr"/>
          <a:lstStyle/>
          <a:p>
            <a:pPr indent="0" marL="0">
              <a:buNone/>
            </a:pPr>
            <a:r>
              <a:rPr lang="es-ES" sz="1100" b="1" dirty="0">
                <a:solidFill>
                  <a:srgbClr val="F8FAFC"/>
                </a:solidFill>
              </a:rPr>
              <a:t xml:space="preserve">Parámetro                                              Nuestro ejemplo                          XMSS real (NIST SP 800-208)</a:t>
            </a:r>
          </a:p>
        </p:txBody>
      </p:sp>
      <p:sp>
        <p:nvSpPr>
          <p:cNvPr id="30" name="TblRowsBG"/>
          <p:cNvSpPr/>
          <p:nvPr/>
        </p:nvSpPr>
        <p:spPr>
          <a:xfrm>
            <a:off x="274320" y="1800000"/>
            <a:ext cx="8412480" cy="1900000"/>
          </a:xfrm>
          <a:prstGeom prst="rect">
            <a:avLst/>
          </a:prstGeom>
          <a:solidFill>
            <a:srgbClr val="080E1A"/>
          </a:solidFill>
          <a:ln w="12700">
            <a:solidFill>
              <a:srgbClr val="1E3A5F"/>
            </a:solidFill>
            <a:prstDash val="solid"/>
          </a:ln>
        </p:spPr>
      </p:sp>
      <p:sp>
        <p:nvSpPr>
          <p:cNvPr id="31" name="TblRows"/>
          <p:cNvSpPr/>
          <p:nvPr/>
        </p:nvSpPr>
        <p:spPr>
          <a:xfrm>
            <a:off x="274320" y="1800000"/>
            <a:ext cx="8412480" cy="1900000"/>
          </a:xfrm>
          <a:prstGeom prst="rect">
            <a:avLst/>
          </a:prstGeom>
          <a:noFill/>
          <a:ln/>
        </p:spPr>
        <p:txBody>
          <a:bodyPr wrap="square" lIns="101600" tIns="76200" rIns="101600" bIns="76200" rtlCol="0" anchor="t"/>
          <a:lstStyle/>
          <a:p>
            <a:pPr indent="0" marL="0">
              <a:buNone/>
              <a:lnSpc>
                <a:spcPts val="2600"/>
              </a:lnSpc>
            </a:pPr>
            <a:r>
              <a:rPr lang="es-ES" sz="1100" dirty="0">
                <a:solidFill>
                  <a:srgbClr val="BFDBFE"/>
                </a:solidFill>
              </a:rPr>
              <a:t xml:space="preserve">Hash del mensaje                                  </a:t>
            </a:r>
            <a:r>
              <a:rPr lang="es-ES" sz="1100" dirty="0">
                <a:solidFill>
                  <a:srgbClr val="FDE68A"/>
                </a:solidFill>
                <a:latin typeface="Consolas"/>
              </a:rPr>
              <a:t xml:space="preserve">4 bits                                           </a:t>
            </a:r>
            <a:r>
              <a:rPr lang="es-ES" sz="1100" b="1" dirty="0">
                <a:solidFill>
                  <a:srgbClr val="10B981"/>
                </a:solidFill>
                <a:latin typeface="Consolas"/>
              </a:rPr>
              <a:t>256 bits (SHA-256)</a:t>
            </a:r>
          </a:p>
          <a:p>
            <a:pPr indent="0" marL="0">
              <a:buNone/>
              <a:lnSpc>
                <a:spcPts val="2600"/>
              </a:lnSpc>
            </a:pPr>
            <a:r>
              <a:rPr lang="es-ES" sz="1100" dirty="0">
                <a:solidFill>
                  <a:srgbClr val="BFDBFE"/>
                </a:solidFill>
              </a:rPr>
              <a:t xml:space="preserve">Parámetro Winternitz (w)                      </a:t>
            </a:r>
            <a:r>
              <a:rPr lang="es-ES" sz="1100" dirty="0">
                <a:solidFill>
                  <a:srgbClr val="FDE68A"/>
                </a:solidFill>
                <a:latin typeface="Consolas"/>
              </a:rPr>
              <a:t xml:space="preserve">w=2 (1 bit por trozo)                    </a:t>
            </a:r>
            <a:r>
              <a:rPr lang="es-ES" sz="1100" b="1" dirty="0">
                <a:solidFill>
                  <a:srgbClr val="10B981"/>
                </a:solidFill>
                <a:latin typeface="Consolas"/>
              </a:rPr>
              <a:t>w=16 (4 bits por trozo)</a:t>
            </a:r>
          </a:p>
          <a:p>
            <a:pPr indent="0" marL="0">
              <a:buNone/>
              <a:lnSpc>
                <a:spcPts val="2600"/>
              </a:lnSpc>
            </a:pPr>
            <a:r>
              <a:rPr lang="es-ES" sz="1100" dirty="0">
                <a:solidFill>
                  <a:srgbClr val="BFDBFE"/>
                </a:solidFill>
              </a:rPr>
              <a:t xml:space="preserve">Trozos del hash                                     </a:t>
            </a:r>
            <a:r>
              <a:rPr lang="es-ES" sz="1100" dirty="0">
                <a:solidFill>
                  <a:srgbClr val="FDE68A"/>
                </a:solidFill>
                <a:latin typeface="Consolas"/>
              </a:rPr>
              <a:t xml:space="preserve">4 trozos de 1 bit                            </a:t>
            </a:r>
            <a:r>
              <a:rPr lang="es-ES" sz="1100" b="1" dirty="0">
                <a:solidFill>
                  <a:srgbClr val="10B981"/>
                </a:solidFill>
                <a:latin typeface="Consolas"/>
              </a:rPr>
              <a:t>64 trozos de 4 bits</a:t>
            </a:r>
          </a:p>
          <a:p>
            <a:pPr indent="0" marL="0">
              <a:buNone/>
              <a:lnSpc>
                <a:spcPts val="2600"/>
              </a:lnSpc>
            </a:pPr>
            <a:r>
              <a:rPr lang="es-ES" sz="1100" dirty="0">
                <a:solidFill>
                  <a:srgbClr val="BFDBFE"/>
                </a:solidFill>
              </a:rPr>
              <a:t xml:space="preserve">Pasos de hash por cadena                  </a:t>
            </a:r>
            <a:r>
              <a:rPr lang="es-ES" sz="1100" dirty="0">
                <a:solidFill>
                  <a:srgbClr val="FDE68A"/>
                </a:solidFill>
                <a:latin typeface="Consolas"/>
              </a:rPr>
              <a:t xml:space="preserve">1 paso (0 ó 1)                                 </a:t>
            </a:r>
            <a:r>
              <a:rPr lang="es-ES" sz="1100" b="1" dirty="0">
                <a:solidFill>
                  <a:srgbClr val="10B981"/>
                </a:solidFill>
                <a:latin typeface="Consolas"/>
              </a:rPr>
              <a:t>hasta 15 pasos (0 a 15)</a:t>
            </a:r>
          </a:p>
          <a:p>
            <a:pPr indent="0" marL="0">
              <a:buNone/>
              <a:lnSpc>
                <a:spcPts val="2600"/>
              </a:lnSpc>
            </a:pPr>
            <a:r>
              <a:rPr lang="es-ES" sz="1100" dirty="0">
                <a:solidFill>
                  <a:srgbClr val="BFDBFE"/>
                </a:solidFill>
              </a:rPr>
              <a:t xml:space="preserve">Valores secretos en sk                         </a:t>
            </a:r>
            <a:r>
              <a:rPr lang="es-ES" sz="1100" dirty="0">
                <a:solidFill>
                  <a:srgbClr val="FDE68A"/>
                </a:solidFill>
                <a:latin typeface="Consolas"/>
              </a:rPr>
              <a:t xml:space="preserve">4                                                          </a:t>
            </a:r>
            <a:r>
              <a:rPr lang="es-ES" sz="1100" b="1" dirty="0">
                <a:solidFill>
                  <a:srgbClr val="10B981"/>
                </a:solidFill>
                <a:latin typeface="Consolas"/>
              </a:rPr>
              <a:t>~67 valores</a:t>
            </a:r>
          </a:p>
        </p:txBody>
      </p:sp>
      <p:sp>
        <p:nvSpPr>
          <p:cNvPr id="40" name="InsightBG"/>
          <p:cNvSpPr/>
          <p:nvPr/>
        </p:nvSpPr>
        <p:spPr>
          <a:xfrm>
            <a:off x="274320" y="3850000"/>
            <a:ext cx="8412480" cy="500000"/>
          </a:xfrm>
          <a:prstGeom prst="rect">
            <a:avLst/>
          </a:prstGeom>
          <a:solidFill>
            <a:srgbClr val="080E1A"/>
          </a:solidFill>
          <a:ln w="19050">
            <a:solidFill>
              <a:srgbClr val="10B981"/>
            </a:solidFill>
            <a:prstDash val="solid"/>
          </a:ln>
        </p:spPr>
      </p:sp>
      <p:sp>
        <p:nvSpPr>
          <p:cNvPr id="41" name="InsightTxt"/>
          <p:cNvSpPr/>
          <p:nvPr/>
        </p:nvSpPr>
        <p:spPr>
          <a:xfrm>
            <a:off x="274320" y="3850000"/>
            <a:ext cx="8412480" cy="500000"/>
          </a:xfrm>
          <a:prstGeom prst="rect">
            <a:avLst/>
          </a:prstGeom>
          <a:noFill/>
          <a:ln/>
        </p:spPr>
        <p:txBody>
          <a:bodyPr wrap="square" lIns="101600" tIns="50800" rIns="101600" bIns="50800" rtlCol="0" anchor="ctr"/>
          <a:lstStyle/>
          <a:p>
            <a:pPr indent="0" marL="0">
              <a:buNone/>
            </a:pPr>
            <a:r>
              <a:rPr lang="es-ES" sz="1200" b="1" dirty="0">
                <a:solidFill>
                  <a:srgbClr val="10B981"/>
                </a:solidFill>
              </a:rPr>
              <a:t>El principio es idéntico:</a:t>
            </a:r>
            <a:r>
              <a:rPr lang="es-ES" sz="1200" dirty="0">
                <a:solidFill>
                  <a:srgbClr val="BFDBFE"/>
                </a:solidFill>
              </a:rPr>
              <a:t xml:space="preserve"> para cada trozo del hash, se revela el secreto hasheado un número de veces que depende del valor de ese trozo. Más trozos y cadenas más largas, pero la misma lógica.</a:t>
            </a:r>
          </a:p>
        </p:txBody>
      </p:sp>
      <p:sp>
        <p:nvSpPr>
          <p:cNvPr id="50" name="Foot"/>
          <p:cNvSpPr/>
          <p:nvPr/>
        </p:nvSpPr>
        <p:spPr>
          <a:xfrm>
            <a:off x="274320" y="4400000"/>
            <a:ext cx="8412480" cy="700000"/>
          </a:xfrm>
          <a:prstGeom prst="rect">
            <a:avLst/>
          </a:prstGeom>
          <a:noFill/>
          <a:ln/>
        </p:spPr>
        <p:txBody>
          <a:bodyPr wrap="square" lIns="0" tIns="0" rIns="0" bIns="0" rtlCol="0" anchor="t"/>
          <a:lstStyle/>
          <a:p>
            <a:pPr indent="0" marL="0">
              <a:buNone/>
            </a:pPr>
            <a:r>
              <a:rPr lang="es-ES" sz="950" dirty="0">
                <a:solidFill>
                  <a:srgbClr val="64748B"/>
                </a:solidFill>
              </a:rPr>
              <a:t>El trade-off de w: mayor w = firma más compacta pero más lenta (más hashes por cadena). w=16 es el balance estándar del NIST.</a:t>
            </a:r>
          </a:p>
          <a:p>
            <a:pPr indent="0" marL="0">
              <a:buNone/>
            </a:pPr>
            <a:r>
              <a:rPr lang="en-US" sz="950" b="1" dirty="0">
                <a:solidFill>
                  <a:srgbClr val="F5A623"/>
                </a:solidFill>
              </a:rPr>
              <a:t xml:space="preserve">Variante TSW (paper 2025): </a:t>
            </a:r>
            <a:r>
              <a:rPr lang="en-US" sz="850" dirty="0">
                <a:solidFill>
                  <a:srgbClr val="BFDBFE"/>
                </a:solidFill>
              </a:rPr>
              <a:t>w=2, sin checksum, target fijo T. Firma ~2,22 KiB, verificación ~26 µs (~259 hashes). Circuito SNARK predecible → eficiente para agregación post-cuántica.</a:t>
            </a:r>
          </a:p>
        </p:txBody>
      </p:sp>
      <p:sp>
        <p:nvSpPr>
          <p:cNvPr id="90" name="BadgeBG"/>
          <p:cNvSpPr/>
          <p:nvPr/>
        </p:nvSpPr>
        <p:spPr>
          <a:xfrm>
            <a:off x="7300000" y="100000"/>
            <a:ext cx="380000" cy="380000"/>
          </a:xfrm>
          <a:prstGeom prst="rect">
            <a:avLst/>
          </a:prstGeom>
          <a:solidFill>
            <a:srgbClr val="3B82F6">
              <a:alpha val="75000"/>
            </a:srgbClr>
          </a:solidFill>
          <a:ln w="12700">
            <a:solidFill>
              <a:srgbClr val="333333"/>
            </a:solidFill>
            <a:prstDash val="solid"/>
          </a:ln>
        </p:spPr>
      </p:sp>
      <p:sp>
        <p:nvSpPr>
          <p:cNvPr id="91" name="BadgeLetter"/>
          <p:cNvSpPr/>
          <p:nvPr/>
        </p:nvSpPr>
        <p:spPr>
          <a:xfrm>
            <a:off x="7300000" y="100000"/>
            <a:ext cx="380000" cy="380000"/>
          </a:xfrm>
          <a:prstGeom prst="rect">
            <a:avLst/>
          </a:prstGeom>
          <a:noFill/>
          <a:ln/>
        </p:spPr>
        <p:txBody>
          <a:bodyPr wrap="square" lIns="0" tIns="0" rIns="0" bIns="0" rtlCol="0" anchor="ctr"/>
          <a:lstStyle/>
          <a:p>
            <a:pPr algn="ctr" indent="0" marL="0">
              <a:buNone/>
            </a:pPr>
            <a:r>
              <a:rPr lang="en-US" sz="1800" b="1" dirty="0">
                <a:solidFill>
                  <a:srgbClr val="F8FAFC"/>
                </a:solidFill>
                <a:latin typeface="Arial Black" pitchFamily="34" charset="0"/>
              </a:rPr>
              <a:t>B</a:t>
            </a:r>
          </a:p>
        </p:txBody>
      </p:sp>
      <p:sp>
        <p:nvSpPr>
          <p:cNvPr id="92" name="BadgeLabel"/>
          <p:cNvSpPr/>
          <p:nvPr/>
        </p:nvSpPr>
        <p:spPr>
          <a:xfrm>
            <a:off x="7720000" y="100000"/>
            <a:ext cx="1300000" cy="380000"/>
          </a:xfrm>
          <a:prstGeom prst="rect">
            <a:avLst/>
          </a:prstGeom>
          <a:noFill/>
          <a:ln/>
        </p:spPr>
        <p:txBody>
          <a:bodyPr wrap="square" lIns="0" tIns="0" rIns="0" bIns="0" rtlCol="0" anchor="ctr"/>
          <a:lstStyle/>
          <a:p>
            <a:pPr indent="0" marL="0">
              <a:buNone/>
            </a:pPr>
            <a:r>
              <a:rPr lang="es-ES" sz="1100" b="1" dirty="0">
                <a:solidFill>
                  <a:srgbClr val="3B82F6"/>
                </a:solidFill>
              </a:rPr>
              <a:t>Firma OTS</a:t>
            </a:r>
          </a:p>
          <a:p>
            <a:pPr indent="0" marL="0">
              <a:buNone/>
            </a:pPr>
            <a:r>
              <a:rPr lang="es-ES" sz="800" dirty="0">
                <a:solidFill>
                  <a:srgbClr val="64748B"/>
                </a:solidFill>
              </a:rPr>
              <a:t>Detalle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XMSS - Firmas Digitales Post-Cuánticas</dc:title>
  <dc:subject>PptxGenJS Presentation</dc:subject>
  <dc:creator>PptxGenJS</dc:creator>
  <cp:lastModifiedBy>PptxGenJS</cp:lastModifiedBy>
  <cp:revision>1</cp:revision>
  <dcterms:created xsi:type="dcterms:W3CDTF">2026-03-16T01:54:05Z</dcterms:created>
  <dcterms:modified xsi:type="dcterms:W3CDTF">2026-03-16T01:54:05Z</dcterms:modified>
</cp:coreProperties>
</file>