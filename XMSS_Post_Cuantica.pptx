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18872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78308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97180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6052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34924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457200"/>
            <a:ext cx="4572000" cy="41148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548640"/>
            <a:ext cx="2743200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BFDBFE"/>
                </a:solidFill>
              </a:rPr>
              <a:t>CRIPTOGRAFÍA POST-CUÁNTICA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10515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XMSS</a:t>
            </a:r>
            <a:endParaRPr lang="en-US" sz="9600" dirty="0"/>
          </a:p>
        </p:txBody>
      </p:sp>
      <p:sp>
        <p:nvSpPr>
          <p:cNvPr id="26" name="Text 24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FDB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eXtended Merkle Signature Scheme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 y ejemplo práctico paso a paso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Resistente a computación cuántica  ·  Basado en funciones de hash  ·  Estándar NIST 2022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ECDSA ya no es suficiente?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4114800" cy="41148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ECDSA (hoy)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148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173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Se basa en el problema del logaritmo discreto sobre curvas elípticas.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423160"/>
            <a:ext cx="41148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514600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231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Una computadora clásica necesita ~10³⁰⁰ operaciones para romperlo.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429000"/>
            <a:ext cx="41148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4290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Usado en Bitcoin, Ethereum, TLS, SSH, GPG y casi todo internet.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914400"/>
            <a:ext cx="4114800" cy="41148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Computadora cuántica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09160" y="1417320"/>
            <a:ext cx="41148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50876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4173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El algoritmo de Shor resuelve el logaritmo discreto en tiempo polinómico.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423160"/>
            <a:ext cx="41148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51460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4231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Una computadora cuántica de ~4.000 qubits lógicos rompería ECDSA.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3429000"/>
            <a:ext cx="41148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52044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4290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Google, IBM y China están avanzando rápido. El NIST ya se preocupó en 2016.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06240" y="22402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E1A"/>
                </a:solidFill>
              </a:rPr>
              <a:t>VS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" y="4434840"/>
            <a:ext cx="8503920" cy="502920"/>
          </a:xfrm>
          <a:prstGeom prst="rect">
            <a:avLst/>
          </a:prstGeom>
          <a:solidFill>
            <a:srgbClr val="3B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434840"/>
            <a:ext cx="85039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</a:rPr>
              <a:t>⚠  La solución: basar la seguridad en funciones de HASH, que los algoritmos cuánticos conocidos NO pueden romper eficientemente.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XMSS — Los 3 pilares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BFE"/>
                </a:solidFill>
              </a:rPr>
              <a:t>XMSS combina tres ideas para crear un esquema de firma resistente a cuántica: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743200" cy="3474720"/>
          </a:xfrm>
          <a:prstGeom prst="rect">
            <a:avLst/>
          </a:prstGeom>
          <a:solidFill>
            <a:srgbClr val="080E1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2743200" cy="64008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965960"/>
            <a:ext cx="274320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OTS — One Time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Signature (Winternitz)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2926080"/>
            <a:ext cx="21945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971800"/>
            <a:ext cx="2743200" cy="16002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Una clave que firma UN SOLO mensaje. Si se reutiliza, la seguridad se rompe.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63240" y="301752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246120" y="1280160"/>
            <a:ext cx="2743200" cy="3474720"/>
          </a:xfrm>
          <a:prstGeom prst="rect">
            <a:avLst/>
          </a:prstGeom>
          <a:solidFill>
            <a:srgbClr val="080E1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280160"/>
            <a:ext cx="2743200" cy="640080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46120" y="1965960"/>
            <a:ext cx="274320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Árbol de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Merkle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520440" y="2926080"/>
            <a:ext cx="21945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971800"/>
            <a:ext cx="2743200" cy="16002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Organiza miles de claves OTS en una estructura de árbol con una única clave pública raíz.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9320" y="301752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172200" y="1280160"/>
            <a:ext cx="2743200" cy="3474720"/>
          </a:xfrm>
          <a:prstGeom prst="rect">
            <a:avLst/>
          </a:prstGeom>
          <a:solidFill>
            <a:srgbClr val="080E1A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280160"/>
            <a:ext cx="2743200" cy="64008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172200" y="1965960"/>
            <a:ext cx="274320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</a:rPr>
              <a:t>Estado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</a:rPr>
              <a:t>(Stateful)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46520" y="2926080"/>
            <a:ext cx="21945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2971800"/>
            <a:ext cx="2743200" cy="16002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XMSS lleva la cuenta de qué claves OTS ya usó. Nunca puede repetir un índice.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solidFill>
            <a:srgbClr val="0F2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</a:rPr>
              <a:t>Base matemática: las funciones de hash SHA-256 son resistentes al algoritmo de Grover (cuántica) con pérdida de solo 50% de bits de seguridad — manejable duplicando el tamaño.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01 — OTS: Winternitz One-Time Signature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E68A"/>
                </a:solidFill>
              </a:rPr>
              <a:t>¿Cómo funciona?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3931920" cy="566928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88720"/>
            <a:ext cx="1005840" cy="566928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887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Clave privada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1188720"/>
            <a:ext cx="288036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Serie de valores aleatorios: sk₀, sk₁, … skₙ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56232"/>
            <a:ext cx="3931920" cy="566928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856232"/>
            <a:ext cx="1005840" cy="566928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5623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Clave pública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25880" y="1856232"/>
            <a:ext cx="288036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Hash de cada valor privado: pk_i = Hash(sk_i)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523744"/>
            <a:ext cx="3931920" cy="566928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523744"/>
            <a:ext cx="1005840" cy="566928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52374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Firmar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25880" y="2523744"/>
            <a:ext cx="288036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Para cada bit del mensaje, revelás sk_i (bit=1) o su hash (bit=0)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191256"/>
            <a:ext cx="3931920" cy="566928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191256"/>
            <a:ext cx="1005840" cy="566928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19125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Verificar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25880" y="3191256"/>
            <a:ext cx="288036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El verificador comprueba que los valores revelados hasheados baten con la clave pública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858768"/>
            <a:ext cx="3931920" cy="566928"/>
          </a:xfrm>
          <a:prstGeom prst="rect">
            <a:avLst/>
          </a:prstGeom>
          <a:solidFill>
            <a:srgbClr val="3B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858768"/>
            <a:ext cx="1005840" cy="566928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85876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⚠ Solo UNA vez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25880" y="3858768"/>
            <a:ext cx="288036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Si firmás dos mensajes distintos, un atacante puede reconstruir la clave privada combinando ambas firmas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80560" y="822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E68A"/>
                </a:solidFill>
              </a:rPr>
              <a:t>Diagrama simplificado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480560" y="1188720"/>
            <a:ext cx="4389120" cy="3566160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1417320"/>
            <a:ext cx="73152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1417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sk₀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1417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Hash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49240" y="1600200"/>
            <a:ext cx="6400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89320" y="1508760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0" y="1417320"/>
            <a:ext cx="731520" cy="36576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1417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pk₀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17720" y="2167128"/>
            <a:ext cx="73152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21671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sk₁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0" y="21671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Hash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49240" y="2350008"/>
            <a:ext cx="6400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2258568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0" y="2167128"/>
            <a:ext cx="731520" cy="36576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21671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pk₁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17720" y="2916936"/>
            <a:ext cx="73152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29169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sk₂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0" y="29169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Hash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349240" y="3099816"/>
            <a:ext cx="6400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89320" y="3008376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35040" y="2916936"/>
            <a:ext cx="731520" cy="36576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35040" y="29169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pk₂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17720" y="3666744"/>
            <a:ext cx="73152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17720" y="366674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sk₃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0" y="36667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Hash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349240" y="3849624"/>
            <a:ext cx="6400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89320" y="3758184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35040" y="3666744"/>
            <a:ext cx="731520" cy="36576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35040" y="366674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pk₃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617720" y="4480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Clave privada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(secreta)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035040" y="4480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Clave pública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(publicada)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02 — Árbol de Merkle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BFE"/>
                </a:solidFill>
              </a:rPr>
              <a:t>Tenemos miles de claves OTS de un solo uso. El árbol de Merkle las organiza bajo UNA SOLA clave pública raíz.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0" y="1234440"/>
            <a:ext cx="1645920" cy="457200"/>
          </a:xfrm>
          <a:prstGeom prst="rect">
            <a:avLst/>
          </a:prstGeom>
          <a:solidFill>
            <a:srgbClr val="10B981">
              <a:alpha val="85000"/>
            </a:srgbClr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Raíz (Clave Pública)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2103120"/>
            <a:ext cx="1554480" cy="411480"/>
          </a:xfrm>
          <a:prstGeom prst="rect">
            <a:avLst/>
          </a:prstGeom>
          <a:solidFill>
            <a:srgbClr val="0A3A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2103120"/>
            <a:ext cx="1554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Nodo[1,0]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Hash(Hoja0 + Hoja1)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94960" y="2103120"/>
            <a:ext cx="1554480" cy="411480"/>
          </a:xfrm>
          <a:prstGeom prst="rect">
            <a:avLst/>
          </a:prstGeom>
          <a:solidFill>
            <a:srgbClr val="0A3A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2103120"/>
            <a:ext cx="1554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Nodo[1,1]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Hash(Hoja2 + Hoja3)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80560" y="1691640"/>
            <a:ext cx="0" cy="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2103120"/>
            <a:ext cx="1691640" cy="-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691640"/>
            <a:ext cx="1691640" cy="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108960"/>
            <a:ext cx="1463040" cy="45720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Hoja 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Hash(pk_OTS₀)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34640" y="3108960"/>
            <a:ext cx="1463040" cy="45720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Hoja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Hash(pk_OTS₁)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1463040" cy="45720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Hoja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Hash(pk_OTS₂)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75120" y="3108960"/>
            <a:ext cx="1463040" cy="45720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Hoja 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Hash(pk_OTS₃)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88920" y="2514600"/>
            <a:ext cx="0" cy="5943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0" y="3108960"/>
            <a:ext cx="1143000" cy="-5943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8920" y="2514600"/>
            <a:ext cx="777240" cy="5943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2514600"/>
            <a:ext cx="0" cy="5943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3108960"/>
            <a:ext cx="685800" cy="-5943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2514600"/>
            <a:ext cx="1234440" cy="5943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3840480"/>
            <a:ext cx="128016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384048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OTS₀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(sk, pk)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645920" y="356616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26080" y="3840480"/>
            <a:ext cx="128016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0" y="384048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OTS₁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(sk, pk)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66160" y="356616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3840480"/>
            <a:ext cx="128016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84048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OTS₂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(sk, pk)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0" y="356616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0" y="3840480"/>
            <a:ext cx="128016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384048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OTS₃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(sk, pk)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06640" y="356616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La Raíz del árbol = Clave Pública XMSS. Para probar validez de una firma se revela el 'camino de autenticación' desde la hoja hasta la raíz (unos pocos hashes, no todo el árbol).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03 — Estado (Stateful)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BFE"/>
                </a:solidFill>
              </a:rPr>
              <a:t>XMSS es stateful: debe recordar qué índice OTS usó para nunca repetirlo. Esto lo diferencia de ECDSA (que es stateless).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DBFE"/>
                </a:solidFill>
              </a:rPr>
              <a:t>El índice como contador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3931920" cy="566928"/>
          </a:xfrm>
          <a:prstGeom prst="rect">
            <a:avLst/>
          </a:prstGeom>
          <a:solidFill>
            <a:srgbClr val="080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783080"/>
            <a:ext cx="292608" cy="292608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6459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idx = 0 → Usar OTS₀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304288"/>
            <a:ext cx="3931920" cy="566928"/>
          </a:xfrm>
          <a:prstGeom prst="rect">
            <a:avLst/>
          </a:prstGeom>
          <a:solidFill>
            <a:srgbClr val="080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441448"/>
            <a:ext cx="292608" cy="292608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3042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idx = 1 → Usar OTS₁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962656"/>
            <a:ext cx="3931920" cy="566928"/>
          </a:xfrm>
          <a:prstGeom prst="rect">
            <a:avLst/>
          </a:prstGeom>
          <a:solidFill>
            <a:srgbClr val="1A2E0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099816"/>
            <a:ext cx="292608" cy="292608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29626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idx = 2 → Usar OTS₂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296265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← ahora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21024"/>
            <a:ext cx="3931920" cy="566928"/>
          </a:xfrm>
          <a:prstGeom prst="rect">
            <a:avLst/>
          </a:prstGeom>
          <a:solidFill>
            <a:srgbClr val="080E1A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758184"/>
            <a:ext cx="292608" cy="292608"/>
          </a:xfrm>
          <a:prstGeom prst="ellipse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758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36210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idx = 3 → Usar OTS₃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1234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DBFE"/>
                </a:solidFill>
              </a:rPr>
              <a:t>Riesgos del estado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480560" y="1645920"/>
            <a:ext cx="4297680" cy="658368"/>
          </a:xfrm>
          <a:prstGeom prst="rect">
            <a:avLst/>
          </a:prstGeom>
          <a:solidFill>
            <a:srgbClr val="080E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16459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29200" y="1682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Pérdida del estado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19568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Si se pierde qué índice se usó, no se puede continuar firmando de forma segura.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80560" y="2414016"/>
            <a:ext cx="4297680" cy="658368"/>
          </a:xfrm>
          <a:prstGeom prst="rect">
            <a:avLst/>
          </a:prstGeom>
          <a:solidFill>
            <a:srgbClr val="080E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241401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029200" y="2450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Backup y restore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27249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Restaurar un backup antiguo puede hacer que se reutilice un índice — error crítico.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80560" y="3182112"/>
            <a:ext cx="4297680" cy="658368"/>
          </a:xfrm>
          <a:prstGeom prst="rect">
            <a:avLst/>
          </a:prstGeom>
          <a:solidFill>
            <a:srgbClr val="080E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26280" y="318211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📏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029200" y="32186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Límite de firmas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0" y="34930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 árbol de altura h=20 permite 2²⁰ ≈ 1 millón de firmas. Luego hay que generar nueva clave.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480560" y="3950208"/>
            <a:ext cx="4297680" cy="658368"/>
          </a:xfrm>
          <a:prstGeom prst="rect">
            <a:avLst/>
          </a:prstGeom>
          <a:solidFill>
            <a:srgbClr val="080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26280" y="395020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029200" y="3986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Uso ideal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0" y="426110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Dispositivos con pocas firmas y almacenamiento confiable: HSMs, firmware, PKI.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DE68A"/>
                </a:solidFill>
              </a:rPr>
              <a:t>EJEMPLO PRÁCTICO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Construyendo XMSS con h=2 (4 hojas)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BFE"/>
                </a:solidFill>
              </a:rPr>
              <a:t>Vamos a construir un esquema XMSS completo con un árbol de altura 2, lo que nos da exactamente 4 claves OTS (= 4 firmas posibles). Ideal para entender el flujo.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4023360" cy="1234440"/>
          </a:xfrm>
          <a:prstGeom prst="rect">
            <a:avLst/>
          </a:prstGeom>
          <a:solidFill>
            <a:srgbClr val="0F1E3D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37360"/>
            <a:ext cx="502920" cy="123444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3736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18470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</a:rPr>
              <a:t>Generar 4 pares de claves OTS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2128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Para cada hoja del árbol generamos un par (sk_i, pk_i) usando Winternitz.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4023360" cy="1234440"/>
          </a:xfrm>
          <a:prstGeom prst="rect">
            <a:avLst/>
          </a:prstGeom>
          <a:solidFill>
            <a:srgbClr val="0F1E3D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737360"/>
            <a:ext cx="502920" cy="123444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73736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03520" y="18470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</a:rPr>
              <a:t>Construir el árbol de Merkle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303520" y="22128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Hasheamos las pk_i para obtener las hojas, luego construimos el árbol de abajo hacia arriba.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4023360" cy="1234440"/>
          </a:xfrm>
          <a:prstGeom prst="rect">
            <a:avLst/>
          </a:prstGeom>
          <a:solidFill>
            <a:srgbClr val="0F1E3D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54680"/>
            <a:ext cx="502920" cy="123444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5468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14400" y="32644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</a:rPr>
              <a:t>Firmar el primer mensaje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14400" y="363016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Usamos OTS₀ (índice 0), revelamos la clave privada parcial + el camino de autenticación.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3154680"/>
            <a:ext cx="4023360" cy="1234440"/>
          </a:xfrm>
          <a:prstGeom prst="rect">
            <a:avLst/>
          </a:prstGeom>
          <a:solidFill>
            <a:srgbClr val="0F1E3D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154680"/>
            <a:ext cx="502920" cy="1234440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15468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303520" y="32644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</a:rPr>
              <a:t>Verificar la firma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303520" y="363016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El verificador recalcula el árbol desde la hoja firmada y comprueba que llega a la misma Raíz.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4114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0E1A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1828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los 4 pares de claves OTS (Winternitz)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31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BFE"/>
                </a:solidFill>
              </a:rPr>
              <a:t>Para cada una de las 4 hojas del árbol generamos un par de claves OTS independiente: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8412480" cy="749808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143000"/>
            <a:ext cx="594360" cy="74980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4300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OTS0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1197864"/>
            <a:ext cx="3566160" cy="274320"/>
          </a:xfrm>
          <a:prstGeom prst="rect">
            <a:avLst/>
          </a:prstGeom>
          <a:solidFill>
            <a:srgbClr val="1A0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197864"/>
            <a:ext cx="3566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</a:rPr>
              <a:t>🔐  sk₀ = [a1f3..., b9c2..., e4d7..., ...]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197864"/>
            <a:ext cx="3931920" cy="274320"/>
          </a:xfrm>
          <a:prstGeom prst="rect">
            <a:avLst/>
          </a:prstGeom>
          <a:solidFill>
            <a:srgbClr val="0A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97864"/>
            <a:ext cx="3931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</a:rPr>
              <a:t>🌐  pk₀ = [Hash(a1f3...), Hash(b9c2...), ...]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1545336"/>
            <a:ext cx="35661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sk → PRIVADA, nunca se publica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1545336"/>
            <a:ext cx="39319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pk → PÚBLICA, se pone en las hojas del árbol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011680"/>
            <a:ext cx="8412480" cy="749808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011680"/>
            <a:ext cx="594360" cy="74980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01168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OTS1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2066544"/>
            <a:ext cx="3566160" cy="274320"/>
          </a:xfrm>
          <a:prstGeom prst="rect">
            <a:avLst/>
          </a:prstGeom>
          <a:solidFill>
            <a:srgbClr val="1A0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066544"/>
            <a:ext cx="3566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</a:rPr>
              <a:t>🔐  sk₁ = [7f2a..., 3d8e..., c1b4..., ...]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2066544"/>
            <a:ext cx="3931920" cy="274320"/>
          </a:xfrm>
          <a:prstGeom prst="rect">
            <a:avLst/>
          </a:prstGeom>
          <a:solidFill>
            <a:srgbClr val="0A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066544"/>
            <a:ext cx="3931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</a:rPr>
              <a:t>🌐  pk₁ = [Hash(7f2a...), Hash(3d8e...), ...]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14400" y="2414016"/>
            <a:ext cx="35661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sk → PRIVADA, nunca se publica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3440" y="2414016"/>
            <a:ext cx="39319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pk → PÚBLICA, se pone en las hojas del árbol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880360"/>
            <a:ext cx="8412480" cy="749808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880360"/>
            <a:ext cx="594360" cy="74980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88036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OTS2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14400" y="2935224"/>
            <a:ext cx="3566160" cy="274320"/>
          </a:xfrm>
          <a:prstGeom prst="rect">
            <a:avLst/>
          </a:prstGeom>
          <a:solidFill>
            <a:srgbClr val="1A0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2935224"/>
            <a:ext cx="3566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</a:rPr>
              <a:t>🔐  sk₂ = [9e1c..., 4a7d..., 2f8b..., ...]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935224"/>
            <a:ext cx="3931920" cy="274320"/>
          </a:xfrm>
          <a:prstGeom prst="rect">
            <a:avLst/>
          </a:prstGeom>
          <a:solidFill>
            <a:srgbClr val="0A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935224"/>
            <a:ext cx="3931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</a:rPr>
              <a:t>🌐  pk₂ = [Hash(9e1c...), Hash(4a7d...), ...]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14400" y="3282696"/>
            <a:ext cx="35661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sk → PRIVADA, nunca se publica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3282696"/>
            <a:ext cx="39319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pk → PÚBLICA, se pone en las hojas del árbol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749040"/>
            <a:ext cx="8412480" cy="749808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749040"/>
            <a:ext cx="594360" cy="74980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74904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OTS3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14400" y="3803904"/>
            <a:ext cx="3566160" cy="274320"/>
          </a:xfrm>
          <a:prstGeom prst="rect">
            <a:avLst/>
          </a:prstGeom>
          <a:solidFill>
            <a:srgbClr val="1A0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3803904"/>
            <a:ext cx="3566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</a:rPr>
              <a:t>🔐  sk₃ = [6b5f..., 1e9c..., 8a3d..., ...]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3803904"/>
            <a:ext cx="3931920" cy="274320"/>
          </a:xfrm>
          <a:prstGeom prst="rect">
            <a:avLst/>
          </a:prstGeom>
          <a:solidFill>
            <a:srgbClr val="0A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803904"/>
            <a:ext cx="3931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</a:rPr>
              <a:t>🌐  pk₃ = [Hash(6b5f...), Hash(1e9c...), ...]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14400" y="4151376"/>
            <a:ext cx="35661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sk → PRIVADA, nunca se publica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63440" y="4151376"/>
            <a:ext cx="39319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pk → PÚBLICA, se pone en las hojas del árbol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4617720"/>
            <a:ext cx="8412480" cy="347472"/>
          </a:xfrm>
          <a:prstGeom prst="rect">
            <a:avLst/>
          </a:prstGeom>
          <a:solidFill>
            <a:srgbClr val="1A1A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⚡  Cada par OTS es completamente independiente. La seguridad no depende de que estén relacionados entre sí.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41148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0E1A"/>
                </a:solidFill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1828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el árbol de Merkle (de abajo hacia arriba)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4572000" cy="1188720"/>
          </a:xfrm>
          <a:prstGeom prst="rect">
            <a:avLst/>
          </a:prstGeom>
          <a:solidFill>
            <a:srgbClr val="080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850392"/>
            <a:ext cx="347472" cy="347472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850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Nivel 0 — Las hojas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116128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Hoja[0] = Hash(pk₀)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Hoja[1] = Hash(pk₁)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Hoja[2] = Hash(pk₂)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Hoja[3] = Hash(pk₃)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4572000" cy="1188720"/>
          </a:xfrm>
          <a:prstGeom prst="rect">
            <a:avLst/>
          </a:prstGeom>
          <a:solidFill>
            <a:srgbClr val="080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176272"/>
            <a:ext cx="347472" cy="347472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" y="2148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Nivel 1 — Nodos intermedios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" y="248716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Nodo[1,0] = Hash( Hoja[0] ‖ Hoja[1]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Nodo[1,1] = Hash( Hoja[2] ‖ Hoja[3] 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4572000" cy="1188720"/>
          </a:xfrm>
          <a:prstGeom prst="rect">
            <a:avLst/>
          </a:prstGeom>
          <a:solidFill>
            <a:srgbClr val="080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3502152"/>
            <a:ext cx="347472" cy="347472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74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Nivel 2 — La raíz (clave pública)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381304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Raíz = Hash( Nodo[1,0] ‖ Nodo[1,1]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→ Esta Raíz ES la clave pública XMSS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777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DBFE"/>
                </a:solidFill>
              </a:rPr>
              <a:t>Árbol completo resultante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0" y="1188720"/>
            <a:ext cx="2560320" cy="457200"/>
          </a:xfrm>
          <a:prstGeom prst="rect">
            <a:avLst/>
          </a:prstGeom>
          <a:solidFill>
            <a:srgbClr val="10B981">
              <a:alpha val="8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Raíz = 8f4a2c...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(CLAVE PÚBLICA)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49440" y="1645920"/>
            <a:ext cx="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2011680"/>
            <a:ext cx="1737360" cy="411480"/>
          </a:xfrm>
          <a:prstGeom prst="rect">
            <a:avLst/>
          </a:prstGeom>
          <a:solidFill>
            <a:srgbClr val="0A2A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N[1,0] = 3b7e1a...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40880" y="2011680"/>
            <a:ext cx="1737360" cy="411480"/>
          </a:xfrm>
          <a:prstGeom prst="rect">
            <a:avLst/>
          </a:prstGeom>
          <a:solidFill>
            <a:srgbClr val="0A2A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N[1,1] = c5d2f8...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011680"/>
            <a:ext cx="914400" cy="-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0" y="1645920"/>
            <a:ext cx="91440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74920" y="2834640"/>
            <a:ext cx="822960" cy="38404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2834640"/>
            <a:ext cx="8229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H[0]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1a9c...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989320" y="2834640"/>
            <a:ext cx="822960" cy="38404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2834640"/>
            <a:ext cx="8229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H[1]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4d7f...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903720" y="2834640"/>
            <a:ext cx="822960" cy="38404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2834640"/>
            <a:ext cx="8229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H[2]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2e8b...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818120" y="2834640"/>
            <a:ext cx="822960" cy="38404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18120" y="2834640"/>
            <a:ext cx="8229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H[3]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6f3a...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532120" y="2423160"/>
            <a:ext cx="457200" cy="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89320" y="2834640"/>
            <a:ext cx="0" cy="-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52360" y="2423160"/>
            <a:ext cx="365760" cy="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18120" y="2834640"/>
            <a:ext cx="0" cy="-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20640" y="3474720"/>
            <a:ext cx="731520" cy="320040"/>
          </a:xfrm>
          <a:prstGeom prst="rect">
            <a:avLst/>
          </a:prstGeom>
          <a:solidFill>
            <a:srgbClr val="0F1E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0" y="3474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OTS0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86400" y="3218688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35040" y="3474720"/>
            <a:ext cx="731520" cy="320040"/>
          </a:xfrm>
          <a:prstGeom prst="rect">
            <a:avLst/>
          </a:prstGeom>
          <a:solidFill>
            <a:srgbClr val="0F1E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35040" y="3474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OTS1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00800" y="3218688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49440" y="3474720"/>
            <a:ext cx="731520" cy="320040"/>
          </a:xfrm>
          <a:prstGeom prst="rect">
            <a:avLst/>
          </a:prstGeom>
          <a:solidFill>
            <a:srgbClr val="0F1E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0" y="3474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OTS2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315200" y="3218688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63840" y="3474720"/>
            <a:ext cx="731520" cy="320040"/>
          </a:xfrm>
          <a:prstGeom prst="rect">
            <a:avLst/>
          </a:prstGeom>
          <a:solidFill>
            <a:srgbClr val="0F1E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63840" y="3474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OTS3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229600" y="3218688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41148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0E1A"/>
                </a:solidFill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1828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Firmar el primer mensaje — usando OTS₀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8412480" cy="438912"/>
          </a:xfrm>
          <a:prstGeom prst="rect">
            <a:avLst/>
          </a:prstGeom>
          <a:solidFill>
            <a:srgbClr val="0A0F1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49808"/>
            <a:ext cx="841248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</a:rPr>
              <a:t>Mensaje a firmar:  "Transfiero 100 ETH a 0x1234...abcd"   →   m = Hash(mensaje) = 9d3e4f...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2984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DBFE"/>
                </a:solidFill>
              </a:rPr>
              <a:t>La firma XMSS tiene 3 componentes: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664208"/>
            <a:ext cx="8412480" cy="932688"/>
          </a:xfrm>
          <a:prstGeom prst="rect">
            <a:avLst/>
          </a:prstGeom>
          <a:solidFill>
            <a:srgbClr val="080E1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64208"/>
            <a:ext cx="502920" cy="932688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64208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8680" y="17007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Índice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01168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idx =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→ Indica que se usó OTS₀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74920" y="1755648"/>
            <a:ext cx="352044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755648"/>
            <a:ext cx="352044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💡 El receptor sabe qué hoja buscar en el árbol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715768"/>
            <a:ext cx="8412480" cy="932688"/>
          </a:xfrm>
          <a:prstGeom prst="rect">
            <a:avLst/>
          </a:prstGeom>
          <a:solidFill>
            <a:srgbClr val="080E1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15768"/>
            <a:ext cx="502920" cy="932688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15768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8680" y="27523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Firma OTS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06324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σ_OTS = Winternitz.Sign(sk₀, m)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→ Revela parcialmente sk₀ según los bits de 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74920" y="2807208"/>
            <a:ext cx="352044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807208"/>
            <a:ext cx="352044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💡 Nunca se revela sk₀ completa — solo lo necesario para este mensaje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767328"/>
            <a:ext cx="8412480" cy="932688"/>
          </a:xfrm>
          <a:prstGeom prst="rect">
            <a:avLst/>
          </a:prstGeom>
          <a:solidFill>
            <a:srgbClr val="080E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767328"/>
            <a:ext cx="502920" cy="932688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67328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68680" y="38039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Camino de autenticación (Auth Path)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11480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auth = [ Hoja[1], Nodo[1,1]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→ Los 'hermanos' del camino desde OTS₀ hasta la Raíz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74920" y="3858768"/>
            <a:ext cx="352044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858768"/>
            <a:ext cx="352044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💡 Con estos 2 hashes el verificador puede reconstruir la Raíz sin conocer el árbol completo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Estado actualizado: idx avanza de 0 → 1. OTS₀ nunca más se puede usar.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411480" cy="411480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0E1A"/>
                </a:solidFill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1828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la firma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31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BFE"/>
                </a:solidFill>
              </a:rPr>
              <a:t>El verificador tiene: el mensaje, la firma (idx + σ_OTS + auth_path) y la Raíz (clave pública XMSS).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8412480" cy="822960"/>
          </a:xfrm>
          <a:prstGeom prst="rect">
            <a:avLst/>
          </a:prstGeom>
          <a:solidFill>
            <a:srgbClr val="080E1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44168"/>
            <a:ext cx="384048" cy="384048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1179576"/>
            <a:ext cx="7754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B5FD"/>
                </a:solidFill>
              </a:rPr>
              <a:t>Recalcular pk_OTS desde σ_OTS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" y="1472184"/>
            <a:ext cx="7754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Con la firma OTS y el mensaje, el verificador recalcula la clave pública OTS₀ usando las propiedades de Winternitz.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075688"/>
            <a:ext cx="8412480" cy="822960"/>
          </a:xfrm>
          <a:prstGeom prst="rect">
            <a:avLst/>
          </a:prstGeom>
          <a:solidFill>
            <a:srgbClr val="080E1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276856"/>
            <a:ext cx="384048" cy="384048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" y="2112264"/>
            <a:ext cx="7754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B5FD"/>
                </a:solidFill>
              </a:rPr>
              <a:t>Calcular Hoja[0]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" y="2404872"/>
            <a:ext cx="7754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Hoja[0] = Hash(pk_OTS₀ recalculada)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008376"/>
            <a:ext cx="8412480" cy="822960"/>
          </a:xfrm>
          <a:prstGeom prst="rect">
            <a:avLst/>
          </a:prstGeom>
          <a:solidFill>
            <a:srgbClr val="080E1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09544"/>
            <a:ext cx="384048" cy="384048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044952"/>
            <a:ext cx="7754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B5FD"/>
                </a:solidFill>
              </a:rPr>
              <a:t>Subir por el árbol con auth_path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41248" y="3337560"/>
            <a:ext cx="7754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Nodo[1,0] = Hash(Hoja[0] ‖ auth[0])   donde auth[0] = Hoja[1]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Raíz'   = Hash(Nodo[1,0] ‖ auth[1])   donde auth[1] = Nodo[1,1]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941064"/>
            <a:ext cx="8412480" cy="822960"/>
          </a:xfrm>
          <a:prstGeom prst="rect">
            <a:avLst/>
          </a:prstGeom>
          <a:solidFill>
            <a:srgbClr val="0A1A0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142232"/>
            <a:ext cx="384048" cy="384048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1248" y="3977640"/>
            <a:ext cx="7754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</a:rPr>
              <a:t>Comparar raíces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1248" y="4270248"/>
            <a:ext cx="7754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Si Raíz' == Raíz (clave pública)  →  ✅ FIRMA VÁLIDA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Si Raíz' ≠  Raíz                  →  ❌ FIRMA INVÁLIDA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773168"/>
            <a:ext cx="841248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773168"/>
            <a:ext cx="84124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🔑 Clave: el verificador NUNCA necesita ver sk₀. Solo usa pk₀ (recalculada), los hashes del auth_path y la Raíz pública. Seguro y verificable.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0E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ECDSA vs XMSS — Comparación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412480" cy="402336"/>
          </a:xfrm>
          <a:prstGeom prst="rect">
            <a:avLst/>
          </a:prstGeom>
          <a:solidFill>
            <a:srgbClr val="2563EB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41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Característica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8412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ECDSA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8412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XMSS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8412480" cy="402336"/>
          </a:xfrm>
          <a:prstGeom prst="rect">
            <a:avLst/>
          </a:prstGeom>
          <a:solidFill>
            <a:srgbClr val="0F1E3D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61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Base matemática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91840" y="126187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Curvas elípticas (DLP)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126187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Funciones de hash (SHA-256)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682496"/>
            <a:ext cx="8412480" cy="402336"/>
          </a:xfrm>
          <a:prstGeom prst="rect">
            <a:avLst/>
          </a:prstGeom>
          <a:solidFill>
            <a:srgbClr val="080E1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82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Resistente a cuántica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91840" y="168249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❌ NO (Algoritmo de Shor)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168249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✅ SÍ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103120"/>
            <a:ext cx="8412480" cy="402336"/>
          </a:xfrm>
          <a:prstGeom prst="rect">
            <a:avLst/>
          </a:prstGeom>
          <a:solidFill>
            <a:srgbClr val="0F1E3D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103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Stateful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91840" y="21031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No (sin límite de firmas)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21031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Sí (hay que llevar índice)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523744"/>
            <a:ext cx="8412480" cy="402336"/>
          </a:xfrm>
          <a:prstGeom prst="rect">
            <a:avLst/>
          </a:prstGeom>
          <a:solidFill>
            <a:srgbClr val="080E1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52374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Tamaño de firma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91840" y="25237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~64 bytes (muy compacto)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25237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~2-3 KB (mucho mayor)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944368"/>
            <a:ext cx="8412480" cy="402336"/>
          </a:xfrm>
          <a:prstGeom prst="rect">
            <a:avLst/>
          </a:prstGeom>
          <a:solidFill>
            <a:srgbClr val="0F1E3D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94436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Tamaño clave pública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291840" y="294436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33-65 bytes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294436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~64 bytes (solo la raíz)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364992"/>
            <a:ext cx="8412480" cy="402336"/>
          </a:xfrm>
          <a:prstGeom prst="rect">
            <a:avLst/>
          </a:prstGeom>
          <a:solidFill>
            <a:srgbClr val="080E1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36499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Velocidad de firma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291840" y="336499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Muy rápida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0" y="336499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Lenta (construye árbol)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785616"/>
            <a:ext cx="8412480" cy="402336"/>
          </a:xfrm>
          <a:prstGeom prst="rect">
            <a:avLst/>
          </a:prstGeom>
          <a:solidFill>
            <a:srgbClr val="0F1E3D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78561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Velocidad verificación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291840" y="37856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Rápida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0" y="37856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Rápida (solo auth_path)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206240"/>
            <a:ext cx="8412480" cy="402336"/>
          </a:xfrm>
          <a:prstGeom prst="rect">
            <a:avLst/>
          </a:prstGeom>
          <a:solidFill>
            <a:srgbClr val="080E1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2062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Estándar NIST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291840" y="42062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Sí (FIPS 186)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0" y="42062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Sí (SP 800-208, 2022)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626864"/>
            <a:ext cx="8412480" cy="402336"/>
          </a:xfrm>
          <a:prstGeom prst="rect">
            <a:avLst/>
          </a:prstGeom>
          <a:solidFill>
            <a:srgbClr val="0F1E3D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62686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Uso ideal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291840" y="462686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Internet en general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600" y="462686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Firmware, PKI, bajo volumen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Ethereum y la resistencia cuántica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BFE"/>
                </a:solidFill>
              </a:rPr>
              <a:t>Vitalik Buterin presentó en DevConnect Buenos Aires (nov. 2024) el framework 'Lean Ethereum' — un rediseño de la capa base de Ethereum enfocado en simplicidad y seguridad post-cuántica.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114800" cy="1325880"/>
          </a:xfrm>
          <a:prstGeom prst="rect">
            <a:avLst/>
          </a:prstGeom>
          <a:solidFill>
            <a:srgbClr val="0F1E3D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9164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87552" y="17647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Reemplazar BLS por firmas basadas en hash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87552" y="214884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Las firmas BLS actuales usan curvas elípticas (vulnerables a cuántica). Vitalik propone variantes Winternitz — la misma familia que XMSS.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691640"/>
            <a:ext cx="4114800" cy="1325880"/>
          </a:xfrm>
          <a:prstGeom prst="rect">
            <a:avLst/>
          </a:prstGeom>
          <a:solidFill>
            <a:srgbClr val="0F1E3D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69164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22392" y="17647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</a:rPr>
              <a:t>STARKs para agregación de firmas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22392" y="214884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Para compensar el tamaño mayor de las firmas hash, se usarán STARKs (pruebas de conocimiento cero) para agregar miles de firmas eficientemente. Los STARKs también son resistentes a cuántica.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4114800" cy="1325880"/>
          </a:xfrm>
          <a:prstGeom prst="rect">
            <a:avLst/>
          </a:prstGeom>
          <a:solidFill>
            <a:srgbClr val="0F1E3D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15468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⛓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87552" y="32278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</a:rPr>
              <a:t>Beam Chain — rediseño del consenso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87552" y="361188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El Beam Chain reduce el tiempo de finalización a 12 segundos y simplifica la estructura para que la transición a primitivas post-cuánticas sea viable sin sacrificar performance.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154680"/>
            <a:ext cx="4114800" cy="1325880"/>
          </a:xfrm>
          <a:prstGeom prst="rect">
            <a:avLst/>
          </a:prstGeom>
          <a:solidFill>
            <a:srgbClr val="0F1E3D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15468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22392" y="32278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</a:rPr>
              <a:t>Conexión directa con XMSS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22392" y="361188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XMSS y sus variantes Winternitz son parte de la familia de esquemas que el NIST estandarizó (SP 800-208). Ethereum no usará XMSS textualmente pero sí la misma base matemática.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18872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78308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97180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6052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34924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274320"/>
            <a:ext cx="5486400" cy="4572000"/>
          </a:xfrm>
          <a:prstGeom prst="ellipse">
            <a:avLst/>
          </a:prstGeom>
          <a:solidFill>
            <a:srgbClr val="2563EB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64748B"/>
                </a:solidFill>
              </a:rPr>
              <a:t>Conclusiones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960120"/>
            <a:ext cx="3931920" cy="1600200"/>
          </a:xfrm>
          <a:prstGeom prst="rect">
            <a:avLst/>
          </a:prstGeom>
          <a:solidFill>
            <a:srgbClr val="0F1E3D">
              <a:alpha val="80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960120"/>
            <a:ext cx="3931920" cy="41148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960120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XMSS se basa en hash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94360" y="1417320"/>
            <a:ext cx="3657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La única suposición de seguridad es la resistencia de SHA-256 — mucho más sólida que el problema del logaritmo discreto.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960120"/>
            <a:ext cx="3931920" cy="1600200"/>
          </a:xfrm>
          <a:prstGeom prst="rect">
            <a:avLst/>
          </a:prstGeom>
          <a:solidFill>
            <a:srgbClr val="0F1E3D">
              <a:alpha val="80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960120"/>
            <a:ext cx="3931920" cy="411480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960120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El árbol de Merkle es el corazón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846320" y="1417320"/>
            <a:ext cx="3657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Permite usar miles de claves OTS de un solo uso bajo una única clave pública de solo 64 bytes.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2743200"/>
            <a:ext cx="3931920" cy="1600200"/>
          </a:xfrm>
          <a:prstGeom prst="rect">
            <a:avLst/>
          </a:prstGeom>
          <a:solidFill>
            <a:srgbClr val="0F1E3D">
              <a:alpha val="80000"/>
            </a:srgbClr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2743200"/>
            <a:ext cx="3931920" cy="411480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2743200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El estado es crítico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94360" y="3200400"/>
            <a:ext cx="3657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La gestión del índice es la responsabilidad operativa central. Una falla aquí puede comprometer toda la seguridad.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09160" y="2743200"/>
            <a:ext cx="3931920" cy="1600200"/>
          </a:xfrm>
          <a:prstGeom prst="rect">
            <a:avLst/>
          </a:prstGeom>
          <a:solidFill>
            <a:srgbClr val="0F1E3D">
              <a:alpha val="80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2743200"/>
            <a:ext cx="3931920" cy="411480"/>
          </a:xfrm>
          <a:prstGeom prst="rect">
            <a:avLst/>
          </a:prstGeom>
          <a:solidFill>
            <a:srgbClr val="A78BF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2743200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El futuro es post-cuántico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846320" y="3200400"/>
            <a:ext cx="3657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El NIST lo estandarizó en 2022. Lean Ethereum lo está adoptando. Quien diseña sistemas hoy debe considerarlo.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XMSS - Firmas Digitales Post-Cuánticas</dc:title>
  <dc:subject>PptxGenJS Presentation</dc:subject>
  <dc:creator>PptxGenJS</dc:creator>
  <cp:lastModifiedBy>PptxGenJS</cp:lastModifiedBy>
  <cp:revision>1</cp:revision>
  <dcterms:created xsi:type="dcterms:W3CDTF">2026-03-16T01:54:05Z</dcterms:created>
  <dcterms:modified xsi:type="dcterms:W3CDTF">2026-03-16T01:54:05Z</dcterms:modified>
</cp:coreProperties>
</file>