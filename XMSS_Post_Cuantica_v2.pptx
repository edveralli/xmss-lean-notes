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21"/>
    <p:sldId id="271" r:id="rId22"/>
    <p:sldId id="272" r:id="rId23"/>
    <p:sldId id="273" r:id="rId24"/>
    <p:sldId id="274" r:id="rId25"/>
    <p:sldId id="266" r:id="rId12"/>
    <p:sldId id="267" r:id="rId13"/>
    <p:sldId id="268" r:id="rId14"/>
    <p:sldId id="275" r:id="rId26"/>
    <p:sldId id="276" r:id="rId27"/>
    <p:sldId id="277" r:id="rId28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830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9718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605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3492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548640"/>
            <a:ext cx="274320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FDBFE"/>
                </a:solidFill>
              </a:rPr>
              <a:t>CRIPTOGRAFÍA POST-CUÁNTICA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XMSS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eXtended Merkle Signature Scheme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y ejemplo práctico paso a paso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Resistente a computación cuántica  ·  Basado en funciones de hash  ·  Estándar NIST 2022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ECDSA ya no es suficiente?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ECDSA (hoy)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Se basa en el problema del logaritmo discreto sobre curvas elípticas.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1460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23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Una computadora clásica necesita ~10³⁰⁰ operaciones para romperlo.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Usado en Bitcoin, Ethereum, TLS, SSH, GPG y casi todo internet.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Computadora cuántica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50876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417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El algoritmo de Shor resuelve el logaritmo discreto en tiempo polinómico.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42316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146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423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Una computadora cuántica de ~4.000 qubits lógicos rompería ECDSA.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42900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52044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Google, IBM y China están avanzando rápido. El NIST ya se preocupó en 2016.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22402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1A"/>
                </a:solidFill>
              </a:rPr>
              <a:t>VS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</a:rPr>
              <a:t>⚠  La solución: basar la seguridad en funciones de HASH, que los algoritmos cuánticos conocidos NO pueden romper eficientemente.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XMSS — Los 3 pilares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XMSS combina tres ideas para crear un esquema de firma resistente a cuántica: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43200" cy="347472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00" cy="6400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OTS — One Time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Signature (Winternitz)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2194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971800"/>
            <a:ext cx="2743200" cy="1600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Una clave que firma UN SOLO mensaje. Si se reutiliza, la seguridad se rompe.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30175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246120" y="1280160"/>
            <a:ext cx="2743200" cy="347472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80160"/>
            <a:ext cx="2743200" cy="64008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Árbol 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Merkle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20440" y="2926080"/>
            <a:ext cx="2194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971800"/>
            <a:ext cx="2743200" cy="1600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Organiza miles de claves OTS en una estructura de árbol con una única clave pública raíz.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30175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172200" y="1280160"/>
            <a:ext cx="2743200" cy="3474720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280160"/>
            <a:ext cx="2743200" cy="64008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7220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Estado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(Stateful)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46520" y="2926080"/>
            <a:ext cx="2194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971800"/>
            <a:ext cx="2743200" cy="1600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XMSS lleva la cuenta de qué claves OTS ya usó. Nunca puede repetir un índice.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0F2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</a:rPr>
              <a:t>Base matemática: las funciones de hash SHA-256 son resistentes al algoritmo de Grover (cuántica) con pérdida de solo 50% de bits de seguridad — manejable duplicando el tamaño.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01 — OTS: Winternitz One-Time Signature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</a:rPr>
              <a:t>¿Cómo funciona?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Clave privada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188720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Serie de valores aleatorios: sk₀, sk₁, … skₙ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56232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562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Clave pública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1856232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Hash de cada valor privado: pk_i = Hash(sk_i)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23744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237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Firmar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2523744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Para cada bit del mensaje, revelás sk_i (bit=1) o su hash (bit=0)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91256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91256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912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Verificar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191256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El verificador comprueba que los valores revelados hasheados baten con la clave pública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58768"/>
            <a:ext cx="3931920" cy="566928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58768"/>
            <a:ext cx="1005840" cy="56692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587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⚠ Solo UNA vez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Si firmás dos mensajes distintos, un atacante puede reconstruir la clave privada combinando ambas firmas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822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</a:rPr>
              <a:t>Diagrama simplificado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80560" y="1188720"/>
            <a:ext cx="4389120" cy="3566160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1417320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417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1600200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150876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417320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417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2167128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21671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2350008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2258568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2167128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2916936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2916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sk₂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2916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49240" y="3099816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9320" y="3008376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2916936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2916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17720" y="3666744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6667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sk₃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0" y="36667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49240" y="3849624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9320" y="3758184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0" y="3666744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0" y="36667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pk₃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17720" y="4480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Clave privada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(secreta)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35040" y="4480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Clave pública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(publicada)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02 — Árbol de Merkle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Tenemos miles de claves OTS de un solo uso. El árbol de Merkle las organiza bajo UNA SOLA clave pública raíz.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0" y="1234440"/>
            <a:ext cx="1645920" cy="45720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Raíz (Clave Pública)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2103120"/>
            <a:ext cx="1554480" cy="411480"/>
          </a:xfrm>
          <a:prstGeom prst="rect">
            <a:avLst/>
          </a:prstGeom>
          <a:solidFill>
            <a:srgbClr val="0A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Nodo[1,0]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Hash(Hoja0 + Hoja1)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94960" y="2103120"/>
            <a:ext cx="1554480" cy="411480"/>
          </a:xfrm>
          <a:prstGeom prst="rect">
            <a:avLst/>
          </a:prstGeom>
          <a:solidFill>
            <a:srgbClr val="0A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Nodo[1,1]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Hash(Hoja2 + Hoja3)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69164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103120"/>
            <a:ext cx="1691640" cy="-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691640"/>
            <a:ext cx="169164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Hash(pk_OTS₀)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Hash(pk_OTS₁)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Hash(pk_OTS₂)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Hash(pk_OTS₃)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2514600"/>
            <a:ext cx="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3108960"/>
            <a:ext cx="1143000" cy="-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2514600"/>
            <a:ext cx="77724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514600"/>
            <a:ext cx="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3108960"/>
            <a:ext cx="685800" cy="-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514600"/>
            <a:ext cx="123444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0664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La Raíz del árbol = Clave Pública XMSS. Para probar validez de una firma se revela el 'camino de autenticación' desde la hoja hasta la raíz (unos pocos hashes, no todo el árbol).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03 — Estado (Stateful)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XMSS es stateful: debe recordar qué índice OTS usó para nunca repetirlo. Esto lo diferencia de ECDSA (que es stateless).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</a:rPr>
              <a:t>El índice como contador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83080"/>
            <a:ext cx="292608" cy="29260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idx = 0 → Usar OTS₀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441448"/>
            <a:ext cx="292608" cy="29260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304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idx = 1 → Usar OTS₁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62656"/>
            <a:ext cx="3931920" cy="566928"/>
          </a:xfrm>
          <a:prstGeom prst="rect">
            <a:avLst/>
          </a:prstGeom>
          <a:solidFill>
            <a:srgbClr val="1A2E0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99816"/>
            <a:ext cx="292608" cy="29260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9626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idx = 2 → Usar OTS₂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96265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← ahora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758184"/>
            <a:ext cx="292608" cy="292608"/>
          </a:xfrm>
          <a:prstGeom prst="ellipse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6210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idx = 3 → Usar OTS₃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</a:rPr>
              <a:t>Riesgos del estado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60" y="1645920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16459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1682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Pérdida del estado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19568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 se pierde qué índice se usó, no se puede continuar firmando de forma segura.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80560" y="2414016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4140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02920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Backup y restore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7249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Restaurar un backup antiguo puede hacer que se reutilice un índice — error crítico.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3182112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31821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02920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Límite de firmas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493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árbol de altura h=20 permite 2²⁰ ≈ 1 millón de firmas. Luego hay que generar nueva clave.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80560" y="3950208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39502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029200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Uso ideal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42611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Dispositivos con pocas firmas y almacenamiento confiable: HSMs, firmware, PKI.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DE68A"/>
                </a:solidFill>
              </a:rPr>
              <a:t>EJEMPLO PRÁCTICO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Construyendo XMSS con h=2 (4 hojas)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Vamos a construir un esquema XMSS completo con un árbol de altura 2, lo que nos da exactamente 4 claves OTS (= 4 firmas posibles). Ideal para entender el flujo.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502920" cy="12344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Generar 4 pares de claves OTS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Para cada hoja del árbol generamos un par (sk_i, pk_i) usando Winternitz.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37360"/>
            <a:ext cx="502920" cy="12344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373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1847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Construir el árbol de Merkle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03520" y="22128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Hasheamos las pk_i para obtener las hojas, luego construimos el árbol de abajo hacia arriba.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502920" cy="123444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" y="3264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</a:rPr>
              <a:t>Firmar el primer mensaje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36301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Usamos OTS₀ (índice 0), revelamos la clave privada parcial + el camino de autenticación.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54680"/>
            <a:ext cx="502920" cy="1234440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54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03520" y="3264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</a:rPr>
              <a:t>Verificar la firma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03520" y="36301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El verificador recalcula el árbol desde la hoja firmada y comprueba que llega a la misma Raíz.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los 4 pares de claves OTS (Winternitz)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Para cada una de las 4 hojas del árbol generamos un par de claves OTS independiente: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4300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430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19786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19786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sk₀ = [a1f3..., b9c2..., e4d7..., ...]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19786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9786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pk₀ = [Hash(a1f3...), Hash(b9c2...), ...]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154533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54533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01168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1168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206654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06654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sk₁ = [7f2a..., 3d8e..., c1b4..., ...]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06654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pk₁ = [Hash(7f2a...), Hash(3d8e...), ...]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241401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88036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88036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8803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293522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93522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sk₂ = [9e1c..., 4a7d..., 2f8b..., ...]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93522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93522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pk₂ = [Hash(9e1c...), Hash(4a7d...), ...]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328269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28269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74904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4904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4904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" y="380390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sk₃ = [6b5f..., 1e9c..., 8a3d..., ...]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80390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80390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pk₃ = [Hash(6b5f...), Hash(1e9c...), ...]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14400" y="415137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415137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617720"/>
            <a:ext cx="8412480" cy="347472"/>
          </a:xfrm>
          <a:prstGeom prst="rect">
            <a:avLst/>
          </a:prstGeom>
          <a:solidFill>
            <a:srgbClr val="1A1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⚡  Cada par OTS es completamente independiente. La seguridad no depende de que estén relacionados entre sí.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árbol de Merkle (de abajo hacia arriba)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572000" cy="1188720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850392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50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Nivel 0 — Las hojas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16128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Hoja[0] = Hash(pk₀)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Hoja[1] = Hash(pk₁)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Hoja[2] = Hash(pk₂)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Hoja[3] = Hash(pk₃)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572000" cy="1188720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76272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Nivel 1 — Nodos intermedios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48716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Nodo[1,0] = Hash( Hoja[0] ‖ Hoja[1]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Nodo[1,1] = Hash( Hoja[2] ‖ Hoja[3] 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572000" cy="1188720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502152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74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Nivel 2 — La raíz (clave pública)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8130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Raíz = Hash( Nodo[1,0] ‖ Nodo[1,1]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→ Esta Raíz ES la clave pública XMSS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777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</a:rPr>
              <a:t>Árbol completo resultante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1188720"/>
            <a:ext cx="2560320" cy="45720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Raíz = 8f4a2c...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(CLAVE PÚBLICA)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49440" y="16459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011680"/>
            <a:ext cx="1737360" cy="411480"/>
          </a:xfrm>
          <a:prstGeom prst="rect">
            <a:avLst/>
          </a:prstGeom>
          <a:solidFill>
            <a:srgbClr val="0A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N[1,0] = 3b7e1a...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2011680"/>
            <a:ext cx="1737360" cy="411480"/>
          </a:xfrm>
          <a:prstGeom prst="rect">
            <a:avLst/>
          </a:prstGeom>
          <a:solidFill>
            <a:srgbClr val="0A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N[1,1] = c5d2f8...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011680"/>
            <a:ext cx="914400" cy="-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1645920"/>
            <a:ext cx="91440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H[0]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1a9c...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93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H[1]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4d7f...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H[2]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2e8b...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181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H[3]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6f3a...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32120" y="2423160"/>
            <a:ext cx="45720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2834640"/>
            <a:ext cx="0" cy="-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52360" y="2423160"/>
            <a:ext cx="36576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18120" y="2834640"/>
            <a:ext cx="0" cy="-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008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152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638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296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Firmar el primer mensaje — usando OTS₀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8412480" cy="438912"/>
          </a:xfrm>
          <a:prstGeom prst="rect">
            <a:avLst/>
          </a:prstGeom>
          <a:solidFill>
            <a:srgbClr val="0A0F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</a:rPr>
              <a:t>Mensaje a firmar:  "Transfiero 100 ETH a 0x1234...abcd"   →   m = Hash(mensaje) = 9d3e4f...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</a:rPr>
              <a:t>La firma XMSS tiene 3 componentes: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8412480" cy="932688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64208"/>
            <a:ext cx="502920" cy="93268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6420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17007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Índice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01168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idx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→ Indica que se usó OTS₀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1755648"/>
            <a:ext cx="35204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755648"/>
            <a:ext cx="35204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El receptor sabe qué hoja buscar en el árbol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15768"/>
            <a:ext cx="8412480" cy="932688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15768"/>
            <a:ext cx="502920" cy="932688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1576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752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Firma OTS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0632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σ_OTS = Winternitz.Sign(sk₀, 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→ Revela parcialmente sk₀ según los bits de 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4920" y="2807208"/>
            <a:ext cx="35204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807208"/>
            <a:ext cx="35204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Nunca se revela sk₀ completa — solo lo necesario para este mensaje. Ver ejemplo detallado en las próximas 4 slides 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8412480" cy="932688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67328"/>
            <a:ext cx="502920" cy="932688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6732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68680" y="3803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Camino de autenticación (Auth Path)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1148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auth = [ Hoja[1], Nodo[1,1]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→ Los 'hermanos' del camino desde OTS₀ hasta la Raíz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858768"/>
            <a:ext cx="35204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858768"/>
            <a:ext cx="35204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Con estos 2 hashes el verificador puede reconstruir la Raíz sin conocer el árbol completo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Estado actualizado: idx avanza de 0 → 1. OTS₀ nunca más se puede usar.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la firma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El verificador tiene: el mensaje, la firma (idx + σ_OTS + auth_path) y la Raíz (clave pública XMSS).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412480" cy="822960"/>
          </a:xfrm>
          <a:prstGeom prst="rect">
            <a:avLst/>
          </a:prstGeom>
          <a:solidFill>
            <a:srgbClr val="08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179576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Recalcular pk_OTS desde σ_OTS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1472184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Con la firma OTS y el mensaje, el verificador recalcula la clave pública OTS₀ usando las propiedades de Winternitz.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75688"/>
            <a:ext cx="8412480" cy="822960"/>
          </a:xfrm>
          <a:prstGeom prst="rect">
            <a:avLst/>
          </a:prstGeom>
          <a:solidFill>
            <a:srgbClr val="08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76856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2112264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Calcular Hoja[0]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2404872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Hoja[0] = Hash(pk_OTS₀ recalculada)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08376"/>
            <a:ext cx="8412480" cy="822960"/>
          </a:xfrm>
          <a:prstGeom prst="rect">
            <a:avLst/>
          </a:prstGeom>
          <a:solidFill>
            <a:srgbClr val="08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09544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044952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Subir por el árbol con auth_path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" y="3337560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Nodo[1,0] = Hash(Hoja[0] ‖ auth[0])   donde auth[0] = Hoja[1]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Raíz'   = Hash(Nodo[1,0] ‖ auth[1])   donde auth[1] = Nodo[1,1]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41064"/>
            <a:ext cx="8412480" cy="822960"/>
          </a:xfrm>
          <a:prstGeom prst="rect">
            <a:avLst/>
          </a:prstGeom>
          <a:solidFill>
            <a:srgbClr val="0A1A0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3977640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Comparar raíces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" y="4270248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Si Raíz' == Raíz (clave pública)  →  ✅ FIRMA VÁLIDA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Si Raíz' ≠  Raíz                  →  ❌ FIRMA INVÁLIDA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773168"/>
            <a:ext cx="84124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🔑 Clave: el verificador NUNCA necesita ver sk₀. Solo usa pk₀ (recalculada), los hashes del auth_path y la Raíz pública. Seguro y verificable.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0E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ECDSA vs XMSS — Comparación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41248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Característica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8412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ECDSA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8412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XMSS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Base matemática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0" y="1261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Curvas elípticas (DLP)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261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Funciones de hash (SHA-256)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82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Resistente a cuántica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16824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❌ NO (Algoritmo de Shor)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6824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✅ SÍ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03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Stateful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1031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 (sin límite de firmas)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1031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Sí (hay que llevar índice)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523744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23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Tamaño de firma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2523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~64 bytes (muy compacto)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523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~2-3 KB (mucho mayor)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44368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443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Tamaño clave pública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91840" y="29443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33-65 bytes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9443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~64 bytes (solo la raíz)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649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Velocidad de firma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91840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Muy rápida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Lenta (construye árbol)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785616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8561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Velocidad verificación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9184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Rápida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Rápida (solo auth_path)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06240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062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Estándar NIST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91840" y="4206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Sí (FIPS 186)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206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Sí (SP 800-208, 2022)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626864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2686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Uso ideal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291840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Internet en general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Firmware, PKI, bajo volumen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leanSpec — el protocolo post-cuántico en código real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leanSpec es la implementación de referencia del consenso post-cuántico de Ethereum — una spec ejecutable en Python que define exactamente cómo XMSS, Poseidon2 y leanVm funcionan en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8755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Target Sum Winternitz (TSW)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leanSpec no usa el Winternitz clásico del NIST. TSW elimina el checksum y fuerza una suma constante de dígitos — la verificación siempre cuesta lo mismo: ideal para circuitos ZK con costo predecible.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2239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</a:rPr>
              <a:t>Poseidon2 — hash optimizado para ZK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2239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 SHA-256. Poseidon2 opera sobre campos primos F_p — 10x más lenta en CPU pero 10x más eficiente dentro de circuitos aritméticos. El costo del SNARK de agregación cae drásticamente.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755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ValidatorKeyPair — dos árboles XMSS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Cada validador tiene dos pares XMSS independientes: attestation_key y proposal_key. Si una clave se filtra, la otra no se ve comprometida — separación de responsabilidades.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2239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leanVm — agregación recursiva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2239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AggregatedSignatureProof fusiona múltiples firmas parciales en un único proof por mensaje. pq-devnet-4: 5 clientes implementando (Ream, Zeam, Qlean, Lantern, Lighthouse).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830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9718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605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3492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274320"/>
            <a:ext cx="5486400" cy="4572000"/>
          </a:xfrm>
          <a:prstGeom prst="ellipse">
            <a:avLst/>
          </a:prstGeom>
          <a:solidFill>
            <a:srgbClr val="2563EB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64748B"/>
                </a:solidFill>
              </a:rPr>
              <a:t>Conclusiones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96012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96012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XMSS se basa en hash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" y="141732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La única suposición de seguridad es la resistencia de SHA-256 — mucho más sólida que el problema del logaritmo discreto.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96012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960120"/>
            <a:ext cx="3931920" cy="41148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96012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El árbol de Merkle es el corazón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46320" y="141732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Permite usar miles de claves OTS de un solo uso bajo una única clave pública de solo 64 bytes.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274320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743200"/>
            <a:ext cx="3931920" cy="41148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274320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El estado es crítico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94360" y="320040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La gestión del índice es la responsabilidad operativa central. Una falla aquí puede comprometer toda la seguridad.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274320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743200"/>
            <a:ext cx="3931920" cy="411480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74320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El futuro es post-cuántico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846320" y="320040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El NIST lo estandarizó en 2022. Lean Ethereum lo está adoptando. Quien diseña sistemas hoy debe considerarlo.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Ejemplo: Winternitz OTS con 4 bits</a:t>
            </a:r>
          </a:p>
        </p:txBody>
      </p:sp>
      <p:sp>
        <p:nvSpPr>
          <p:cNvPr id="4" name="Subtitle"/>
          <p:cNvSpPr/>
          <p:nvPr/>
        </p:nvSpPr>
        <p:spPr>
          <a:xfrm>
            <a:off x="274320" y="500000"/>
            <a:ext cx="84124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64748B"/>
                </a:solidFill>
              </a:rPr>
              <a:t>Paso 1 — Clave privada, cadenas de hash y clave pública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8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Card1BG"/>
          <p:cNvSpPr/>
          <p:nvPr/>
        </p:nvSpPr>
        <p:spPr>
          <a:xfrm>
            <a:off x="274320" y="870000"/>
            <a:ext cx="8412480" cy="68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Card1Title"/>
          <p:cNvSpPr/>
          <p:nvPr/>
        </p:nvSpPr>
        <p:spPr>
          <a:xfrm>
            <a:off x="380000" y="900000"/>
            <a:ext cx="8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F59E0B"/>
                </a:solidFill>
              </a:rPr>
              <a:t>Clave privada (4 valores aleatorios)</a:t>
            </a:r>
          </a:p>
        </p:txBody>
      </p:sp>
      <p:sp>
        <p:nvSpPr>
          <p:cNvPr id="12" name="Card1Body"/>
          <p:cNvSpPr/>
          <p:nvPr/>
        </p:nvSpPr>
        <p:spPr>
          <a:xfrm>
            <a:off x="380000" y="1180000"/>
            <a:ext cx="82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BFDBFE"/>
                </a:solidFill>
                <a:latin typeface="Consolas"/>
              </a:rPr>
              <a:t>sk₀ = [ s₁ , s₂ , s₃ , s₄ ]</a:t>
            </a:r>
          </a:p>
        </p:txBody>
      </p:sp>
      <p:sp>
        <p:nvSpPr>
          <p:cNvPr id="20" name="Card2BG"/>
          <p:cNvSpPr/>
          <p:nvPr/>
        </p:nvSpPr>
        <p:spPr>
          <a:xfrm>
            <a:off x="274320" y="1680000"/>
            <a:ext cx="8412480" cy="155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Card2Title"/>
          <p:cNvSpPr/>
          <p:nvPr/>
        </p:nvSpPr>
        <p:spPr>
          <a:xfrm>
            <a:off x="380000" y="1720000"/>
            <a:ext cx="8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3B82F6"/>
                </a:solidFill>
              </a:rPr>
              <a:t>Cadena de hash (w=2, un paso por valor)</a:t>
            </a:r>
          </a:p>
        </p:txBody>
      </p:sp>
      <p:sp>
        <p:nvSpPr>
          <p:cNvPr id="22" name="Card2Body"/>
          <p:cNvSpPr/>
          <p:nvPr/>
        </p:nvSpPr>
        <p:spPr>
          <a:xfrm>
            <a:off x="380000" y="2020000"/>
            <a:ext cx="820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2400"/>
              </a:lnSpc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s₁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 →  Hash(s₁)  = 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p₁</a:t>
            </a:r>
          </a:p>
          <a:p>
            <a:pPr indent="0" marL="0">
              <a:buNone/>
              <a:lnSpc>
                <a:spcPts val="2400"/>
              </a:lnSpc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 →  Hash(s₂)  = 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p₂</a:t>
            </a:r>
          </a:p>
          <a:p>
            <a:pPr indent="0" marL="0">
              <a:buNone/>
              <a:lnSpc>
                <a:spcPts val="2400"/>
              </a:lnSpc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s₃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 →  Hash(s₃)  = 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p₃</a:t>
            </a:r>
          </a:p>
          <a:p>
            <a:pPr indent="0" marL="0">
              <a:buNone/>
              <a:lnSpc>
                <a:spcPts val="2400"/>
              </a:lnSpc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s₄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 →  Hash(s₄)  = 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p₄</a:t>
            </a:r>
          </a:p>
        </p:txBody>
      </p:sp>
      <p:sp>
        <p:nvSpPr>
          <p:cNvPr id="30" name="Card3BG"/>
          <p:cNvSpPr/>
          <p:nvPr/>
        </p:nvSpPr>
        <p:spPr>
          <a:xfrm>
            <a:off x="274320" y="3360000"/>
            <a:ext cx="8412480" cy="68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Card3Title"/>
          <p:cNvSpPr/>
          <p:nvPr/>
        </p:nvSpPr>
        <p:spPr>
          <a:xfrm>
            <a:off x="380000" y="3390000"/>
            <a:ext cx="8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10B981"/>
                </a:solidFill>
              </a:rPr>
              <a:t>Clave pública de esta OTS</a:t>
            </a:r>
          </a:p>
        </p:txBody>
      </p:sp>
      <p:sp>
        <p:nvSpPr>
          <p:cNvPr id="32" name="Card3Body"/>
          <p:cNvSpPr/>
          <p:nvPr/>
        </p:nvSpPr>
        <p:spPr>
          <a:xfrm>
            <a:off x="380000" y="3670000"/>
            <a:ext cx="82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BFDBFE"/>
                </a:solidFill>
                <a:latin typeface="Consolas"/>
              </a:rPr>
              <a:t>pk₀ = [ p₁ , p₂ , p₃ , p₄ ]</a:t>
            </a:r>
          </a:p>
        </p:txBody>
      </p:sp>
      <p:sp>
        <p:nvSpPr>
          <p:cNvPr id="40" name="Footer"/>
          <p:cNvSpPr/>
          <p:nvPr/>
        </p:nvSpPr>
        <p:spPr>
          <a:xfrm>
            <a:off x="274320" y="4200000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64748B"/>
                </a:solidFill>
              </a:rPr>
              <a:t>Cada OTS tiene su propia sk y pk. La pk se hashea para formar una hoja del árbol de Merkle.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Ejemplo: Winternitz OTS con 4 bits</a:t>
            </a:r>
          </a:p>
        </p:txBody>
      </p:sp>
      <p:sp>
        <p:nvSpPr>
          <p:cNvPr id="4" name="Sub"/>
          <p:cNvSpPr/>
          <p:nvPr/>
        </p:nvSpPr>
        <p:spPr>
          <a:xfrm>
            <a:off x="274320" y="460000"/>
            <a:ext cx="8412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64748B"/>
                </a:solidFill>
              </a:rPr>
              <a:t>Paso 2 — Firmar: qué se revela según cada bit del mensaje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2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MsgBG"/>
          <p:cNvSpPr/>
          <p:nvPr/>
        </p:nvSpPr>
        <p:spPr>
          <a:xfrm>
            <a:off x="274320" y="800000"/>
            <a:ext cx="8412480" cy="350000"/>
          </a:xfrm>
          <a:prstGeom prst="rect">
            <a:avLst/>
          </a:prstGeom>
          <a:solidFill>
            <a:srgbClr val="0A0F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MsgTxt"/>
          <p:cNvSpPr/>
          <p:nvPr/>
        </p:nvSpPr>
        <p:spPr>
          <a:xfrm>
            <a:off x="274320" y="800000"/>
            <a:ext cx="8412480" cy="35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 indent="0" marL="0">
              <a:buNone/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Hash del mensaje   m = 1  0  1  1    (4 bits)</a:t>
            </a:r>
          </a:p>
        </p:txBody>
      </p:sp>
      <p:sp>
        <p:nvSpPr>
          <p:cNvPr id="20" name="RuleBG"/>
          <p:cNvSpPr/>
          <p:nvPr/>
        </p:nvSpPr>
        <p:spPr>
          <a:xfrm>
            <a:off x="274320" y="1250000"/>
            <a:ext cx="4000000" cy="7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RuleTitle"/>
          <p:cNvSpPr/>
          <p:nvPr/>
        </p:nvSpPr>
        <p:spPr>
          <a:xfrm>
            <a:off x="380000" y="1280000"/>
            <a:ext cx="38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rgbClr val="3B82F6"/>
                </a:solidFill>
              </a:rPr>
              <a:t>Regla de firma</a:t>
            </a:r>
          </a:p>
        </p:txBody>
      </p:sp>
      <p:sp>
        <p:nvSpPr>
          <p:cNvPr id="22" name="RuleBody"/>
          <p:cNvSpPr/>
          <p:nvPr/>
        </p:nvSpPr>
        <p:spPr>
          <a:xfrm>
            <a:off x="380000" y="1520000"/>
            <a:ext cx="38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2000"/>
              </a:lnSpc>
            </a:pPr>
            <a:r>
              <a:rPr lang="es-ES" sz="1050" dirty="0">
                <a:solidFill>
                  <a:srgbClr val="BFDBFE"/>
                </a:solidFill>
              </a:rPr>
              <a:t xml:space="preserve">Bit = 0  →  revelar secreto (0 pasos): </a:t>
            </a:r>
            <a:r>
              <a:rPr lang="es-ES" sz="1050" b="1" dirty="0">
                <a:solidFill>
                  <a:srgbClr val="FDE68A"/>
                </a:solidFill>
                <a:latin typeface="Consolas"/>
              </a:rPr>
              <a:t>s</a:t>
            </a:r>
          </a:p>
          <a:p>
            <a:pPr indent="0" marL="0">
              <a:buNone/>
              <a:lnSpc>
                <a:spcPts val="2000"/>
              </a:lnSpc>
            </a:pPr>
            <a:r>
              <a:rPr lang="es-ES" sz="1050" dirty="0">
                <a:solidFill>
                  <a:srgbClr val="BFDBFE"/>
                </a:solidFill>
              </a:rPr>
              <a:t xml:space="preserve">Bit = 1  →  revelar hash (1 paso): </a:t>
            </a:r>
            <a:r>
              <a:rPr lang="es-ES" sz="1050" b="1" dirty="0">
                <a:solidFill>
                  <a:srgbClr val="10B981"/>
                </a:solidFill>
                <a:latin typeface="Consolas"/>
              </a:rPr>
              <a:t>Hash(s)</a:t>
            </a:r>
          </a:p>
        </p:txBody>
      </p:sp>
      <p:sp>
        <p:nvSpPr>
          <p:cNvPr id="30" name="SignBG"/>
          <p:cNvSpPr/>
          <p:nvPr/>
        </p:nvSpPr>
        <p:spPr>
          <a:xfrm>
            <a:off x="4480000" y="1250000"/>
            <a:ext cx="4206720" cy="7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SignTitle"/>
          <p:cNvSpPr/>
          <p:nvPr/>
        </p:nvSpPr>
        <p:spPr>
          <a:xfrm>
            <a:off x="4580000" y="1280000"/>
            <a:ext cx="4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rgbClr val="F59E0B"/>
                </a:solidFill>
              </a:rPr>
              <a:t>Aplicando al mensaje  1 0 1 1</a:t>
            </a:r>
          </a:p>
        </p:txBody>
      </p:sp>
      <p:sp>
        <p:nvSpPr>
          <p:cNvPr id="32" name="SignBody"/>
          <p:cNvSpPr/>
          <p:nvPr/>
        </p:nvSpPr>
        <p:spPr>
          <a:xfrm>
            <a:off x="4580000" y="1520000"/>
            <a:ext cx="4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1800"/>
              </a:lnSpc>
            </a:pPr>
            <a:r>
              <a:rPr lang="es-ES" sz="1000" dirty="0">
                <a:solidFill>
                  <a:srgbClr val="BFDBFE"/>
                </a:solidFill>
                <a:latin typeface="Consolas"/>
              </a:rPr>
              <a:t xml:space="preserve">Bit1=1 → Hash(s₁) = </a:t>
            </a:r>
            <a:r>
              <a:rPr lang="es-ES" sz="1000" b="1" dirty="0">
                <a:solidFill>
                  <a:srgbClr val="10B981"/>
                </a:solidFill>
                <a:latin typeface="Consolas"/>
              </a:rPr>
              <a:t>p₁</a:t>
            </a:r>
          </a:p>
          <a:p>
            <a:pPr indent="0" marL="0">
              <a:buNone/>
              <a:lnSpc>
                <a:spcPts val="1800"/>
              </a:lnSpc>
            </a:pPr>
            <a:r>
              <a:rPr lang="es-ES" sz="1000" dirty="0">
                <a:solidFill>
                  <a:srgbClr val="BFDBFE"/>
                </a:solidFill>
                <a:latin typeface="Consolas"/>
              </a:rPr>
              <a:t xml:space="preserve">Bit2=0 → </a:t>
            </a:r>
            <a:r>
              <a:rPr lang="es-ES" sz="1000" b="1" dirty="0">
                <a:solidFill>
                  <a:srgbClr val="FDE68A"/>
                </a:solidFill>
                <a:latin typeface="Consolas"/>
              </a:rPr>
              <a:t>s₂</a:t>
            </a:r>
          </a:p>
          <a:p>
            <a:pPr indent="0" marL="0">
              <a:buNone/>
              <a:lnSpc>
                <a:spcPts val="1800"/>
              </a:lnSpc>
            </a:pPr>
            <a:r>
              <a:rPr lang="es-ES" sz="1000" dirty="0">
                <a:solidFill>
                  <a:srgbClr val="BFDBFE"/>
                </a:solidFill>
                <a:latin typeface="Consolas"/>
              </a:rPr>
              <a:t xml:space="preserve">Bit3=1 → Hash(s₃) = </a:t>
            </a:r>
            <a:r>
              <a:rPr lang="es-ES" sz="1000" b="1" dirty="0">
                <a:solidFill>
                  <a:srgbClr val="10B981"/>
                </a:solidFill>
                <a:latin typeface="Consolas"/>
              </a:rPr>
              <a:t>p₃</a:t>
            </a:r>
          </a:p>
          <a:p>
            <a:pPr indent="0" marL="0">
              <a:buNone/>
              <a:lnSpc>
                <a:spcPts val="1800"/>
              </a:lnSpc>
            </a:pPr>
            <a:r>
              <a:rPr lang="es-ES" sz="1000" dirty="0">
                <a:solidFill>
                  <a:srgbClr val="BFDBFE"/>
                </a:solidFill>
                <a:latin typeface="Consolas"/>
              </a:rPr>
              <a:t xml:space="preserve">Bit4=1 → Hash(s₄) = </a:t>
            </a:r>
            <a:r>
              <a:rPr lang="es-ES" sz="1000" b="1" dirty="0">
                <a:solidFill>
                  <a:srgbClr val="10B981"/>
                </a:solidFill>
                <a:latin typeface="Consolas"/>
              </a:rPr>
              <a:t>p₄</a:t>
            </a:r>
          </a:p>
        </p:txBody>
      </p:sp>
      <p:sp>
        <p:nvSpPr>
          <p:cNvPr id="40" name="ChainBG"/>
          <p:cNvSpPr/>
          <p:nvPr/>
        </p:nvSpPr>
        <p:spPr>
          <a:xfrm>
            <a:off x="274320" y="2100000"/>
            <a:ext cx="8412480" cy="1900000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ChainHdr"/>
          <p:cNvSpPr/>
          <p:nvPr/>
        </p:nvSpPr>
        <p:spPr>
          <a:xfrm>
            <a:off x="380000" y="2140000"/>
            <a:ext cx="8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F8FAFC"/>
                </a:solidFill>
              </a:rPr>
              <a:t>Secreto                          Hash                           Público            Qué se revela</a:t>
            </a:r>
          </a:p>
        </p:txBody>
      </p:sp>
      <p:sp>
        <p:nvSpPr>
          <p:cNvPr id="42" name="ChainRows"/>
          <p:cNvSpPr/>
          <p:nvPr/>
        </p:nvSpPr>
        <p:spPr>
          <a:xfrm>
            <a:off x="380000" y="2440000"/>
            <a:ext cx="82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2800"/>
              </a:lnSpc>
            </a:pPr>
            <a:r>
              <a:rPr lang="es-ES" sz="1100" dirty="0">
                <a:solidFill>
                  <a:srgbClr val="FDE68A"/>
                </a:solidFill>
                <a:latin typeface="Consolas"/>
              </a:rPr>
              <a:t>s₁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─── Hash ───►  </a:t>
            </a:r>
            <a:r>
              <a:rPr lang="es-ES" sz="1100" dirty="0">
                <a:solidFill>
                  <a:srgbClr val="10B981"/>
                </a:solidFill>
                <a:latin typeface="Consolas"/>
              </a:rPr>
              <a:t>p₁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        </a:t>
            </a:r>
            <a:r>
              <a:rPr lang="es-ES" sz="1100" dirty="0">
                <a:solidFill>
                  <a:srgbClr val="BFDBFE"/>
                </a:solidFill>
              </a:rPr>
              <a:t xml:space="preserve">bit=1 → revelo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p₁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─── Hash ───►  </a:t>
            </a:r>
            <a:r>
              <a:rPr lang="es-ES" sz="1100" dirty="0">
                <a:solidFill>
                  <a:srgbClr val="10B981"/>
                </a:solidFill>
                <a:latin typeface="Consolas"/>
              </a:rPr>
              <a:t>p₂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        </a:t>
            </a:r>
            <a:r>
              <a:rPr lang="es-ES" sz="1100" dirty="0">
                <a:solidFill>
                  <a:srgbClr val="BFDBFE"/>
                </a:solidFill>
              </a:rPr>
              <a:t xml:space="preserve">bit=0 → revelo </a:t>
            </a:r>
            <a:r>
              <a:rPr lang="es-ES" sz="1100" b="1" dirty="0">
                <a:solidFill>
                  <a:srgbClr val="FDE68A"/>
                </a:solidFill>
                <a:latin typeface="Consolas"/>
              </a:rPr>
              <a:t>s₂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dirty="0">
                <a:solidFill>
                  <a:srgbClr val="FDE68A"/>
                </a:solidFill>
                <a:latin typeface="Consolas"/>
              </a:rPr>
              <a:t>s₃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─── Hash ───►  </a:t>
            </a:r>
            <a:r>
              <a:rPr lang="es-ES" sz="1100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        </a:t>
            </a:r>
            <a:r>
              <a:rPr lang="es-ES" sz="1100" dirty="0">
                <a:solidFill>
                  <a:srgbClr val="BFDBFE"/>
                </a:solidFill>
              </a:rPr>
              <a:t xml:space="preserve">bit=1 → revelo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p₃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dirty="0">
                <a:solidFill>
                  <a:srgbClr val="FDE68A"/>
                </a:solidFill>
                <a:latin typeface="Consolas"/>
              </a:rPr>
              <a:t>s₄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─── Hash ───►  </a:t>
            </a:r>
            <a:r>
              <a:rPr lang="es-ES" sz="1100" dirty="0">
                <a:solidFill>
                  <a:srgbClr val="10B981"/>
                </a:solidFill>
                <a:latin typeface="Consolas"/>
              </a:rPr>
              <a:t>p₄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        </a:t>
            </a:r>
            <a:r>
              <a:rPr lang="es-ES" sz="1100" dirty="0">
                <a:solidFill>
                  <a:srgbClr val="BFDBFE"/>
                </a:solidFill>
              </a:rPr>
              <a:t xml:space="preserve">bit=1 → revelo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p₄</a:t>
            </a:r>
          </a:p>
        </p:txBody>
      </p:sp>
      <p:sp>
        <p:nvSpPr>
          <p:cNvPr id="50" name="ResBG"/>
          <p:cNvSpPr/>
          <p:nvPr/>
        </p:nvSpPr>
        <p:spPr>
          <a:xfrm>
            <a:off x="274320" y="4150000"/>
            <a:ext cx="8412480" cy="45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1" name="ResTxt"/>
          <p:cNvSpPr/>
          <p:nvPr/>
        </p:nvSpPr>
        <p:spPr>
          <a:xfrm>
            <a:off x="274320" y="4150000"/>
            <a:ext cx="8412480" cy="45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 indent="0" marL="0">
              <a:buNone/>
            </a:pPr>
            <a:r>
              <a:rPr lang="es-ES" sz="1400" b="1" dirty="0">
                <a:solidFill>
                  <a:srgbClr val="10B981"/>
                </a:solidFill>
              </a:rPr>
              <a:t xml:space="preserve">Firma = [ </a:t>
            </a:r>
            <a:r>
              <a:rPr lang="es-ES" sz="1400" b="1" dirty="0">
                <a:solidFill>
                  <a:srgbClr val="10B981"/>
                </a:solidFill>
                <a:latin typeface="Consolas"/>
              </a:rPr>
              <a:t>p₁</a:t>
            </a:r>
            <a:r>
              <a:rPr lang="es-ES" sz="1400" b="1" dirty="0">
                <a:solidFill>
                  <a:srgbClr val="10B981"/>
                </a:solidFill>
              </a:rPr>
              <a:t xml:space="preserve"> , </a:t>
            </a:r>
            <a:r>
              <a:rPr lang="es-ES" sz="1400" b="1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400" b="1" dirty="0">
                <a:solidFill>
                  <a:srgbClr val="10B981"/>
                </a:solidFill>
              </a:rPr>
              <a:t xml:space="preserve"> , </a:t>
            </a:r>
            <a:r>
              <a:rPr lang="es-ES" sz="1400" b="1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400" b="1" dirty="0">
                <a:solidFill>
                  <a:srgbClr val="10B981"/>
                </a:solidFill>
              </a:rPr>
              <a:t xml:space="preserve"> , </a:t>
            </a:r>
            <a:r>
              <a:rPr lang="es-ES" sz="1400" b="1" dirty="0">
                <a:solidFill>
                  <a:srgbClr val="10B981"/>
                </a:solidFill>
                <a:latin typeface="Consolas"/>
              </a:rPr>
              <a:t>p₄</a:t>
            </a:r>
            <a:r>
              <a:rPr lang="es-ES" sz="1400" b="1" dirty="0">
                <a:solidFill>
                  <a:srgbClr val="10B981"/>
                </a:solidFill>
              </a:rPr>
              <a:t xml:space="preserve"> ]</a:t>
            </a:r>
          </a:p>
        </p:txBody>
      </p:sp>
      <p:sp>
        <p:nvSpPr>
          <p:cNvPr id="60" name="Foot"/>
          <p:cNvSpPr/>
          <p:nvPr/>
        </p:nvSpPr>
        <p:spPr>
          <a:xfrm>
            <a:off x="274320" y="4700000"/>
            <a:ext cx="841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64748B"/>
                </a:solidFill>
              </a:rPr>
              <a:t>Notar: s₂ (amarillo) es el secreto puro. Los demás (verde) ya son hashes = valores públicos.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Ejemplo: Winternitz OTS con 4 bits</a:t>
            </a:r>
          </a:p>
        </p:txBody>
      </p:sp>
      <p:sp>
        <p:nvSpPr>
          <p:cNvPr id="4" name="Sub"/>
          <p:cNvSpPr/>
          <p:nvPr/>
        </p:nvSpPr>
        <p:spPr>
          <a:xfrm>
            <a:off x="274320" y="460000"/>
            <a:ext cx="8412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64748B"/>
                </a:solidFill>
              </a:rPr>
              <a:t>Paso 3 — Verificación: el receptor completa las cadenas de hash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2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CtxBG"/>
          <p:cNvSpPr/>
          <p:nvPr/>
        </p:nvSpPr>
        <p:spPr>
          <a:xfrm>
            <a:off x="274320" y="800000"/>
            <a:ext cx="8412480" cy="550000"/>
          </a:xfrm>
          <a:prstGeom prst="rect">
            <a:avLst/>
          </a:prstGeom>
          <a:solidFill>
            <a:srgbClr val="0A0F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CtxTxt"/>
          <p:cNvSpPr/>
          <p:nvPr/>
        </p:nvSpPr>
        <p:spPr>
          <a:xfrm>
            <a:off x="274320" y="800000"/>
            <a:ext cx="8412480" cy="55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dirty="0">
                <a:solidFill>
                  <a:srgbClr val="BFDBFE"/>
                </a:solidFill>
              </a:rPr>
              <a:t xml:space="preserve">El verificador recibe la firma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[ p₁ , s₂ , p₃ , p₄ ]</a:t>
            </a:r>
            <a:r>
              <a:rPr lang="es-ES" sz="1100" dirty="0">
                <a:solidFill>
                  <a:srgbClr val="BFDBFE"/>
                </a:solidFill>
              </a:rPr>
              <a:t xml:space="preserve">  y conoce los bits:  </a:t>
            </a:r>
            <a:r>
              <a:rPr lang="es-ES" sz="1100" b="1" dirty="0">
                <a:solidFill>
                  <a:srgbClr val="FDE68A"/>
                </a:solidFill>
                <a:latin typeface="Consolas"/>
              </a:rPr>
              <a:t>1 0 1 1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Para cada valor, aplica los pasos de hash que faltan para llegar a la clave pública:</a:t>
            </a:r>
          </a:p>
        </p:txBody>
      </p:sp>
      <p:sp>
        <p:nvSpPr>
          <p:cNvPr id="20" name="VerBG"/>
          <p:cNvSpPr/>
          <p:nvPr/>
        </p:nvSpPr>
        <p:spPr>
          <a:xfrm>
            <a:off x="274320" y="1480000"/>
            <a:ext cx="8412480" cy="17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VerRows"/>
          <p:cNvSpPr/>
          <p:nvPr/>
        </p:nvSpPr>
        <p:spPr>
          <a:xfrm>
            <a:off x="380000" y="1540000"/>
            <a:ext cx="820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3200"/>
              </a:lnSpc>
            </a:pPr>
            <a:r>
              <a:rPr lang="es-ES" sz="1200" b="1" dirty="0">
                <a:solidFill>
                  <a:srgbClr val="FDE68A"/>
                </a:solidFill>
              </a:rPr>
              <a:t xml:space="preserve">Bit 1 = 1: </a:t>
            </a:r>
            <a:r>
              <a:rPr lang="es-ES" sz="1200" dirty="0">
                <a:solidFill>
                  <a:srgbClr val="BFDBFE"/>
                </a:solidFill>
              </a:rPr>
              <a:t xml:space="preserve"> recibió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p₁</a:t>
            </a:r>
            <a:r>
              <a:rPr lang="es-ES" sz="1200" dirty="0">
                <a:solidFill>
                  <a:srgbClr val="BFDBFE"/>
                </a:solidFill>
              </a:rPr>
              <a:t xml:space="preserve">   → necesita 0 pasos más   → ya es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p₁  ✓</a:t>
            </a:r>
          </a:p>
          <a:p>
            <a:pPr indent="0" marL="0">
              <a:buNone/>
              <a:lnSpc>
                <a:spcPts val="3200"/>
              </a:lnSpc>
            </a:pPr>
            <a:r>
              <a:rPr lang="es-ES" sz="1200" b="1" dirty="0">
                <a:solidFill>
                  <a:srgbClr val="FDE68A"/>
                </a:solidFill>
              </a:rPr>
              <a:t xml:space="preserve">Bit 2 = 0: </a:t>
            </a:r>
            <a:r>
              <a:rPr lang="es-ES" sz="1200" dirty="0">
                <a:solidFill>
                  <a:srgbClr val="BFDBFE"/>
                </a:solidFill>
              </a:rPr>
              <a:t xml:space="preserve"> recibió </a:t>
            </a:r>
            <a:r>
              <a:rPr lang="es-ES" sz="1200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200" dirty="0">
                <a:solidFill>
                  <a:srgbClr val="BFDBFE"/>
                </a:solidFill>
              </a:rPr>
              <a:t xml:space="preserve">   → aplica 1 Hash          → Hash(s₂) =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p₂  ✓</a:t>
            </a:r>
          </a:p>
          <a:p>
            <a:pPr indent="0" marL="0">
              <a:buNone/>
              <a:lnSpc>
                <a:spcPts val="3200"/>
              </a:lnSpc>
            </a:pPr>
            <a:r>
              <a:rPr lang="es-ES" sz="1200" b="1" dirty="0">
                <a:solidFill>
                  <a:srgbClr val="FDE68A"/>
                </a:solidFill>
              </a:rPr>
              <a:t xml:space="preserve">Bit 3 = 1: </a:t>
            </a:r>
            <a:r>
              <a:rPr lang="es-ES" sz="1200" dirty="0">
                <a:solidFill>
                  <a:srgbClr val="BFDBFE"/>
                </a:solidFill>
              </a:rPr>
              <a:t xml:space="preserve"> recibió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200" dirty="0">
                <a:solidFill>
                  <a:srgbClr val="BFDBFE"/>
                </a:solidFill>
              </a:rPr>
              <a:t xml:space="preserve">   → necesita 0 pasos más   → ya es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p₃  ✓</a:t>
            </a:r>
          </a:p>
          <a:p>
            <a:pPr indent="0" marL="0">
              <a:buNone/>
              <a:lnSpc>
                <a:spcPts val="3200"/>
              </a:lnSpc>
            </a:pPr>
            <a:r>
              <a:rPr lang="es-ES" sz="1200" b="1" dirty="0">
                <a:solidFill>
                  <a:srgbClr val="FDE68A"/>
                </a:solidFill>
              </a:rPr>
              <a:t xml:space="preserve">Bit 4 = 1: </a:t>
            </a:r>
            <a:r>
              <a:rPr lang="es-ES" sz="1200" dirty="0">
                <a:solidFill>
                  <a:srgbClr val="BFDBFE"/>
                </a:solidFill>
              </a:rPr>
              <a:t xml:space="preserve"> recibió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p₄</a:t>
            </a:r>
            <a:r>
              <a:rPr lang="es-ES" sz="1200" dirty="0">
                <a:solidFill>
                  <a:srgbClr val="BFDBFE"/>
                </a:solidFill>
              </a:rPr>
              <a:t xml:space="preserve">   → necesita 0 pasos más   → ya es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p₄  ✓</a:t>
            </a:r>
          </a:p>
        </p:txBody>
      </p:sp>
      <p:sp>
        <p:nvSpPr>
          <p:cNvPr id="30" name="ResBG"/>
          <p:cNvSpPr/>
          <p:nvPr/>
        </p:nvSpPr>
        <p:spPr>
          <a:xfrm>
            <a:off x="274320" y="3350000"/>
            <a:ext cx="8412480" cy="5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ResTxt"/>
          <p:cNvSpPr/>
          <p:nvPr/>
        </p:nvSpPr>
        <p:spPr>
          <a:xfrm>
            <a:off x="274320" y="335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 indent="0" marL="0">
              <a:buNone/>
            </a:pPr>
            <a:r>
              <a:rPr lang="es-ES" sz="1400" b="1" dirty="0">
                <a:solidFill>
                  <a:srgbClr val="10B981"/>
                </a:solidFill>
              </a:rPr>
              <a:t>Todos coinciden con pk₀ = [p₁, p₂, p₃, p₄]   →   FIRMA VÁLIDA  ✓</a:t>
            </a:r>
          </a:p>
        </p:txBody>
      </p:sp>
      <p:sp>
        <p:nvSpPr>
          <p:cNvPr id="40" name="InsightBG"/>
          <p:cNvSpPr/>
          <p:nvPr/>
        </p:nvSpPr>
        <p:spPr>
          <a:xfrm>
            <a:off x="274320" y="4000000"/>
            <a:ext cx="8412480" cy="450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InsightTxt"/>
          <p:cNvSpPr/>
          <p:nvPr/>
        </p:nvSpPr>
        <p:spPr>
          <a:xfrm>
            <a:off x="274320" y="4000000"/>
            <a:ext cx="8412480" cy="45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El verificador NUNCA vio los secretos s₁, s₃, s₄. Solo necesitó completar la cadena de s₂ (el único bit=0).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Si un solo valor no coincide, la firma se rechaza inmediatamente.</a:t>
            </a:r>
          </a:p>
        </p:txBody>
      </p:sp>
      <p:sp>
        <p:nvSpPr>
          <p:cNvPr id="50" name="Foot"/>
          <p:cNvSpPr/>
          <p:nvPr/>
        </p:nvSpPr>
        <p:spPr>
          <a:xfrm>
            <a:off x="274320" y="4600000"/>
            <a:ext cx="841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64748B"/>
                </a:solidFill>
              </a:rPr>
              <a:t>La seguridad depende de que Hash es irreversible: de p₁ no se puede obtener s₁.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Ejemplo: Winternitz OTS con 4 bits</a:t>
            </a:r>
          </a:p>
        </p:txBody>
      </p:sp>
      <p:sp>
        <p:nvSpPr>
          <p:cNvPr id="4" name="Sub"/>
          <p:cNvSpPr/>
          <p:nvPr/>
        </p:nvSpPr>
        <p:spPr>
          <a:xfrm>
            <a:off x="274320" y="460000"/>
            <a:ext cx="8412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EF4444"/>
                </a:solidFill>
              </a:rPr>
              <a:t>Paso 4 — ¿Por qué solo UNA vez? El peligro de reutilizar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2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F1BG"/>
          <p:cNvSpPr/>
          <p:nvPr/>
        </p:nvSpPr>
        <p:spPr>
          <a:xfrm>
            <a:off x="274320" y="800000"/>
            <a:ext cx="4050000" cy="55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F1Txt"/>
          <p:cNvSpPr/>
          <p:nvPr/>
        </p:nvSpPr>
        <p:spPr>
          <a:xfrm>
            <a:off x="274320" y="800000"/>
            <a:ext cx="4050000" cy="55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del mensaje 1  (bits: 1 0 1 1)</a:t>
            </a:r>
          </a:p>
          <a:p>
            <a:pPr indent="0" marL="0">
              <a:buNone/>
            </a:pP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Firma₁ = [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p₁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p₄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]</a:t>
            </a:r>
          </a:p>
        </p:txBody>
      </p:sp>
      <p:sp>
        <p:nvSpPr>
          <p:cNvPr id="12" name="F2BG"/>
          <p:cNvSpPr/>
          <p:nvPr/>
        </p:nvSpPr>
        <p:spPr>
          <a:xfrm>
            <a:off x="4636800" y="800000"/>
            <a:ext cx="4050000" cy="55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F2Txt"/>
          <p:cNvSpPr/>
          <p:nvPr/>
        </p:nvSpPr>
        <p:spPr>
          <a:xfrm>
            <a:off x="4636800" y="800000"/>
            <a:ext cx="4050000" cy="55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F59E0B"/>
                </a:solidFill>
              </a:rPr>
              <a:t>Firma del mensaje 2  (bits: 0 1 1 0)</a:t>
            </a:r>
          </a:p>
          <a:p>
            <a:pPr indent="0" marL="0">
              <a:buNone/>
            </a:pP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Firma₂ = [ </a:t>
            </a:r>
            <a:r>
              <a:rPr lang="es-ES" sz="1200" b="1" dirty="0">
                <a:solidFill>
                  <a:srgbClr val="FDE68A"/>
                </a:solidFill>
                <a:latin typeface="Consolas"/>
              </a:rPr>
              <a:t>s₁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p₂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FDE68A"/>
                </a:solidFill>
                <a:latin typeface="Consolas"/>
              </a:rPr>
              <a:t>s₄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]</a:t>
            </a:r>
          </a:p>
        </p:txBody>
      </p:sp>
      <p:sp>
        <p:nvSpPr>
          <p:cNvPr id="20" name="AtkBG"/>
          <p:cNvSpPr/>
          <p:nvPr/>
        </p:nvSpPr>
        <p:spPr>
          <a:xfrm>
            <a:off x="274320" y="1500000"/>
            <a:ext cx="8412480" cy="1800000"/>
          </a:xfrm>
          <a:prstGeom prst="rect">
            <a:avLst/>
          </a:prstGeom>
          <a:solidFill>
            <a:srgbClr val="080E1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1" name="AtkTitle"/>
          <p:cNvSpPr/>
          <p:nvPr/>
        </p:nvSpPr>
        <p:spPr>
          <a:xfrm>
            <a:off x="380000" y="1540000"/>
            <a:ext cx="8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EF4444"/>
                </a:solidFill>
              </a:rPr>
              <a:t>El atacante que ve AMBAS firmas obtiene:</a:t>
            </a:r>
          </a:p>
        </p:txBody>
      </p:sp>
      <p:sp>
        <p:nvSpPr>
          <p:cNvPr id="22" name="AtkRows"/>
          <p:cNvSpPr/>
          <p:nvPr/>
        </p:nvSpPr>
        <p:spPr>
          <a:xfrm>
            <a:off x="380000" y="1860000"/>
            <a:ext cx="8200000" cy="1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2800"/>
              </a:lnSpc>
            </a:pPr>
            <a:r>
              <a:rPr lang="es-ES" sz="1100" b="1" dirty="0">
                <a:solidFill>
                  <a:srgbClr val="FDE68A"/>
                </a:solidFill>
              </a:rPr>
              <a:t xml:space="preserve">Posición 1: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s₁</a:t>
            </a:r>
            <a:r>
              <a:rPr lang="es-ES" sz="1100" dirty="0">
                <a:solidFill>
                  <a:srgbClr val="64748B"/>
                </a:solidFill>
              </a:rPr>
              <a:t xml:space="preserve"> (de Firma₂)  + 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p₁</a:t>
            </a:r>
            <a:r>
              <a:rPr lang="es-ES" sz="1100" dirty="0">
                <a:solidFill>
                  <a:srgbClr val="64748B"/>
                </a:solidFill>
              </a:rPr>
              <a:t xml:space="preserve"> (de Firma₁)   →  </a:t>
            </a:r>
            <a:r>
              <a:rPr lang="es-ES" sz="1100" b="1" dirty="0">
                <a:solidFill>
                  <a:srgbClr val="EF4444"/>
                </a:solidFill>
              </a:rPr>
              <a:t>TIENE TODO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b="1" dirty="0">
                <a:solidFill>
                  <a:srgbClr val="FDE68A"/>
                </a:solidFill>
              </a:rPr>
              <a:t xml:space="preserve">Posición 2: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s₂</a:t>
            </a:r>
            <a:r>
              <a:rPr lang="es-ES" sz="1100" dirty="0">
                <a:solidFill>
                  <a:srgbClr val="64748B"/>
                </a:solidFill>
              </a:rPr>
              <a:t xml:space="preserve"> (de Firma₁)  + 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p₂</a:t>
            </a:r>
            <a:r>
              <a:rPr lang="es-ES" sz="1100" dirty="0">
                <a:solidFill>
                  <a:srgbClr val="64748B"/>
                </a:solidFill>
              </a:rPr>
              <a:t xml:space="preserve"> (de Firma₂)   →  </a:t>
            </a:r>
            <a:r>
              <a:rPr lang="es-ES" sz="1100" b="1" dirty="0">
                <a:solidFill>
                  <a:srgbClr val="EF4444"/>
                </a:solidFill>
              </a:rPr>
              <a:t>TIENE TODO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b="1" dirty="0">
                <a:solidFill>
                  <a:srgbClr val="FDE68A"/>
                </a:solidFill>
              </a:rPr>
              <a:t xml:space="preserve">Posición 3: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p₃</a:t>
            </a:r>
            <a:r>
              <a:rPr lang="es-ES" sz="1100" dirty="0">
                <a:solidFill>
                  <a:srgbClr val="64748B"/>
                </a:solidFill>
              </a:rPr>
              <a:t xml:space="preserve"> (de ambas)  → no obtiene s₃                →  </a:t>
            </a:r>
            <a:r>
              <a:rPr lang="es-ES" sz="1100" dirty="0">
                <a:solidFill>
                  <a:srgbClr val="10B981"/>
                </a:solidFill>
              </a:rPr>
              <a:t>OK (pero innecesario para bit=1)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b="1" dirty="0">
                <a:solidFill>
                  <a:srgbClr val="FDE68A"/>
                </a:solidFill>
              </a:rPr>
              <a:t xml:space="preserve">Posición 4: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s₄</a:t>
            </a:r>
            <a:r>
              <a:rPr lang="es-ES" sz="1100" dirty="0">
                <a:solidFill>
                  <a:srgbClr val="64748B"/>
                </a:solidFill>
              </a:rPr>
              <a:t xml:space="preserve"> (de Firma₂)  + 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p₄</a:t>
            </a:r>
            <a:r>
              <a:rPr lang="es-ES" sz="1100" dirty="0">
                <a:solidFill>
                  <a:srgbClr val="64748B"/>
                </a:solidFill>
              </a:rPr>
              <a:t xml:space="preserve"> (de Firma₁)   →  </a:t>
            </a:r>
            <a:r>
              <a:rPr lang="es-ES" sz="1100" b="1" dirty="0">
                <a:solidFill>
                  <a:srgbClr val="EF4444"/>
                </a:solidFill>
              </a:rPr>
              <a:t>TIENE TODO</a:t>
            </a:r>
          </a:p>
        </p:txBody>
      </p:sp>
      <p:sp>
        <p:nvSpPr>
          <p:cNvPr id="30" name="DangerBG"/>
          <p:cNvSpPr/>
          <p:nvPr/>
        </p:nvSpPr>
        <p:spPr>
          <a:xfrm>
            <a:off x="274320" y="3450000"/>
            <a:ext cx="8412480" cy="500000"/>
          </a:xfrm>
          <a:prstGeom prst="rect">
            <a:avLst/>
          </a:prstGeom>
          <a:solidFill>
            <a:srgbClr val="1A050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1" name="DangerTxt"/>
          <p:cNvSpPr/>
          <p:nvPr/>
        </p:nvSpPr>
        <p:spPr>
          <a:xfrm>
            <a:off x="274320" y="345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EF4444"/>
                </a:solidFill>
              </a:rPr>
              <a:t>Con s₁, s₂, s₄ y p₃ puede forjar firmas para CUALQUIER mensaje. Seguridad ROTA.</a:t>
            </a:r>
          </a:p>
        </p:txBody>
      </p:sp>
      <p:sp>
        <p:nvSpPr>
          <p:cNvPr id="40" name="Foot"/>
          <p:cNvSpPr/>
          <p:nvPr/>
        </p:nvSpPr>
        <p:spPr>
          <a:xfrm>
            <a:off x="274320" y="4150000"/>
            <a:ext cx="8412480" cy="500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FootTxt"/>
          <p:cNvSpPr/>
          <p:nvPr/>
        </p:nvSpPr>
        <p:spPr>
          <a:xfrm>
            <a:off x="274320" y="415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Por eso XMSS lleva un contador de índice: cada OTS se usa exactamente UNA vez y se descarta.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Esto conecta con el Pilar 03 (Estado): el idx DEBE avanzar después de cada firma.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Del ejemplo al mundo real</a:t>
            </a:r>
          </a:p>
        </p:txBody>
      </p:sp>
      <p:sp>
        <p:nvSpPr>
          <p:cNvPr id="4" name="Sub"/>
          <p:cNvSpPr/>
          <p:nvPr/>
        </p:nvSpPr>
        <p:spPr>
          <a:xfrm>
            <a:off x="274320" y="460000"/>
            <a:ext cx="8412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64748B"/>
                </a:solidFill>
              </a:rPr>
              <a:t>El mismo mecanismo Winternitz, pero con parámetros de producción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2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MsgBG"/>
          <p:cNvSpPr/>
          <p:nvPr/>
        </p:nvSpPr>
        <p:spPr>
          <a:xfrm>
            <a:off x="274320" y="800000"/>
            <a:ext cx="8412480" cy="500000"/>
          </a:xfrm>
          <a:prstGeom prst="rect">
            <a:avLst/>
          </a:prstGeom>
          <a:solidFill>
            <a:srgbClr val="0A0F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MsgTxt"/>
          <p:cNvSpPr/>
          <p:nvPr/>
        </p:nvSpPr>
        <p:spPr>
          <a:xfrm>
            <a:off x="274320" y="80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 xml:space="preserve">En la vida real, el mensaje a firmar es algo como: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>“Transfiero 100 ETH a 0x7f8B...d4e2”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BFDBFE"/>
                </a:solidFill>
              </a:rPr>
              <a:t xml:space="preserve">Se hashea con SHA-256 → </a:t>
            </a:r>
            <a:r>
              <a:rPr lang="es-ES" sz="1100" b="1" dirty="0">
                <a:solidFill>
                  <a:srgbClr val="FDE68A"/>
                </a:solidFill>
                <a:latin typeface="Consolas"/>
              </a:rPr>
              <a:t>256 bits</a:t>
            </a:r>
            <a:r>
              <a:rPr lang="es-ES" sz="1100" dirty="0">
                <a:solidFill>
                  <a:srgbClr val="BFDBFE"/>
                </a:solidFill>
              </a:rPr>
              <a:t xml:space="preserve"> (en nuestro ejemplo usamos solo 4)</a:t>
            </a:r>
          </a:p>
        </p:txBody>
      </p:sp>
      <p:sp>
        <p:nvSpPr>
          <p:cNvPr id="20" name="TblHdrBG"/>
          <p:cNvSpPr/>
          <p:nvPr/>
        </p:nvSpPr>
        <p:spPr>
          <a:xfrm>
            <a:off x="274320" y="1450000"/>
            <a:ext cx="8412480" cy="350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blHdrTxt"/>
          <p:cNvSpPr/>
          <p:nvPr/>
        </p:nvSpPr>
        <p:spPr>
          <a:xfrm>
            <a:off x="274320" y="1450000"/>
            <a:ext cx="8412480" cy="35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F8FAFC"/>
                </a:solidFill>
              </a:rPr>
              <a:t xml:space="preserve">Parámetro                                              Nuestro ejemplo                          XMSS real (NIST SP 800-208)</a:t>
            </a:r>
          </a:p>
        </p:txBody>
      </p:sp>
      <p:sp>
        <p:nvSpPr>
          <p:cNvPr id="30" name="TblRowsBG"/>
          <p:cNvSpPr/>
          <p:nvPr/>
        </p:nvSpPr>
        <p:spPr>
          <a:xfrm>
            <a:off x="274320" y="1800000"/>
            <a:ext cx="8412480" cy="1900000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blRows"/>
          <p:cNvSpPr/>
          <p:nvPr/>
        </p:nvSpPr>
        <p:spPr>
          <a:xfrm>
            <a:off x="274320" y="1800000"/>
            <a:ext cx="8412480" cy="1900000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Hash del mensaje                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4 bits                       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256 bits (SHA-256)</a:t>
            </a:r>
          </a:p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Parámetro Winternitz (w)    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w=2 (1 bit por trozo)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w=16 (4 bits por trozo)</a:t>
            </a:r>
          </a:p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Trozos del hash                   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4 trozos de 1 bit        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64 trozos de 4 bits</a:t>
            </a:r>
          </a:p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Pasos de hash por cadena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1 paso (0 ó 1)             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hasta 15 pasos (0 a 15)</a:t>
            </a:r>
          </a:p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Valores secretos en sk       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4                                      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~67 valores</a:t>
            </a:r>
          </a:p>
        </p:txBody>
      </p:sp>
      <p:sp>
        <p:nvSpPr>
          <p:cNvPr id="40" name="InsightBG"/>
          <p:cNvSpPr/>
          <p:nvPr/>
        </p:nvSpPr>
        <p:spPr>
          <a:xfrm>
            <a:off x="274320" y="3850000"/>
            <a:ext cx="8412480" cy="5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InsightTxt"/>
          <p:cNvSpPr/>
          <p:nvPr/>
        </p:nvSpPr>
        <p:spPr>
          <a:xfrm>
            <a:off x="274320" y="385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rgbClr val="10B981"/>
                </a:solidFill>
              </a:rPr>
              <a:t>El principio es idéntico:</a:t>
            </a:r>
            <a:r>
              <a:rPr lang="es-ES" sz="1200" dirty="0">
                <a:solidFill>
                  <a:srgbClr val="BFDBFE"/>
                </a:solidFill>
              </a:rPr>
              <a:t xml:space="preserve"> para cada trozo del hash, se revela el secreto hasheado un número de veces que depende del valor de ese trozo. Más trozos y cadenas más largas, pero la misma lógica.</a:t>
            </a:r>
          </a:p>
        </p:txBody>
      </p:sp>
      <p:sp>
        <p:nvSpPr>
          <p:cNvPr id="50" name="Foot"/>
          <p:cNvSpPr/>
          <p:nvPr/>
        </p:nvSpPr>
        <p:spPr>
          <a:xfrm>
            <a:off x="274320" y="450000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64748B"/>
                </a:solidFill>
              </a:rPr>
              <a:t>El trade-off de w: mayor w = firma más compacta pero más lenta (más hashes por cadena). w=16 es el balance estándar del NIST.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Sum Winternitz — el corazón del esquema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leanSpec usa TSW en vez del Winternitz clásico del NIST. Esta decisión de diseño es lo que hace viable la agregación con pqSNARKs — el circuito de verificación es completamente predecible.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8755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El problema del Winternitz clásico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El checksum hace que el número de hashes en verificación varíe según el mensaje. Un adversario puede forzar el peor caso — el circuito SNARK tiene costo imprevisible.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2239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</a:rPr>
              <a:t>La solución: Target Sum Winternitz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2239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Se exige que la suma de los dígitos del mensaje sea exactamente TARGET_SUM = 375. Sin checksum. Verificación = siempre el mismo número exacto de hashes — circuito determinístico.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755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Trade-off: reintentos de firma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TSW puede fallar en el primer intento. Se reintenta con nueva aleatoriedad hasta que la suma coincida. Parámetros leanSpec: BASE=8 (w=8), DIMENSION=64, MAX_TRIES=100,000.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2239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¿Por qué importa para ZK?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2239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Con TSW el circuito SNARK tiene costo fijo. Esto reduce el tamaño del proof y el tiempo de generación. Es el key insight del paper que permite agregar 10,000 firmas por segundo.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leanSpec en producción — los parámetros reales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PROD_CONFIG en constants.py define los parámetros exactos del esquema. No son números arbitrarios — cada uno refleja un trade-off deliberado entre seguridad, tamaño de firma y costo de prueba ZK.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8755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LIFETIME = 2³² slots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LOG_LIFETIME = 32 → un validador puede firmar 4,294,967,296 mensajes sin regenerar clave. Con slots de 4 segundos, eso es ~544 años de actividad continua.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2239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</a:rPr>
              <a:t>DIMENSION = 64, BASE = 8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2239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64 cadenas de Winternitz de longitud 8 (w=8) por firma OTS. Cada cadena aplica hasta 7 pasos de hash. Balance entre tamaño de firma y velocidad de firma/verificación.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755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TARGET_SUM = 375 (TSW)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La suma de los 64 dígitos del mensaje codificado debe ser exactamente 375 (de un máximo posible de 448). Verificación siempre cuesta 448 - 375 = 73 pasos de hash en total.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2239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Seguridad: NIST Level 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2239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128 bits clásicos / 64 bits cuánticos. Tamaño de firma: ~2.2 KiB. Tiempo de firma: ~55 µs. Tiempo de verificación: ~26 µs. Agregación estimada: 10,000 firmas/segundo.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Agregación recursiva con leanVm — pq-devnet-4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El mayor desafío de XMSS en Ethereum no es la firma individual — es agregar miles de firmas de validadores en un único proof compacto. leanVm lo resuelve con pqSNARKs recursivos.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8755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El problema: firmas grandes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Una firma XMSS individual pesa ~2.2 KiB. Con 500,000 validadores en Ethereum, verificar todas sería inviable. La solución: un único proof que acredita todas las firmas válidas.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2239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</a:rPr>
              <a:t>AggregatedSignatureProof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2239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Estructura en leanSpec: bitfield de validadores participantes + bytes del proof leanVm. Un único objeto verifica la participación de N validadores en O(1) — tamaño final: 2-3 MB.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755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Agregación recursiva en pq-devnet-4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Múltiples aggregates parciales por mensaje se fusionan recursivamente. El proposer incluye exactamente un aggregate por mensaje en el bloque. log_inv_rate controla tamaño vs velocidad.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2239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Estado de implementación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2239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pq-devnet-4 en progreso: Ream, Zeam, Qlean, Lantern y Lighthouse implementando spec tests e interop. Target de completion: Q1 2026. Benchmark sobre hardware EIP-7870 pendiente.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XMSS - Firmas Digitales Post-Cuánticas</dc:title>
  <dc:subject>PptxGenJS Presentation</dc:subject>
  <dc:creator>PptxGenJS</dc:creator>
  <cp:lastModifiedBy>PptxGenJS</cp:lastModifiedBy>
  <cp:revision>1</cp:revision>
  <dcterms:created xsi:type="dcterms:W3CDTF">2026-03-16T01:54:05Z</dcterms:created>
  <dcterms:modified xsi:type="dcterms:W3CDTF">2026-03-16T01:54:05Z</dcterms:modified>
</cp:coreProperties>
</file>